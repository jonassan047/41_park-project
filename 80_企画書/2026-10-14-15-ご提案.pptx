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2b8b6340bb4a9c" /><Relationship Type="http://schemas.openxmlformats.org/officeDocument/2006/relationships/extended-properties" Target="/docProps/app.xml" Id="R1128d7bea3524df1" /><Relationship Type="http://schemas.openxmlformats.org/officeDocument/2006/relationships/officeDocument" Target="/ppt/presentation.xml" Id="Raa2724fc8fe548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f9d3d2fb04fb8"/>
  </p:sldMasterIdLst>
  <p:notesMasterIdLst>
    <p:notesMasterId xmlns:r="http://schemas.openxmlformats.org/officeDocument/2006/relationships" r:id="R6a0dd4154cbe49a7"/>
  </p:notesMasterIdLst>
  <p:sldIdLst>
    <p:sldId xmlns:r="http://schemas.openxmlformats.org/officeDocument/2006/relationships" id="256" r:id="R5f5c40aa7a2b4861"/>
    <p:sldId xmlns:r="http://schemas.openxmlformats.org/officeDocument/2006/relationships" id="257" r:id="R41ff301f220d4c23"/>
    <p:sldId xmlns:r="http://schemas.openxmlformats.org/officeDocument/2006/relationships" id="258" r:id="Rda88ef4ada454d9f"/>
    <p:sldId xmlns:r="http://schemas.openxmlformats.org/officeDocument/2006/relationships" id="259" r:id="R8d6b936d4cf14057"/>
    <p:sldId xmlns:r="http://schemas.openxmlformats.org/officeDocument/2006/relationships" id="260" r:id="R1adff2334e0f4c7e"/>
    <p:sldId xmlns:r="http://schemas.openxmlformats.org/officeDocument/2006/relationships" id="261" r:id="Recffd3b0956745d9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e9e8423c3f4bf0" /><Relationship Type="http://schemas.openxmlformats.org/officeDocument/2006/relationships/slideMaster" Target="/ppt/slideMasters/slideMaster1.xml" Id="Ref9f9d3d2fb04fb8" /><Relationship Type="http://schemas.openxmlformats.org/officeDocument/2006/relationships/notesMaster" Target="/ppt/notesMasters/notesMaster1.xml" Id="R6a0dd4154cbe49a7" /><Relationship Type="http://schemas.openxmlformats.org/officeDocument/2006/relationships/presProps" Target="/ppt/presProps.xml" Id="Rba98f32d9a504cb1" /><Relationship Type="http://schemas.openxmlformats.org/officeDocument/2006/relationships/viewProps" Target="/ppt/viewProps.xml" Id="R6ed7b917c6ad4bc8" /><Relationship Type="http://schemas.openxmlformats.org/officeDocument/2006/relationships/tableStyles" Target="/ppt/tableStyles.xml" Id="R08e55d022acd43ef" /><Relationship Type="http://schemas.openxmlformats.org/officeDocument/2006/relationships/slide" Target="/ppt/slides/slide1.xml" Id="R5f5c40aa7a2b4861" /><Relationship Type="http://schemas.openxmlformats.org/officeDocument/2006/relationships/slide" Target="/ppt/slides/slide2.xml" Id="R41ff301f220d4c23" /><Relationship Type="http://schemas.openxmlformats.org/officeDocument/2006/relationships/slide" Target="/ppt/slides/slide3.xml" Id="Rda88ef4ada454d9f" /><Relationship Type="http://schemas.openxmlformats.org/officeDocument/2006/relationships/slide" Target="/ppt/slides/slide4.xml" Id="R8d6b936d4cf14057" /><Relationship Type="http://schemas.openxmlformats.org/officeDocument/2006/relationships/slide" Target="/ppt/slides/slide5.xml" Id="R1adff2334e0f4c7e" /><Relationship Type="http://schemas.openxmlformats.org/officeDocument/2006/relationships/slide" Target="/ppt/slides/slide6.xml" Id="Recffd3b0956745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62d77a38e54f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3f5ed87a07454a" /><Relationship Type="http://schemas.openxmlformats.org/officeDocument/2006/relationships/notesMaster" Target="/ppt/notesMasters/notesMaster1.xml" Id="R230eadddd6c141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404c1d08e14ccc" /><Relationship Type="http://schemas.openxmlformats.org/officeDocument/2006/relationships/notesMaster" Target="/ppt/notesMasters/notesMaster1.xml" Id="Rb6720b924e314c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8e4ce84ce8483f" /><Relationship Type="http://schemas.openxmlformats.org/officeDocument/2006/relationships/notesMaster" Target="/ppt/notesMasters/notesMaster1.xml" Id="Rdde477cc92be44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3ada77c41246d0" /><Relationship Type="http://schemas.openxmlformats.org/officeDocument/2006/relationships/notesMaster" Target="/ppt/notesMasters/notesMaster1.xml" Id="R152625a7be174c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bb6231e3ea4284" /><Relationship Type="http://schemas.openxmlformats.org/officeDocument/2006/relationships/notesMaster" Target="/ppt/notesMasters/notesMaster1.xml" Id="Rbc1c11b89c144c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7a1c5254ca49b3" /><Relationship Type="http://schemas.openxmlformats.org/officeDocument/2006/relationships/notesMaster" Target="/ppt/notesMasters/notesMaster1.xml" Id="R70d4799ea52e48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締め：みなさまで結束（グループ化）すれば、受けられる案件が増え、人が足りない案件も埋められ、決まるほど案件が集まる。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1a849b7b740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7cfd08d2a45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321127604459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">
    <p:bg>
      <p:bgPr>
        <a:solidFill xmlns:a="http://schemas.openxmlformats.org/drawingml/2006/main">
          <a:srgbClr val="3B6EA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239FF0B-54CE-4728-A088-CBA73DF2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0"/>
            <a:ext cx="310896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5703E-438F-4D79-96EC-9D68963DFCB6}"/>
              </a:ext>
            </a:extLst>
          </p:cNvPr>
          <p:cNvSpPr>
            <a:spLocks xmlns:a="http://schemas.openxmlformats.org/drawingml/2006/main" noGrp="1"/>
          </p:cNvSpPr>
          <p:nvPr>
            <p:ph type="title" idx="101" hasCustomPrompt="1"/>
          </p:nvPr>
        </p:nvSpPr>
        <p:spPr>
          <a:xfrm xmlns:a="http://schemas.openxmlformats.org/drawingml/2006/main">
            <a:off x="548640" y="1188720"/>
            <a:ext cx="5303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4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D649693-62BB-4CD9-A87B-FBF3F338A78A}"/>
              </a:ext>
            </a:extLst>
          </p:cNvPr>
          <p:cNvSpPr>
            <a:spLocks xmlns:a="http://schemas.openxmlformats.org/drawingml/2006/main" noGrp="1"/>
          </p:cNvSpPr>
          <p:nvPr>
            <p:ph type="body" idx="102" hasCustomPrompt="1"/>
          </p:nvPr>
        </p:nvSpPr>
        <p:spPr>
          <a:xfrm xmlns:a="http://schemas.openxmlformats.org/drawingml/2006/main">
            <a:off x="548640" y="2743200"/>
            <a:ext cx="5303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1600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16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B9C844A-121C-4E64-9845-41F327C80197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8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52EE027-0985-490A-90F2-2F828C91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8BAE9C7-A860-4CB8-B123-FC6E29B3983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40d3b0e2c34d1b" /><Relationship Type="http://schemas.openxmlformats.org/officeDocument/2006/relationships/slideLayout" Target="/ppt/slideLayouts/slideLayout1.xml" Id="R5f0530714310428b" /><Relationship Type="http://schemas.openxmlformats.org/officeDocument/2006/relationships/slideLayout" Target="/ppt/slideLayouts/slideLayout2.xml" Id="R87175b6987ed4be5" /><Relationship Type="http://schemas.openxmlformats.org/officeDocument/2006/relationships/slideLayout" Target="/ppt/slideLayouts/slideLayout3.xml" Id="Rc784a96e891046c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E6E297E-55D3-495F-9F92-E294FB0C78F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0530714310428b"/>
    <p:sldLayoutId xmlns:r="http://schemas.openxmlformats.org/officeDocument/2006/relationships" id="2147483650" r:id="R87175b6987ed4be5"/>
    <p:sldLayoutId xmlns:r="http://schemas.openxmlformats.org/officeDocument/2006/relationships" id="2147483651" r:id="Rc784a96e891046c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965af70a7f4597" /><Relationship Type="http://schemas.openxmlformats.org/officeDocument/2006/relationships/image" Target="/ppt/media/image.png" Id="R2e6f3b1387774e99" /><Relationship Type="http://schemas.openxmlformats.org/officeDocument/2006/relationships/notesSlide" Target="/ppt/notesSlides/notesSlide1.xml" Id="R9eeb20dd7de54a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06b69abbb746c5" /><Relationship Type="http://schemas.openxmlformats.org/officeDocument/2006/relationships/image" Target="/ppt/media/image2.png" Id="R81592de25b51430b" /><Relationship Type="http://schemas.openxmlformats.org/officeDocument/2006/relationships/image" Target="/ppt/media/image3.png" Id="Rb4841ce8801443f5" /><Relationship Type="http://schemas.openxmlformats.org/officeDocument/2006/relationships/image" Target="/ppt/media/image4.png" Id="Rc7dae6f34d994719" /><Relationship Type="http://schemas.openxmlformats.org/officeDocument/2006/relationships/notesSlide" Target="/ppt/notesSlides/notesSlide2.xml" Id="R68e98bd3036b45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4dee67843f4f5e" /><Relationship Type="http://schemas.openxmlformats.org/officeDocument/2006/relationships/image" Target="/ppt/media/image2.png" Id="Re74af84a31e046ff" /><Relationship Type="http://schemas.openxmlformats.org/officeDocument/2006/relationships/image" Target="/ppt/media/image5.png" Id="R2f7dfd5efcab48aa" /><Relationship Type="http://schemas.openxmlformats.org/officeDocument/2006/relationships/image" Target="/ppt/media/image6.png" Id="Rbe14138308314173" /><Relationship Type="http://schemas.openxmlformats.org/officeDocument/2006/relationships/notesSlide" Target="/ppt/notesSlides/notesSlide3.xml" Id="R663332121fe540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192393b674856" /><Relationship Type="http://schemas.openxmlformats.org/officeDocument/2006/relationships/notesSlide" Target="/ppt/notesSlides/notesSlide4.xml" Id="R21ace24d79b346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aa59e34a34920" /><Relationship Type="http://schemas.openxmlformats.org/officeDocument/2006/relationships/notesSlide" Target="/ppt/notesSlides/notesSlide5.xml" Id="R31f3d1b8122d41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51b3d14ae47cc" /><Relationship Type="http://schemas.openxmlformats.org/officeDocument/2006/relationships/notesSlide" Target="/ppt/notesSlides/notesSlide6.xml" Id="R95c06198605946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CA03124A-9DB6-4D0F-A358-2EC8B3AD9CC1}"/>
              </a:ext>
            </a:extLst>
          </p:cNvPr>
          <p:cNvSpPr>
            <a:spLocks xmlns:a="http://schemas.openxmlformats.org/drawingml/2006/main" noGrp="1"/>
          </p:cNvSpPr>
          <p:nvPr>
            <p:ph type="title" idx="101"/>
          </p:nvPr>
        </p:nvSpPr>
        <p:spPr>
          <a:xfrm xmlns:a="http://schemas.openxmlformats.org/drawingml/2006/main">
            <a:off x="548640" y="1188720"/>
            <a:ext cx="5303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PARKS</a:t>
            </a:r>
            <a:endParaRPr sz="4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E1F597-DA0B-4FE6-A963-4322C7D5446E}"/>
              </a:ext>
            </a:extLst>
          </p:cNvPr>
          <p:cNvSpPr>
            <a:spLocks xmlns:a="http://schemas.openxmlformats.org/drawingml/2006/main" noGrp="1"/>
          </p:cNvSpPr>
          <p:nvPr>
            <p:ph type="body" idx="102"/>
          </p:nvPr>
        </p:nvSpPr>
        <p:spPr>
          <a:xfrm xmlns:a="http://schemas.openxmlformats.org/drawingml/2006/main">
            <a:off x="548640" y="2743200"/>
            <a:ext cx="5303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SES</a:t>
            </a:r>
            <a:r>
              <a:rPr sz="1600">
                <a:solidFill>
                  <a:schemeClr val="accent4"/>
                </a:solidFill>
              </a:rPr>
              <a:t>企業とエンジニアが、気楽に参加できる場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案件と人材をつなぎ、成約率向上をめざす仕組み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SES</a:t>
            </a:r>
            <a:r>
              <a:rPr sz="1600">
                <a:solidFill>
                  <a:schemeClr val="accent4"/>
                </a:solidFill>
              </a:rPr>
              <a:t>企業のみなさまへのご提案です</a:t>
            </a:r>
            <a:endParaRPr sz="1600">
              <a:solidFill>
                <a:schemeClr val="accent4"/>
              </a:solidFill>
            </a:endParaRPr>
          </a:p>
          <a:p xmlns:a="http://schemas.openxmlformats.org/drawingml/2006/main">
            <a:pPr marL="0" indent="0" algn="l">
              <a:buNone/>
            </a:pPr>
            <a:endParaRPr sz="1600">
              <a:solidFill>
                <a:schemeClr val="accent4"/>
              </a:solidFill>
            </a:endParaRPr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chemeClr val="accent4"/>
                </a:solidFill>
              </a:rPr>
              <a:t>2026</a:t>
            </a:r>
            <a:r>
              <a:rPr sz="1200">
                <a:solidFill>
                  <a:schemeClr val="accent4"/>
                </a:solidFill>
              </a:rPr>
              <a:t>年10月14日</a:t>
            </a:r>
            <a:endParaRPr sz="1600"/>
          </a:p>
        </p:txBody>
      </p:sp>
      <p:sp>
        <p:nvSpPr>
          <p:cNvPr id="4" name="表紙円">
            <a:extLst xmlns:a="http://schemas.openxmlformats.org/drawingml/2006/main">
              <a:ext uri="{FF2B5EF4-FFF2-40B4-BE49-F238E27FC236}">
                <a16:creationId xmlns:a16="http://schemas.microsoft.com/office/drawing/2014/main" id="{534AB8E4-6002-46F7-96CB-F43A3D03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920240"/>
            <a:ext cx="128016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>
            <a:extLst xmlns:a="http://schemas.openxmlformats.org/drawingml/2006/main">
              <a:ext uri="{FF2B5EF4-FFF2-40B4-BE49-F238E27FC236}">
                <a16:creationId xmlns:a16="http://schemas.microsoft.com/office/drawing/2014/main" id="{A20DFDC4-977B-4B8B-AE7F-6BBF4BACC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f3b1387774e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5355" y="2201875"/>
            <a:ext cx="716890" cy="716890"/>
          </a:xfrm>
          <a:prstGeom xmlns:a="http://schemas.openxmlformats.org/drawingml/2006/main" prst="rect">
            <a:avLst/>
          </a:prstGeom>
        </p:spPr>
      </p:pic>
      <p:sp>
        <p:nvSpPr>
          <p:cNvPr id="6" name="表紙イラスト・机">
            <a:extLst xmlns:a="http://schemas.openxmlformats.org/drawingml/2006/main">
              <a:ext uri="{FF2B5EF4-FFF2-40B4-BE49-F238E27FC236}">
                <a16:creationId xmlns:a16="http://schemas.microsoft.com/office/drawing/2014/main" id="{820FA163-9CC6-42DC-A900-F90CA962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8425" y="4333875"/>
            <a:ext cx="2286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表紙イラスト・机脚1">
            <a:extLst xmlns:a="http://schemas.openxmlformats.org/drawingml/2006/main">
              <a:ext uri="{FF2B5EF4-FFF2-40B4-BE49-F238E27FC236}">
                <a16:creationId xmlns:a16="http://schemas.microsoft.com/office/drawing/2014/main" id="{CFFF6332-B535-4C52-8E47-C312A3F2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4448175"/>
            <a:ext cx="76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表紙イラスト・机脚2">
            <a:extLst xmlns:a="http://schemas.openxmlformats.org/drawingml/2006/main">
              <a:ext uri="{FF2B5EF4-FFF2-40B4-BE49-F238E27FC236}">
                <a16:creationId xmlns:a16="http://schemas.microsoft.com/office/drawing/2014/main" id="{9AFCA771-6A42-411B-91B1-5E9EC197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4448175"/>
            <a:ext cx="76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表紙イラスト・参加者A・頭">
            <a:extLst xmlns:a="http://schemas.openxmlformats.org/drawingml/2006/main">
              <a:ext uri="{FF2B5EF4-FFF2-40B4-BE49-F238E27FC236}">
                <a16:creationId xmlns:a16="http://schemas.microsoft.com/office/drawing/2014/main" id="{77B52754-DFF3-45D7-B06B-0F0EBDE2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5618" y="3381375"/>
            <a:ext cx="284798" cy="2847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表紙イラスト・参加者A・髪">
            <a:extLst xmlns:a="http://schemas.openxmlformats.org/drawingml/2006/main">
              <a:ext uri="{FF2B5EF4-FFF2-40B4-BE49-F238E27FC236}">
                <a16:creationId xmlns:a16="http://schemas.microsoft.com/office/drawing/2014/main" id="{39BB2835-EBD3-48D7-AA0C-4F314C3A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3710" y="3348514"/>
            <a:ext cx="328613" cy="164306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表紙イラスト・参加者A・胴">
            <a:extLst xmlns:a="http://schemas.openxmlformats.org/drawingml/2006/main">
              <a:ext uri="{FF2B5EF4-FFF2-40B4-BE49-F238E27FC236}">
                <a16:creationId xmlns:a16="http://schemas.microsoft.com/office/drawing/2014/main" id="{BFB3B67F-A451-4F05-A097-425AEC01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7034" y="3709988"/>
            <a:ext cx="481965" cy="591503"/>
          </a:xfrm>
          <a:prstGeom xmlns:a="http://schemas.openxmlformats.org/drawingml/2006/main" prst="roundRect">
            <a:avLst>
              <a:gd name="adj" fmla="val 1581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表紙イラスト・参加者A・脚1">
            <a:extLst xmlns:a="http://schemas.openxmlformats.org/drawingml/2006/main">
              <a:ext uri="{FF2B5EF4-FFF2-40B4-BE49-F238E27FC236}">
                <a16:creationId xmlns:a16="http://schemas.microsoft.com/office/drawing/2014/main" id="{29E55881-6D69-472E-B4D5-554A19E4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849" y="4246721"/>
            <a:ext cx="142399" cy="350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表紙イラスト・参加者A・脚2">
            <a:extLst xmlns:a="http://schemas.openxmlformats.org/drawingml/2006/main">
              <a:ext uri="{FF2B5EF4-FFF2-40B4-BE49-F238E27FC236}">
                <a16:creationId xmlns:a16="http://schemas.microsoft.com/office/drawing/2014/main" id="{0796754B-0D5E-4FC4-8AE9-6219A99E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2785" y="4246721"/>
            <a:ext cx="142399" cy="350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表紙イラスト・参加者B・頭">
            <a:extLst xmlns:a="http://schemas.openxmlformats.org/drawingml/2006/main">
              <a:ext uri="{FF2B5EF4-FFF2-40B4-BE49-F238E27FC236}">
                <a16:creationId xmlns:a16="http://schemas.microsoft.com/office/drawing/2014/main" id="{A0D77145-C973-4C91-920A-5EF0D451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7668" y="3381375"/>
            <a:ext cx="284798" cy="2847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表紙イラスト・参加者B・髪">
            <a:extLst xmlns:a="http://schemas.openxmlformats.org/drawingml/2006/main">
              <a:ext uri="{FF2B5EF4-FFF2-40B4-BE49-F238E27FC236}">
                <a16:creationId xmlns:a16="http://schemas.microsoft.com/office/drawing/2014/main" id="{D845F178-023E-4EB4-81B3-6FEF0DA7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760" y="3348514"/>
            <a:ext cx="328613" cy="164306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表紙イラスト・参加者B・胴">
            <a:extLst xmlns:a="http://schemas.openxmlformats.org/drawingml/2006/main">
              <a:ext uri="{FF2B5EF4-FFF2-40B4-BE49-F238E27FC236}">
                <a16:creationId xmlns:a16="http://schemas.microsoft.com/office/drawing/2014/main" id="{1F425D05-9FDF-4FB6-881D-38338804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9084" y="3709988"/>
            <a:ext cx="481965" cy="591503"/>
          </a:xfrm>
          <a:prstGeom xmlns:a="http://schemas.openxmlformats.org/drawingml/2006/main" prst="roundRect">
            <a:avLst>
              <a:gd name="adj" fmla="val 15810"/>
            </a:avLst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表紙イラスト・参加者B・脚1">
            <a:extLst xmlns:a="http://schemas.openxmlformats.org/drawingml/2006/main">
              <a:ext uri="{FF2B5EF4-FFF2-40B4-BE49-F238E27FC236}">
                <a16:creationId xmlns:a16="http://schemas.microsoft.com/office/drawing/2014/main" id="{2E2E9F38-78A8-42E0-AB58-DEAF0481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2899" y="4246721"/>
            <a:ext cx="142399" cy="350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表紙イラスト・参加者B・脚2">
            <a:extLst xmlns:a="http://schemas.openxmlformats.org/drawingml/2006/main">
              <a:ext uri="{FF2B5EF4-FFF2-40B4-BE49-F238E27FC236}">
                <a16:creationId xmlns:a16="http://schemas.microsoft.com/office/drawing/2014/main" id="{9CBFFAF5-B5C3-4DF5-8932-03BBCD53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4835" y="4246721"/>
            <a:ext cx="142399" cy="350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表紙イラスト・PC画面">
            <a:extLst xmlns:a="http://schemas.openxmlformats.org/drawingml/2006/main">
              <a:ext uri="{FF2B5EF4-FFF2-40B4-BE49-F238E27FC236}">
                <a16:creationId xmlns:a16="http://schemas.microsoft.com/office/drawing/2014/main" id="{70099F48-E67E-4C84-93DC-DC4DA404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3810000"/>
            <a:ext cx="66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表紙イラスト・PC画面内">
            <a:extLst xmlns:a="http://schemas.openxmlformats.org/drawingml/2006/main">
              <a:ext uri="{FF2B5EF4-FFF2-40B4-BE49-F238E27FC236}">
                <a16:creationId xmlns:a16="http://schemas.microsoft.com/office/drawing/2014/main" id="{99F7B1B0-AC12-469B-882F-D72EA3DB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3867150"/>
            <a:ext cx="5524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表紙イラスト・PC台">
            <a:extLst xmlns:a="http://schemas.openxmlformats.org/drawingml/2006/main">
              <a:ext uri="{FF2B5EF4-FFF2-40B4-BE49-F238E27FC236}">
                <a16:creationId xmlns:a16="http://schemas.microsoft.com/office/drawing/2014/main" id="{68098DC3-4916-4C20-B88C-2DA6E90D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4267200"/>
            <a:ext cx="819150" cy="6667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F5B9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表紙イラスト・腕A">
            <a:extLst xmlns:a="http://schemas.openxmlformats.org/drawingml/2006/main">
              <a:ext uri="{FF2B5EF4-FFF2-40B4-BE49-F238E27FC236}">
                <a16:creationId xmlns:a16="http://schemas.microsoft.com/office/drawing/2014/main" id="{8A38A081-6EA7-4AD9-B6CF-72AB4707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8975" y="3781425"/>
            <a:ext cx="33337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表紙イラスト・腕B">
            <a:extLst xmlns:a="http://schemas.openxmlformats.org/drawingml/2006/main">
              <a:ext uri="{FF2B5EF4-FFF2-40B4-BE49-F238E27FC236}">
                <a16:creationId xmlns:a16="http://schemas.microsoft.com/office/drawing/2014/main" id="{C5009891-2F7E-4681-9DDE-CB09AE21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3781425"/>
            <a:ext cx="2762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59683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B8602C-5C9C-4CEF-945E-A9A92E40CDD0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394996" y="311658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プロジェクトに賭ける私の想い</a:t>
            </a:r>
            <a:endParaRPr sz="2800"/>
          </a:p>
        </p:txBody>
      </p:sp>
      <p:sp>
        <p:nvSpPr>
          <p:cNvPr id="3" name="想い1円">
            <a:extLst xmlns:a="http://schemas.openxmlformats.org/drawingml/2006/main">
              <a:ext uri="{FF2B5EF4-FFF2-40B4-BE49-F238E27FC236}">
                <a16:creationId xmlns:a16="http://schemas.microsoft.com/office/drawing/2014/main" id="{DCD30D59-35EC-4BA9-A2D7-BA2C9F9D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421" y="2223721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>
            <a:extLst xmlns:a="http://schemas.openxmlformats.org/drawingml/2006/main">
              <a:ext uri="{FF2B5EF4-FFF2-40B4-BE49-F238E27FC236}">
                <a16:creationId xmlns:a16="http://schemas.microsoft.com/office/drawing/2014/main" id="{EC5D9AC7-F795-4CF3-ADBE-88A4AE424B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92de25b5143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04239" y="2364539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5" name="想い文1">
            <a:extLst xmlns:a="http://schemas.openxmlformats.org/drawingml/2006/main">
              <a:ext uri="{FF2B5EF4-FFF2-40B4-BE49-F238E27FC236}">
                <a16:creationId xmlns:a16="http://schemas.microsoft.com/office/drawing/2014/main" id="{3E5E2EEC-CC52-45CF-967C-C559EDF6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2071" y="2223707"/>
            <a:ext cx="533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SES企業の横のつながりを強くする</a:t>
            </a:r>
            <a:endParaRPr sz="1800"/>
          </a:p>
        </p:txBody>
      </p:sp>
      <p:sp>
        <p:nvSpPr>
          <p:cNvPr id="6" name="想い2円">
            <a:extLst xmlns:a="http://schemas.openxmlformats.org/drawingml/2006/main">
              <a:ext uri="{FF2B5EF4-FFF2-40B4-BE49-F238E27FC236}">
                <a16:creationId xmlns:a16="http://schemas.microsoft.com/office/drawing/2014/main" id="{0EDE433A-7F1F-4DA9-A984-B1CDE88B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421" y="3092401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>
            <a:extLst xmlns:a="http://schemas.openxmlformats.org/drawingml/2006/main">
              <a:ext uri="{FF2B5EF4-FFF2-40B4-BE49-F238E27FC236}">
                <a16:creationId xmlns:a16="http://schemas.microsoft.com/office/drawing/2014/main" id="{704AEC49-8943-42C8-B7CB-01B01D04F1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41ce8801443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04239" y="3233219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8" name="想い文2">
            <a:extLst xmlns:a="http://schemas.openxmlformats.org/drawingml/2006/main">
              <a:ext uri="{FF2B5EF4-FFF2-40B4-BE49-F238E27FC236}">
                <a16:creationId xmlns:a16="http://schemas.microsoft.com/office/drawing/2014/main" id="{F45E24E8-5948-4328-BA4E-9DEF5B9B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2071" y="3092387"/>
            <a:ext cx="533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届いた案件を、合うエンジニアへすばやく届ける</a:t>
            </a:r>
            <a:endParaRPr sz="1800"/>
          </a:p>
        </p:txBody>
      </p:sp>
      <p:sp>
        <p:nvSpPr>
          <p:cNvPr id="9" name="想い3円">
            <a:extLst xmlns:a="http://schemas.openxmlformats.org/drawingml/2006/main">
              <a:ext uri="{FF2B5EF4-FFF2-40B4-BE49-F238E27FC236}">
                <a16:creationId xmlns:a16="http://schemas.microsoft.com/office/drawing/2014/main" id="{AF4EFA29-2B9D-41EB-AF2C-F4255F1C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421" y="3961081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>
            <a:extLst xmlns:a="http://schemas.openxmlformats.org/drawingml/2006/main">
              <a:ext uri="{FF2B5EF4-FFF2-40B4-BE49-F238E27FC236}">
                <a16:creationId xmlns:a16="http://schemas.microsoft.com/office/drawing/2014/main" id="{5156A03A-A97B-4CCA-90D4-BD583EA6B7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ae6f34d994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04239" y="4101899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11" name="想い文3">
            <a:extLst xmlns:a="http://schemas.openxmlformats.org/drawingml/2006/main">
              <a:ext uri="{FF2B5EF4-FFF2-40B4-BE49-F238E27FC236}">
                <a16:creationId xmlns:a16="http://schemas.microsoft.com/office/drawing/2014/main" id="{7C50BCB5-FDDC-464F-A5D0-B2974D0E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2071" y="3961067"/>
            <a:ext cx="533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marL="0" indent="0" algn="l">
              <a:buNone/>
              <a:defRPr sz="15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職務経歴を的確に伝え、成約率向上をめざす</a:t>
            </a:r>
            <a:endParaRPr sz="1800"/>
          </a:p>
        </p:txBody>
      </p:sp>
      <p:sp>
        <p:nvSpPr>
          <p:cNvPr id="12" name="経験帯">
            <a:extLst xmlns:a="http://schemas.openxmlformats.org/drawingml/2006/main">
              <a:ext uri="{FF2B5EF4-FFF2-40B4-BE49-F238E27FC236}">
                <a16:creationId xmlns:a16="http://schemas.microsoft.com/office/drawing/2014/main" id="{851E9AFB-3BBF-46E5-A12E-940AA1CD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421" y="1092926"/>
            <a:ext cx="822960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3" name="経験文">
            <a:extLst xmlns:a="http://schemas.openxmlformats.org/drawingml/2006/main">
              <a:ext uri="{FF2B5EF4-FFF2-40B4-BE49-F238E27FC236}">
                <a16:creationId xmlns:a16="http://schemas.microsoft.com/office/drawing/2014/main" id="{602E4B15-8E25-4EB3-88D4-51A52E47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4996" y="1129945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エンジニアを15年以上続けてきた私だから、提案できます</a:t>
            </a:r>
            <a:endParaRPr sz="1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E3D2000-613E-41D7-9B36-56699BFD458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  <p:sp>
        <p:nvSpPr>
          <p:cNvPr id="26" name="提案する人イラスト・背景">
            <a:extLst xmlns:a="http://schemas.openxmlformats.org/drawingml/2006/main">
              <a:ext uri="{FF2B5EF4-FFF2-40B4-BE49-F238E27FC236}">
                <a16:creationId xmlns:a16="http://schemas.microsoft.com/office/drawing/2014/main" id="{FC078D66-5634-4CAA-81CB-AD22CB5E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2143125"/>
            <a:ext cx="1866900" cy="250507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27" name="提案する人イラスト・椅子">
            <a:extLst xmlns:a="http://schemas.openxmlformats.org/drawingml/2006/main">
              <a:ext uri="{FF2B5EF4-FFF2-40B4-BE49-F238E27FC236}">
                <a16:creationId xmlns:a16="http://schemas.microsoft.com/office/drawing/2014/main" id="{4B410AA7-A51A-4487-A92D-50992599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3486150"/>
            <a:ext cx="409575" cy="69532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提案する人イラスト・頭">
            <a:extLst xmlns:a="http://schemas.openxmlformats.org/drawingml/2006/main">
              <a:ext uri="{FF2B5EF4-FFF2-40B4-BE49-F238E27FC236}">
                <a16:creationId xmlns:a16="http://schemas.microsoft.com/office/drawing/2014/main" id="{89986A75-F4A7-4879-A815-50D62B11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提案する人イラスト・髪">
            <a:extLst xmlns:a="http://schemas.openxmlformats.org/drawingml/2006/main">
              <a:ext uri="{FF2B5EF4-FFF2-40B4-BE49-F238E27FC236}">
                <a16:creationId xmlns:a16="http://schemas.microsoft.com/office/drawing/2014/main" id="{1CF1350D-1681-4255-9858-F92DDEF7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5175" y="2466975"/>
            <a:ext cx="381000" cy="190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提案する人イラスト・胴">
            <a:extLst xmlns:a="http://schemas.openxmlformats.org/drawingml/2006/main">
              <a:ext uri="{FF2B5EF4-FFF2-40B4-BE49-F238E27FC236}">
                <a16:creationId xmlns:a16="http://schemas.microsoft.com/office/drawing/2014/main" id="{2E4FEF8A-F47A-4CB7-AD3F-7864CE41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2876550"/>
            <a:ext cx="628650" cy="7239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提案する人イラスト・脚1">
            <a:extLst xmlns:a="http://schemas.openxmlformats.org/drawingml/2006/main">
              <a:ext uri="{FF2B5EF4-FFF2-40B4-BE49-F238E27FC236}">
                <a16:creationId xmlns:a16="http://schemas.microsoft.com/office/drawing/2014/main" id="{849A3CF3-01ED-4BF9-91C4-DCB51C10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3524250"/>
            <a:ext cx="180975" cy="4000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提案する人イラスト・脚2">
            <a:extLst xmlns:a="http://schemas.openxmlformats.org/drawingml/2006/main">
              <a:ext uri="{FF2B5EF4-FFF2-40B4-BE49-F238E27FC236}">
                <a16:creationId xmlns:a16="http://schemas.microsoft.com/office/drawing/2014/main" id="{B336C8C1-1D88-41CD-B449-198A05E5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3524250"/>
            <a:ext cx="180975" cy="4000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提案する人イラスト・机">
            <a:extLst xmlns:a="http://schemas.openxmlformats.org/drawingml/2006/main">
              <a:ext uri="{FF2B5EF4-FFF2-40B4-BE49-F238E27FC236}">
                <a16:creationId xmlns:a16="http://schemas.microsoft.com/office/drawing/2014/main" id="{22F08AE6-B5A9-489C-A57F-BD63CF0E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010025"/>
            <a:ext cx="157162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提案する人イラスト・机脚">
            <a:extLst xmlns:a="http://schemas.openxmlformats.org/drawingml/2006/main">
              <a:ext uri="{FF2B5EF4-FFF2-40B4-BE49-F238E27FC236}">
                <a16:creationId xmlns:a16="http://schemas.microsoft.com/office/drawing/2014/main" id="{FCF655F2-69B6-46B3-8A73-71D14863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105275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提案する人イラスト・机脚">
            <a:extLst xmlns:a="http://schemas.openxmlformats.org/drawingml/2006/main">
              <a:ext uri="{FF2B5EF4-FFF2-40B4-BE49-F238E27FC236}">
                <a16:creationId xmlns:a16="http://schemas.microsoft.com/office/drawing/2014/main" id="{A4D21C01-677B-41D3-9B62-965EC007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4105275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提案する人イラスト・PC">
            <a:extLst xmlns:a="http://schemas.openxmlformats.org/drawingml/2006/main">
              <a:ext uri="{FF2B5EF4-FFF2-40B4-BE49-F238E27FC236}">
                <a16:creationId xmlns:a16="http://schemas.microsoft.com/office/drawing/2014/main" id="{57E21CEE-65D9-48D5-9576-9AF0A3EA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3190875"/>
            <a:ext cx="72390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提案する人イラスト・画面">
            <a:extLst xmlns:a="http://schemas.openxmlformats.org/drawingml/2006/main">
              <a:ext uri="{FF2B5EF4-FFF2-40B4-BE49-F238E27FC236}">
                <a16:creationId xmlns:a16="http://schemas.microsoft.com/office/drawing/2014/main" id="{4DA99AB9-8792-4166-9305-33846C04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3257550"/>
            <a:ext cx="590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提案する人イラスト・案件マーク">
            <a:extLst xmlns:a="http://schemas.openxmlformats.org/drawingml/2006/main">
              <a:ext uri="{FF2B5EF4-FFF2-40B4-BE49-F238E27FC236}">
                <a16:creationId xmlns:a16="http://schemas.microsoft.com/office/drawing/2014/main" id="{F882982A-2E23-4180-94F6-4B1C95C7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提案する人イラスト・案件行1">
            <a:extLst xmlns:a="http://schemas.openxmlformats.org/drawingml/2006/main">
              <a:ext uri="{FF2B5EF4-FFF2-40B4-BE49-F238E27FC236}">
                <a16:creationId xmlns:a16="http://schemas.microsoft.com/office/drawing/2014/main" id="{603A2334-26B6-40A8-B34D-4448C7E6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352800"/>
            <a:ext cx="2190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提案する人イラスト・案件行2">
            <a:extLst xmlns:a="http://schemas.openxmlformats.org/drawingml/2006/main">
              <a:ext uri="{FF2B5EF4-FFF2-40B4-BE49-F238E27FC236}">
                <a16:creationId xmlns:a16="http://schemas.microsoft.com/office/drawing/2014/main" id="{689F96EF-1E95-4628-A237-1E2673E5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467100"/>
            <a:ext cx="1809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提案する人イラスト・腕">
            <a:extLst xmlns:a="http://schemas.openxmlformats.org/drawingml/2006/main">
              <a:ext uri="{FF2B5EF4-FFF2-40B4-BE49-F238E27FC236}">
                <a16:creationId xmlns:a16="http://schemas.microsoft.com/office/drawing/2014/main" id="{6886D75C-9421-4AD9-93DC-8328F746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3067050"/>
            <a:ext cx="266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提案する人イラスト・PC台">
            <a:extLst xmlns:a="http://schemas.openxmlformats.org/drawingml/2006/main">
              <a:ext uri="{FF2B5EF4-FFF2-40B4-BE49-F238E27FC236}">
                <a16:creationId xmlns:a16="http://schemas.microsoft.com/office/drawing/2014/main" id="{299C710C-F3AC-42D1-8F38-5385968F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525" y="3771900"/>
            <a:ext cx="866775" cy="762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F5B97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93795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AA794EA-419E-4B4B-A04A-393051C6A644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SES</a:t>
            </a: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各社が結束</a:t>
            </a: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すれば、仕事は増えます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3802C83-7C96-4C88-8F1E-AE0E672F588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14" name="仲間0">
            <a:extLst xmlns:a="http://schemas.openxmlformats.org/drawingml/2006/main">
              <a:ext uri="{FF2B5EF4-FFF2-40B4-BE49-F238E27FC236}">
                <a16:creationId xmlns:a16="http://schemas.microsoft.com/office/drawing/2014/main" id="{860F4120-1804-46CE-8829-AFB8F9BF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SES</a:t>
            </a: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企業</a:t>
            </a: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A</a:t>
            </a:r>
            <a:endParaRPr sz="10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  <a:p xmlns:a="http://schemas.openxmlformats.org/drawingml/2006/main"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  <a:endParaRPr sz="9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5" name="仲間1">
            <a:extLst xmlns:a="http://schemas.openxmlformats.org/drawingml/2006/main">
              <a:ext uri="{FF2B5EF4-FFF2-40B4-BE49-F238E27FC236}">
                <a16:creationId xmlns:a16="http://schemas.microsoft.com/office/drawing/2014/main" id="{AB319472-C75F-4527-BFAB-7986A9A0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58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</a:rPr>
              <a:t>SES</a:t>
            </a:r>
            <a:r>
              <a:rPr sz="1000" b="1">
                <a:solidFill>
                  <a:srgbClr val="2B4A6F"/>
                </a:solidFill>
              </a:rPr>
              <a:t>企業</a:t>
            </a:r>
            <a:r>
              <a:rPr sz="1000" b="1">
                <a:solidFill>
                  <a:srgbClr val="2B4A6F"/>
                </a:solidFill>
              </a:rPr>
              <a:t>B</a:t>
            </a:r>
          </a:p>
          <a:p xmlns:a="http://schemas.openxmlformats.org/drawingml/2006/main"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  <a:endParaRPr sz="9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6" name="仲間2">
            <a:extLst xmlns:a="http://schemas.openxmlformats.org/drawingml/2006/main">
              <a:ext uri="{FF2B5EF4-FFF2-40B4-BE49-F238E27FC236}">
                <a16:creationId xmlns:a16="http://schemas.microsoft.com/office/drawing/2014/main" id="{EDAE3164-6977-4E32-9E78-3BB17FC9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4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</a:rPr>
              <a:t>SES</a:t>
            </a:r>
            <a:r>
              <a:rPr sz="1000" b="1">
                <a:solidFill>
                  <a:srgbClr val="2B4A6F"/>
                </a:solidFill>
              </a:rPr>
              <a:t>企業</a:t>
            </a:r>
            <a:r>
              <a:rPr sz="1000" b="1">
                <a:solidFill>
                  <a:srgbClr val="2B4A6F"/>
                </a:solidFill>
              </a:rPr>
              <a:t>C</a:t>
            </a:r>
            <a:endParaRPr sz="10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  <a:p xmlns:a="http://schemas.openxmlformats.org/drawingml/2006/main">
            <a:pPr algn="ctr">
              <a:buNone/>
            </a:pPr>
            <a:r>
              <a:rPr sz="9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エンジニア数名</a:t>
            </a:r>
            <a:endParaRPr sz="9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7" name="結束矢印1">
            <a:extLst xmlns:a="http://schemas.openxmlformats.org/drawingml/2006/main">
              <a:ext uri="{FF2B5EF4-FFF2-40B4-BE49-F238E27FC236}">
                <a16:creationId xmlns:a16="http://schemas.microsoft.com/office/drawing/2014/main" id="{5BC86BAE-8678-4864-9DF8-CCAB421A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21209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結束帯">
            <a:extLst xmlns:a="http://schemas.openxmlformats.org/drawingml/2006/main">
              <a:ext uri="{FF2B5EF4-FFF2-40B4-BE49-F238E27FC236}">
                <a16:creationId xmlns:a16="http://schemas.microsoft.com/office/drawing/2014/main" id="{60B40D7F-8598-46DD-88F1-B7B85D52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46016" y="1216025"/>
            <a:ext cx="1670050" cy="20891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GP円">
            <a:extLst xmlns:a="http://schemas.openxmlformats.org/drawingml/2006/main">
              <a:ext uri="{FF2B5EF4-FFF2-40B4-BE49-F238E27FC236}">
                <a16:creationId xmlns:a16="http://schemas.microsoft.com/office/drawing/2014/main" id="{7F733653-9594-45DE-B302-03833ED2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73016" y="1622424"/>
            <a:ext cx="1435359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GP</a:t>
            </a:r>
          </a:p>
          <a:p xmlns:a="http://schemas.openxmlformats.org/drawingml/2006/main"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</a:t>
            </a: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）</a:t>
            </a:r>
            <a:endParaRPr sz="900">
              <a:solidFill>
                <a:srgbClr val="FFFFFF"/>
              </a:solidFill>
              <a:latin typeface="Meiryo"/>
              <a:ea typeface="Meiryo"/>
              <a:cs typeface="Meiryo"/>
            </a:endParaRPr>
          </a:p>
          <a:p xmlns:a="http://schemas.openxmlformats.org/drawingml/2006/main"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多数のエンジニア</a:t>
            </a:r>
            <a:endParaRPr sz="900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結束矢印2">
            <a:extLst xmlns:a="http://schemas.openxmlformats.org/drawingml/2006/main">
              <a:ext uri="{FF2B5EF4-FFF2-40B4-BE49-F238E27FC236}">
                <a16:creationId xmlns:a16="http://schemas.microsoft.com/office/drawing/2014/main" id="{9E9D89B6-EE44-4868-AD7B-444682CA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16" y="2122973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案件0">
            <a:extLst xmlns:a="http://schemas.openxmlformats.org/drawingml/2006/main">
              <a:ext uri="{FF2B5EF4-FFF2-40B4-BE49-F238E27FC236}">
                <a16:creationId xmlns:a16="http://schemas.microsoft.com/office/drawing/2014/main" id="{67A395BD-BD88-467D-994F-14888B9E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8116" y="117475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1" name="案件1">
            <a:extLst xmlns:a="http://schemas.openxmlformats.org/drawingml/2006/main">
              <a:ext uri="{FF2B5EF4-FFF2-40B4-BE49-F238E27FC236}">
                <a16:creationId xmlns:a16="http://schemas.microsoft.com/office/drawing/2014/main" id="{22AE6BC0-8D44-46AD-8BC0-55B85C8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8116" y="173355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2" name="案件2">
            <a:extLst xmlns:a="http://schemas.openxmlformats.org/drawingml/2006/main">
              <a:ext uri="{FF2B5EF4-FFF2-40B4-BE49-F238E27FC236}">
                <a16:creationId xmlns:a16="http://schemas.microsoft.com/office/drawing/2014/main" id="{A9D5D37B-9128-4843-9C63-027BA2A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8116" y="229235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3" name="案件3">
            <a:extLst xmlns:a="http://schemas.openxmlformats.org/drawingml/2006/main">
              <a:ext uri="{FF2B5EF4-FFF2-40B4-BE49-F238E27FC236}">
                <a16:creationId xmlns:a16="http://schemas.microsoft.com/office/drawing/2014/main" id="{4747B094-D52D-42CD-8F13-5C676129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8116" y="285115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結束説明">
            <a:extLst xmlns:a="http://schemas.openxmlformats.org/drawingml/2006/main">
              <a:ext uri="{FF2B5EF4-FFF2-40B4-BE49-F238E27FC236}">
                <a16:creationId xmlns:a16="http://schemas.microsoft.com/office/drawing/2014/main" id="{EBFD9254-859E-4ACB-AC9B-7874B8DD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16" y="3530599"/>
            <a:ext cx="43942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みなさまの案件とエンジニアを、ひとつのグループに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6" name="利点0">
            <a:extLst xmlns:a="http://schemas.openxmlformats.org/drawingml/2006/main">
              <a:ext uri="{FF2B5EF4-FFF2-40B4-BE49-F238E27FC236}">
                <a16:creationId xmlns:a16="http://schemas.microsoft.com/office/drawing/2014/main" id="{61C6C4C8-F13E-47DF-9833-961D46CD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1684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利点0円">
            <a:extLst xmlns:a="http://schemas.openxmlformats.org/drawingml/2006/main">
              <a:ext uri="{FF2B5EF4-FFF2-40B4-BE49-F238E27FC236}">
                <a16:creationId xmlns:a16="http://schemas.microsoft.com/office/drawing/2014/main" id="{6BF8BC6C-6BBE-478B-8F77-94ECEF8A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1295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8" name="利点0アイコン">
            <a:extLst xmlns:a="http://schemas.openxmlformats.org/drawingml/2006/main">
              <a:ext uri="{FF2B5EF4-FFF2-40B4-BE49-F238E27FC236}">
                <a16:creationId xmlns:a16="http://schemas.microsoft.com/office/drawing/2014/main" id="{4400597D-D59E-4FF2-BE76-2E401B7ADC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af84a31e046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14160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29" name="利点0文">
            <a:extLst xmlns:a="http://schemas.openxmlformats.org/drawingml/2006/main">
              <a:ext uri="{FF2B5EF4-FFF2-40B4-BE49-F238E27FC236}">
                <a16:creationId xmlns:a16="http://schemas.microsoft.com/office/drawing/2014/main" id="{6AD2A901-8854-4482-99BE-1CB21E1B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11683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1</a:t>
            </a: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社では受けきれない案件も、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みんなで受けられる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0" name="利点1">
            <a:extLst xmlns:a="http://schemas.openxmlformats.org/drawingml/2006/main">
              <a:ext uri="{FF2B5EF4-FFF2-40B4-BE49-F238E27FC236}">
                <a16:creationId xmlns:a16="http://schemas.microsoft.com/office/drawing/2014/main" id="{CA2997ED-E240-4BEE-8F8C-5D800AAF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0066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利点1円">
            <a:extLst xmlns:a="http://schemas.openxmlformats.org/drawingml/2006/main">
              <a:ext uri="{FF2B5EF4-FFF2-40B4-BE49-F238E27FC236}">
                <a16:creationId xmlns:a16="http://schemas.microsoft.com/office/drawing/2014/main" id="{32433AA7-60E3-4DC3-8C67-91BE4FF1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2" name="利点1アイコン">
            <a:extLst xmlns:a="http://schemas.openxmlformats.org/drawingml/2006/main">
              <a:ext uri="{FF2B5EF4-FFF2-40B4-BE49-F238E27FC236}">
                <a16:creationId xmlns:a16="http://schemas.microsoft.com/office/drawing/2014/main" id="{06131479-D28D-42BE-B132-669934FB7A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dfd5efcab48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22542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33" name="利点1文">
            <a:extLst xmlns:a="http://schemas.openxmlformats.org/drawingml/2006/main">
              <a:ext uri="{FF2B5EF4-FFF2-40B4-BE49-F238E27FC236}">
                <a16:creationId xmlns:a16="http://schemas.microsoft.com/office/drawing/2014/main" id="{3CCC3399-5BCD-444F-9D33-3166A518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20065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人が足りない案件も、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仲間のエンジニアで埋められる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4" name="利点2">
            <a:extLst xmlns:a="http://schemas.openxmlformats.org/drawingml/2006/main">
              <a:ext uri="{FF2B5EF4-FFF2-40B4-BE49-F238E27FC236}">
                <a16:creationId xmlns:a16="http://schemas.microsoft.com/office/drawing/2014/main" id="{7C424612-047E-4758-84F4-D8C9A795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8448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利点2円">
            <a:extLst xmlns:a="http://schemas.openxmlformats.org/drawingml/2006/main">
              <a:ext uri="{FF2B5EF4-FFF2-40B4-BE49-F238E27FC236}">
                <a16:creationId xmlns:a16="http://schemas.microsoft.com/office/drawing/2014/main" id="{CE62A084-3B28-4777-AB00-E307AC30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6" name="利点2アイコン">
            <a:extLst xmlns:a="http://schemas.openxmlformats.org/drawingml/2006/main">
              <a:ext uri="{FF2B5EF4-FFF2-40B4-BE49-F238E27FC236}">
                <a16:creationId xmlns:a16="http://schemas.microsoft.com/office/drawing/2014/main" id="{B0E042BB-3402-4B2E-ACD9-290F3C6FFC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41383083141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30924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37" name="利点2文">
            <a:extLst xmlns:a="http://schemas.openxmlformats.org/drawingml/2006/main">
              <a:ext uri="{FF2B5EF4-FFF2-40B4-BE49-F238E27FC236}">
                <a16:creationId xmlns:a16="http://schemas.microsoft.com/office/drawing/2014/main" id="{CFF54069-D364-4102-866A-3D952059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28447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決まるほど信頼が増え、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案件が集まってくる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8" name="結束帯">
            <a:extLst xmlns:a="http://schemas.openxmlformats.org/drawingml/2006/main">
              <a:ext uri="{FF2B5EF4-FFF2-40B4-BE49-F238E27FC236}">
                <a16:creationId xmlns:a16="http://schemas.microsoft.com/office/drawing/2014/main" id="{BA11D3BE-C16E-4591-AB35-3976276A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7000"/>
            <a:ext cx="8229600" cy="584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ひとりで待つより、みんなで取りにいく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0" name="GPの人材イラスト・頭1">
            <a:extLst xmlns:a="http://schemas.openxmlformats.org/drawingml/2006/main">
              <a:ext uri="{FF2B5EF4-FFF2-40B4-BE49-F238E27FC236}">
                <a16:creationId xmlns:a16="http://schemas.microsoft.com/office/drawing/2014/main" id="{9A20FE57-A8FB-4293-9E89-0BEC8267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571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GPの人材イラスト・髪1">
            <a:extLst xmlns:a="http://schemas.openxmlformats.org/drawingml/2006/main">
              <a:ext uri="{FF2B5EF4-FFF2-40B4-BE49-F238E27FC236}">
                <a16:creationId xmlns:a16="http://schemas.microsoft.com/office/drawing/2014/main" id="{66555FC6-7616-4A19-9F17-78958A85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2543175"/>
            <a:ext cx="276225" cy="1333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GPの人材イラスト・胴1">
            <a:extLst xmlns:a="http://schemas.openxmlformats.org/drawingml/2006/main">
              <a:ext uri="{FF2B5EF4-FFF2-40B4-BE49-F238E27FC236}">
                <a16:creationId xmlns:a16="http://schemas.microsoft.com/office/drawing/2014/main" id="{D17BA587-0F04-45CE-AA50-7B2CAFA0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2828925"/>
            <a:ext cx="352425" cy="37147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GPの人材イラスト・頭2">
            <a:extLst xmlns:a="http://schemas.openxmlformats.org/drawingml/2006/main">
              <a:ext uri="{FF2B5EF4-FFF2-40B4-BE49-F238E27FC236}">
                <a16:creationId xmlns:a16="http://schemas.microsoft.com/office/drawing/2014/main" id="{6F5DE8AD-1B24-4435-88F1-7E66DBC0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25146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Pの人材イラスト・髪2">
            <a:extLst xmlns:a="http://schemas.openxmlformats.org/drawingml/2006/main">
              <a:ext uri="{FF2B5EF4-FFF2-40B4-BE49-F238E27FC236}">
                <a16:creationId xmlns:a16="http://schemas.microsoft.com/office/drawing/2014/main" id="{4E7935C0-E294-4669-861B-A863D59E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2486025"/>
            <a:ext cx="276225" cy="1333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Pの人材イラスト・胴2">
            <a:extLst xmlns:a="http://schemas.openxmlformats.org/drawingml/2006/main">
              <a:ext uri="{FF2B5EF4-FFF2-40B4-BE49-F238E27FC236}">
                <a16:creationId xmlns:a16="http://schemas.microsoft.com/office/drawing/2014/main" id="{E9836373-BA81-4B54-A650-8545F79E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2771775"/>
            <a:ext cx="352425" cy="37147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Pの人材イラスト・頭3">
            <a:extLst xmlns:a="http://schemas.openxmlformats.org/drawingml/2006/main">
              <a:ext uri="{FF2B5EF4-FFF2-40B4-BE49-F238E27FC236}">
                <a16:creationId xmlns:a16="http://schemas.microsoft.com/office/drawing/2014/main" id="{349188E5-8C93-4C98-B933-6E7EFF3F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25717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Pの人材イラスト・髪3">
            <a:extLst xmlns:a="http://schemas.openxmlformats.org/drawingml/2006/main">
              <a:ext uri="{FF2B5EF4-FFF2-40B4-BE49-F238E27FC236}">
                <a16:creationId xmlns:a16="http://schemas.microsoft.com/office/drawing/2014/main" id="{A1A5B0EF-5EA4-402A-83F3-D6982B49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2543175"/>
            <a:ext cx="276225" cy="1333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Pの人材イラスト・胴3">
            <a:extLst xmlns:a="http://schemas.openxmlformats.org/drawingml/2006/main">
              <a:ext uri="{FF2B5EF4-FFF2-40B4-BE49-F238E27FC236}">
                <a16:creationId xmlns:a16="http://schemas.microsoft.com/office/drawing/2014/main" id="{04EE8568-7529-4052-B824-C02B8F64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828925"/>
            <a:ext cx="352425" cy="37147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634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heading-4">
            <a:extLst xmlns:a="http://schemas.openxmlformats.org/drawingml/2006/main">
              <a:ext uri="{FF2B5EF4-FFF2-40B4-BE49-F238E27FC236}">
                <a16:creationId xmlns:a16="http://schemas.microsoft.com/office/drawing/2014/main" id="{6CD4B5DE-8F06-4C6D-B878-2C7DD306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57175"/>
            <a:ext cx="8229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届いた案件を、合うエンジニアへすばやく届ける</a:t>
            </a:r>
          </a:p>
        </p:txBody>
      </p:sp>
      <p:sp>
        <p:nvSpPr>
          <p:cNvPr id="2" name="subheading-4">
            <a:extLst xmlns:a="http://schemas.openxmlformats.org/drawingml/2006/main">
              <a:ext uri="{FF2B5EF4-FFF2-40B4-BE49-F238E27FC236}">
                <a16:creationId xmlns:a16="http://schemas.microsoft.com/office/drawing/2014/main" id="{992055B7-29F6-468E-81E1-BD8B764A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923925"/>
            <a:ext cx="822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条件を整理し、グループ全体から候補を選んでみなさまと本人へ共有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049ECA1C-CAA1-4F9B-984F-99F8CCFB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819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4E2C4495-57FC-4EAF-9B72-5C80BCE2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4819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案件フロー1背景">
            <a:extLst xmlns:a="http://schemas.openxmlformats.org/drawingml/2006/main">
              <a:ext uri="{FF2B5EF4-FFF2-40B4-BE49-F238E27FC236}">
                <a16:creationId xmlns:a16="http://schemas.microsoft.com/office/drawing/2014/main" id="{C9B03D96-8CDD-42BE-B0D6-CF2F04D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533525"/>
            <a:ext cx="1581150" cy="176212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6" name="案件フロー・案件票">
            <a:extLst xmlns:a="http://schemas.openxmlformats.org/drawingml/2006/main">
              <a:ext uri="{FF2B5EF4-FFF2-40B4-BE49-F238E27FC236}">
                <a16:creationId xmlns:a16="http://schemas.microsoft.com/office/drawing/2014/main" id="{E0B0958C-761A-4851-8B45-711DA84B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1714500"/>
            <a:ext cx="609600" cy="6286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8DE"/>
            </a:solidFill>
            <a:prstDash val="solid"/>
          </a:ln>
        </p:spPr>
      </p:sp>
      <p:sp>
        <p:nvSpPr>
          <p:cNvPr id="7" name="案件フロー・案件票行1">
            <a:extLst xmlns:a="http://schemas.openxmlformats.org/drawingml/2006/main">
              <a:ext uri="{FF2B5EF4-FFF2-40B4-BE49-F238E27FC236}">
                <a16:creationId xmlns:a16="http://schemas.microsoft.com/office/drawing/2014/main" id="{B650535F-BFC5-47EF-BB10-9D661BDF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1847850"/>
            <a:ext cx="3905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案件フロー・案件票行2">
            <a:extLst xmlns:a="http://schemas.openxmlformats.org/drawingml/2006/main">
              <a:ext uri="{FF2B5EF4-FFF2-40B4-BE49-F238E27FC236}">
                <a16:creationId xmlns:a16="http://schemas.microsoft.com/office/drawing/2014/main" id="{DA62DC08-2934-4F2D-AD1E-2FD9F427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1981200"/>
            <a:ext cx="3905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案件フロー・案件票行3">
            <a:extLst xmlns:a="http://schemas.openxmlformats.org/drawingml/2006/main">
              <a:ext uri="{FF2B5EF4-FFF2-40B4-BE49-F238E27FC236}">
                <a16:creationId xmlns:a16="http://schemas.microsoft.com/office/drawing/2014/main" id="{A8B63604-0C99-437C-99E6-AEF505BA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114550"/>
            <a:ext cx="2952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案件フロー1見出し">
            <a:extLst xmlns:a="http://schemas.openxmlformats.org/drawingml/2006/main">
              <a:ext uri="{FF2B5EF4-FFF2-40B4-BE49-F238E27FC236}">
                <a16:creationId xmlns:a16="http://schemas.microsoft.com/office/drawing/2014/main" id="{D5041377-084C-4626-9DB4-4CA4B247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524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案件が届く</a:t>
            </a:r>
          </a:p>
        </p:txBody>
      </p:sp>
      <p:sp>
        <p:nvSpPr>
          <p:cNvPr id="11" name="案件フロー1説明">
            <a:extLst xmlns:a="http://schemas.openxmlformats.org/drawingml/2006/main">
              <a:ext uri="{FF2B5EF4-FFF2-40B4-BE49-F238E27FC236}">
                <a16:creationId xmlns:a16="http://schemas.microsoft.com/office/drawing/2014/main" id="{CC6FE51C-034B-4FFD-9AC7-FD5434F6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857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内容・必須条件を確認</a:t>
            </a:r>
          </a:p>
        </p:txBody>
      </p:sp>
      <p:sp>
        <p:nvSpPr>
          <p:cNvPr id="12" name="案件フロー矢印1">
            <a:extLst xmlns:a="http://schemas.openxmlformats.org/drawingml/2006/main">
              <a:ext uri="{FF2B5EF4-FFF2-40B4-BE49-F238E27FC236}">
                <a16:creationId xmlns:a16="http://schemas.microsoft.com/office/drawing/2014/main" id="{FFB1FBBB-457A-4A97-B70D-8E4873AA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2190750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案件フロー2背景">
            <a:extLst xmlns:a="http://schemas.openxmlformats.org/drawingml/2006/main">
              <a:ext uri="{FF2B5EF4-FFF2-40B4-BE49-F238E27FC236}">
                <a16:creationId xmlns:a16="http://schemas.microsoft.com/office/drawing/2014/main" id="{DB24E85B-49B3-46CA-A657-8AE4C813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1533525"/>
            <a:ext cx="1581150" cy="176212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14" name="案件フロー・検索円">
            <a:extLst xmlns:a="http://schemas.openxmlformats.org/drawingml/2006/main">
              <a:ext uri="{FF2B5EF4-FFF2-40B4-BE49-F238E27FC236}">
                <a16:creationId xmlns:a16="http://schemas.microsoft.com/office/drawing/2014/main" id="{CE77B8F2-BB1E-4766-A583-19DEA0E4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1752600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A7FB5"/>
            </a:solidFill>
            <a:prstDash val="solid"/>
          </a:ln>
        </p:spPr>
      </p:sp>
      <p:sp>
        <p:nvSpPr>
          <p:cNvPr id="15" name="案件フロー・検索穴">
            <a:extLst xmlns:a="http://schemas.openxmlformats.org/drawingml/2006/main">
              <a:ext uri="{FF2B5EF4-FFF2-40B4-BE49-F238E27FC236}">
                <a16:creationId xmlns:a16="http://schemas.microsoft.com/office/drawing/2014/main" id="{6B1F5F3E-EE72-45EA-8747-DF88E783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1876425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案件フロー・検索柄">
            <a:extLst xmlns:a="http://schemas.openxmlformats.org/drawingml/2006/main">
              <a:ext uri="{FF2B5EF4-FFF2-40B4-BE49-F238E27FC236}">
                <a16:creationId xmlns:a16="http://schemas.microsoft.com/office/drawing/2014/main" id="{FCCA9CB5-30FA-444B-A3F1-874A2F94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152775" y="2114550"/>
            <a:ext cx="2095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案件フロー2見出し">
            <a:extLst xmlns:a="http://schemas.openxmlformats.org/drawingml/2006/main">
              <a:ext uri="{FF2B5EF4-FFF2-40B4-BE49-F238E27FC236}">
                <a16:creationId xmlns:a16="http://schemas.microsoft.com/office/drawing/2014/main" id="{3FF4C2A1-A485-44FD-BD21-C6046C70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575" y="2524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候補を選ぶ</a:t>
            </a:r>
          </a:p>
        </p:txBody>
      </p:sp>
      <p:sp>
        <p:nvSpPr>
          <p:cNvPr id="18" name="案件フロー2説明">
            <a:extLst xmlns:a="http://schemas.openxmlformats.org/drawingml/2006/main">
              <a:ext uri="{FF2B5EF4-FFF2-40B4-BE49-F238E27FC236}">
                <a16:creationId xmlns:a16="http://schemas.microsoft.com/office/drawing/2014/main" id="{FA4742C5-D07E-4CB5-842B-91B9597B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575" y="2857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スキルと希望を照合</a:t>
            </a:r>
          </a:p>
        </p:txBody>
      </p:sp>
      <p:sp>
        <p:nvSpPr>
          <p:cNvPr id="19" name="案件フロー矢印2">
            <a:extLst xmlns:a="http://schemas.openxmlformats.org/drawingml/2006/main">
              <a:ext uri="{FF2B5EF4-FFF2-40B4-BE49-F238E27FC236}">
                <a16:creationId xmlns:a16="http://schemas.microsoft.com/office/drawing/2014/main" id="{4A78302A-9FFA-4F87-9549-ACA7C2CC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2190750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案件フロー3背景">
            <a:extLst xmlns:a="http://schemas.openxmlformats.org/drawingml/2006/main">
              <a:ext uri="{FF2B5EF4-FFF2-40B4-BE49-F238E27FC236}">
                <a16:creationId xmlns:a16="http://schemas.microsoft.com/office/drawing/2014/main" id="{C34EE3BF-27B8-48F1-8D63-2D750B31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1533525"/>
            <a:ext cx="1581150" cy="176212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21" name="案件フロー・人物頭">
            <a:extLst xmlns:a="http://schemas.openxmlformats.org/drawingml/2006/main">
              <a:ext uri="{FF2B5EF4-FFF2-40B4-BE49-F238E27FC236}">
                <a16:creationId xmlns:a16="http://schemas.microsoft.com/office/drawing/2014/main" id="{815345EB-FC9B-446C-B56C-3770036E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17335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案件フロー・人物髪">
            <a:extLst xmlns:a="http://schemas.openxmlformats.org/drawingml/2006/main">
              <a:ext uri="{FF2B5EF4-FFF2-40B4-BE49-F238E27FC236}">
                <a16:creationId xmlns:a16="http://schemas.microsoft.com/office/drawing/2014/main" id="{E8E5D0C1-4620-45BD-91DA-7334780A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714500"/>
            <a:ext cx="276225" cy="142875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案件フロー・人物胴">
            <a:extLst xmlns:a="http://schemas.openxmlformats.org/drawingml/2006/main">
              <a:ext uri="{FF2B5EF4-FFF2-40B4-BE49-F238E27FC236}">
                <a16:creationId xmlns:a16="http://schemas.microsoft.com/office/drawing/2014/main" id="{E3B31B26-EFF7-49BC-AE0A-C70606DE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575" y="2009775"/>
            <a:ext cx="419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案件フロー・通知札">
            <a:extLst xmlns:a="http://schemas.openxmlformats.org/drawingml/2006/main">
              <a:ext uri="{FF2B5EF4-FFF2-40B4-BE49-F238E27FC236}">
                <a16:creationId xmlns:a16="http://schemas.microsoft.com/office/drawing/2014/main" id="{5C9E75DC-CE02-4AAE-883A-FE379BDB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1800225"/>
            <a:ext cx="400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8DE"/>
            </a:solidFill>
            <a:prstDash val="solid"/>
          </a:ln>
        </p:spPr>
      </p:sp>
      <p:sp>
        <p:nvSpPr>
          <p:cNvPr id="25" name="案件フロー・通知文字">
            <a:extLst xmlns:a="http://schemas.openxmlformats.org/drawingml/2006/main">
              <a:ext uri="{FF2B5EF4-FFF2-40B4-BE49-F238E27FC236}">
                <a16:creationId xmlns:a16="http://schemas.microsoft.com/office/drawing/2014/main" id="{39D5442C-C597-4BD5-A116-F59217EB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1895475"/>
            <a:ext cx="2476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案件フロー3見出し">
            <a:extLst xmlns:a="http://schemas.openxmlformats.org/drawingml/2006/main">
              <a:ext uri="{FF2B5EF4-FFF2-40B4-BE49-F238E27FC236}">
                <a16:creationId xmlns:a16="http://schemas.microsoft.com/office/drawing/2014/main" id="{B2DF5F54-0D23-4378-9429-B4DEF7AC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524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みなさまへ共有</a:t>
            </a:r>
          </a:p>
        </p:txBody>
      </p:sp>
      <p:sp>
        <p:nvSpPr>
          <p:cNvPr id="27" name="案件フロー3説明">
            <a:extLst xmlns:a="http://schemas.openxmlformats.org/drawingml/2006/main">
              <a:ext uri="{FF2B5EF4-FFF2-40B4-BE49-F238E27FC236}">
                <a16:creationId xmlns:a16="http://schemas.microsoft.com/office/drawing/2014/main" id="{6F7830FA-C48A-4A88-B38A-3E6D9911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857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候補者に応募を案内</a:t>
            </a:r>
          </a:p>
        </p:txBody>
      </p:sp>
      <p:sp>
        <p:nvSpPr>
          <p:cNvPr id="28" name="マッチング・背景">
            <a:extLst xmlns:a="http://schemas.openxmlformats.org/drawingml/2006/main">
              <a:ext uri="{FF2B5EF4-FFF2-40B4-BE49-F238E27FC236}">
                <a16:creationId xmlns:a16="http://schemas.microsoft.com/office/drawing/2014/main" id="{4537B631-CC1E-4168-A118-B12FE41D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1438275"/>
            <a:ext cx="2657475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29" name="マッチング・モニター">
            <a:extLst xmlns:a="http://schemas.openxmlformats.org/drawingml/2006/main">
              <a:ext uri="{FF2B5EF4-FFF2-40B4-BE49-F238E27FC236}">
                <a16:creationId xmlns:a16="http://schemas.microsoft.com/office/drawing/2014/main" id="{256E9368-2E2E-48BA-97D1-A855D3BB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1685925"/>
            <a:ext cx="174307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マッチング・画面">
            <a:extLst xmlns:a="http://schemas.openxmlformats.org/drawingml/2006/main">
              <a:ext uri="{FF2B5EF4-FFF2-40B4-BE49-F238E27FC236}">
                <a16:creationId xmlns:a16="http://schemas.microsoft.com/office/drawing/2014/main" id="{5CDB7DE2-5321-43B1-9041-A0EC661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1771650"/>
            <a:ext cx="1571625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マッチング・画面見出し">
            <a:extLst xmlns:a="http://schemas.openxmlformats.org/drawingml/2006/main">
              <a:ext uri="{FF2B5EF4-FFF2-40B4-BE49-F238E27FC236}">
                <a16:creationId xmlns:a16="http://schemas.microsoft.com/office/drawing/2014/main" id="{957ACE3F-897F-4D89-8D5B-1F7302A7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18288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候補者リスト</a:t>
            </a:r>
          </a:p>
        </p:txBody>
      </p:sp>
      <p:sp>
        <p:nvSpPr>
          <p:cNvPr id="32" name="マッチング・候補1">
            <a:extLst xmlns:a="http://schemas.openxmlformats.org/drawingml/2006/main">
              <a:ext uri="{FF2B5EF4-FFF2-40B4-BE49-F238E27FC236}">
                <a16:creationId xmlns:a16="http://schemas.microsoft.com/office/drawing/2014/main" id="{ECE3E21E-818E-45B5-9C1D-69C68C1C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2095500"/>
            <a:ext cx="13239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マッチング・チェック1">
            <a:extLst xmlns:a="http://schemas.openxmlformats.org/drawingml/2006/main">
              <a:ext uri="{FF2B5EF4-FFF2-40B4-BE49-F238E27FC236}">
                <a16:creationId xmlns:a16="http://schemas.microsoft.com/office/drawing/2014/main" id="{7FD5EA39-9C37-4050-952A-9C72D6D0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3225" y="2124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マッチング・候補テキスト1">
            <a:extLst xmlns:a="http://schemas.openxmlformats.org/drawingml/2006/main">
              <a:ext uri="{FF2B5EF4-FFF2-40B4-BE49-F238E27FC236}">
                <a16:creationId xmlns:a16="http://schemas.microsoft.com/office/drawing/2014/main" id="{1512DF84-C6D6-4968-87F8-51154BCC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2143125"/>
            <a:ext cx="6381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マッチング・候補2">
            <a:extLst xmlns:a="http://schemas.openxmlformats.org/drawingml/2006/main">
              <a:ext uri="{FF2B5EF4-FFF2-40B4-BE49-F238E27FC236}">
                <a16:creationId xmlns:a16="http://schemas.microsoft.com/office/drawing/2014/main" id="{0A218729-94BB-4902-83D0-7E58B763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2286000"/>
            <a:ext cx="13239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マッチング・チェック2">
            <a:extLst xmlns:a="http://schemas.openxmlformats.org/drawingml/2006/main">
              <a:ext uri="{FF2B5EF4-FFF2-40B4-BE49-F238E27FC236}">
                <a16:creationId xmlns:a16="http://schemas.microsoft.com/office/drawing/2014/main" id="{9B6BEF3C-C041-441F-9CFF-7E6C0224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3225" y="2314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マッチング・候補テキスト2">
            <a:extLst xmlns:a="http://schemas.openxmlformats.org/drawingml/2006/main">
              <a:ext uri="{FF2B5EF4-FFF2-40B4-BE49-F238E27FC236}">
                <a16:creationId xmlns:a16="http://schemas.microsoft.com/office/drawing/2014/main" id="{861EB132-C111-455E-803E-F8ACECB4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2333625"/>
            <a:ext cx="6381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マッチング・候補3">
            <a:extLst xmlns:a="http://schemas.openxmlformats.org/drawingml/2006/main">
              <a:ext uri="{FF2B5EF4-FFF2-40B4-BE49-F238E27FC236}">
                <a16:creationId xmlns:a16="http://schemas.microsoft.com/office/drawing/2014/main" id="{C9A1C712-7FB9-4EA6-841F-67F23721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2476500"/>
            <a:ext cx="13239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マッチング・チェック3">
            <a:extLst xmlns:a="http://schemas.openxmlformats.org/drawingml/2006/main">
              <a:ext uri="{FF2B5EF4-FFF2-40B4-BE49-F238E27FC236}">
                <a16:creationId xmlns:a16="http://schemas.microsoft.com/office/drawing/2014/main" id="{752DB7FD-101B-4D5A-BE9A-4ADB2D3E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3225" y="2505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マッチング・候補テキスト3">
            <a:extLst xmlns:a="http://schemas.openxmlformats.org/drawingml/2006/main">
              <a:ext uri="{FF2B5EF4-FFF2-40B4-BE49-F238E27FC236}">
                <a16:creationId xmlns:a16="http://schemas.microsoft.com/office/drawing/2014/main" id="{6891C89A-9362-489D-ABB8-04BB667A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2524125"/>
            <a:ext cx="6381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マッチング・モニター台">
            <a:extLst xmlns:a="http://schemas.openxmlformats.org/drawingml/2006/main">
              <a:ext uri="{FF2B5EF4-FFF2-40B4-BE49-F238E27FC236}">
                <a16:creationId xmlns:a16="http://schemas.microsoft.com/office/drawing/2014/main" id="{DB201862-8EEB-4213-B8EE-92AB7EBB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81940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マッチング・モニター脚">
            <a:extLst xmlns:a="http://schemas.openxmlformats.org/drawingml/2006/main">
              <a:ext uri="{FF2B5EF4-FFF2-40B4-BE49-F238E27FC236}">
                <a16:creationId xmlns:a16="http://schemas.microsoft.com/office/drawing/2014/main" id="{0A9E31E3-4BB7-4B28-8182-FB2AFCBF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3000375"/>
            <a:ext cx="781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マッチング・利用者・頭">
            <a:extLst xmlns:a="http://schemas.openxmlformats.org/drawingml/2006/main">
              <a:ext uri="{FF2B5EF4-FFF2-40B4-BE49-F238E27FC236}">
                <a16:creationId xmlns:a16="http://schemas.microsoft.com/office/drawing/2014/main" id="{559DAF22-3BD2-4E80-BD79-E756A6A1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6708" y="2724150"/>
            <a:ext cx="210502" cy="2105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マッチング・利用者・髪">
            <a:extLst xmlns:a="http://schemas.openxmlformats.org/drawingml/2006/main">
              <a:ext uri="{FF2B5EF4-FFF2-40B4-BE49-F238E27FC236}">
                <a16:creationId xmlns:a16="http://schemas.microsoft.com/office/drawing/2014/main" id="{28E3FDCB-5701-4478-BD31-1E8D5BD9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0515" y="2699861"/>
            <a:ext cx="242888" cy="121444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マッチング・利用者・胴">
            <a:extLst xmlns:a="http://schemas.openxmlformats.org/drawingml/2006/main">
              <a:ext uri="{FF2B5EF4-FFF2-40B4-BE49-F238E27FC236}">
                <a16:creationId xmlns:a16="http://schemas.microsoft.com/office/drawing/2014/main" id="{004DD3D9-0A7C-4ED4-A9CB-17E0F5E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3841" y="2967038"/>
            <a:ext cx="356235" cy="437198"/>
          </a:xfrm>
          <a:prstGeom xmlns:a="http://schemas.openxmlformats.org/drawingml/2006/main" prst="roundRect">
            <a:avLst>
              <a:gd name="adj" fmla="val 21390"/>
            </a:avLst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マッチング・利用者・脚1">
            <a:extLst xmlns:a="http://schemas.openxmlformats.org/drawingml/2006/main">
              <a:ext uri="{FF2B5EF4-FFF2-40B4-BE49-F238E27FC236}">
                <a16:creationId xmlns:a16="http://schemas.microsoft.com/office/drawing/2014/main" id="{2DAA95CE-1A7B-4919-841A-A29BFD83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6226" y="3363754"/>
            <a:ext cx="105251" cy="259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マッチング・利用者・脚2">
            <a:extLst xmlns:a="http://schemas.openxmlformats.org/drawingml/2006/main">
              <a:ext uri="{FF2B5EF4-FFF2-40B4-BE49-F238E27FC236}">
                <a16:creationId xmlns:a16="http://schemas.microsoft.com/office/drawing/2014/main" id="{22BC81BA-F7DA-4B4C-AF91-AE5743AF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2440" y="3363754"/>
            <a:ext cx="105251" cy="259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マッチング・まとめ帯">
            <a:extLst xmlns:a="http://schemas.openxmlformats.org/drawingml/2006/main">
              <a:ext uri="{FF2B5EF4-FFF2-40B4-BE49-F238E27FC236}">
                <a16:creationId xmlns:a16="http://schemas.microsoft.com/office/drawing/2014/main" id="{AC53024C-0F70-49B1-836E-D0334DF8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000500"/>
            <a:ext cx="8229600" cy="5238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マッチング・まとめ">
            <a:extLst xmlns:a="http://schemas.openxmlformats.org/drawingml/2006/main">
              <a:ext uri="{FF2B5EF4-FFF2-40B4-BE49-F238E27FC236}">
                <a16:creationId xmlns:a16="http://schemas.microsoft.com/office/drawing/2014/main" id="{61053CA2-A73E-4015-99ED-26F28C46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4057650"/>
            <a:ext cx="7886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条件に合う候補を、みなさまとエンジニアへ迅速に共有</a:t>
            </a:r>
          </a:p>
        </p:txBody>
      </p:sp>
    </p:spTree>
    <p:extLst>
      <p:ext uri="{BB962C8B-B14F-4D97-AF65-F5344CB8AC3E}">
        <p14:creationId xmlns:p14="http://schemas.microsoft.com/office/powerpoint/2010/main" val="538056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ing-5">
            <a:extLst xmlns:a="http://schemas.openxmlformats.org/drawingml/2006/main">
              <a:ext uri="{FF2B5EF4-FFF2-40B4-BE49-F238E27FC236}">
                <a16:creationId xmlns:a16="http://schemas.microsoft.com/office/drawing/2014/main" id="{D922E320-4CE7-40C7-9F59-D0BDC0A2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57175"/>
            <a:ext cx="8229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職務経歴と面談準備を整え、成約率向上をめざす</a:t>
            </a:r>
          </a:p>
        </p:txBody>
      </p:sp>
      <p:sp>
        <p:nvSpPr>
          <p:cNvPr id="2" name="subheading-5">
            <a:extLst xmlns:a="http://schemas.openxmlformats.org/drawingml/2006/main">
              <a:ext uri="{FF2B5EF4-FFF2-40B4-BE49-F238E27FC236}">
                <a16:creationId xmlns:a16="http://schemas.microsoft.com/office/drawing/2014/main" id="{4BF15C8D-9BD5-4C58-9D1F-1DD98853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923925"/>
            <a:ext cx="822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事実に基づき案件ごとに伝え方を整え、結果を次の提案へ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0D69A03E-2FD3-4F8B-A598-14F850AF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819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2026D63A-77AF-4FA9-BA51-0372187E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4819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5" name="準備イラスト・背景">
            <a:extLst xmlns:a="http://schemas.openxmlformats.org/drawingml/2006/main">
              <a:ext uri="{FF2B5EF4-FFF2-40B4-BE49-F238E27FC236}">
                <a16:creationId xmlns:a16="http://schemas.microsoft.com/office/drawing/2014/main" id="{BBBC2F47-3D25-4483-98BC-6FB917CB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438275"/>
            <a:ext cx="31623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6" name="準備イラスト・椅子">
            <a:extLst xmlns:a="http://schemas.openxmlformats.org/drawingml/2006/main">
              <a:ext uri="{FF2B5EF4-FFF2-40B4-BE49-F238E27FC236}">
                <a16:creationId xmlns:a16="http://schemas.microsoft.com/office/drawing/2014/main" id="{96E2CCCF-92F0-4266-A10C-0B7653AD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867025"/>
            <a:ext cx="514350" cy="73342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準備イラスト・人物頭">
            <a:extLst xmlns:a="http://schemas.openxmlformats.org/drawingml/2006/main">
              <a:ext uri="{FF2B5EF4-FFF2-40B4-BE49-F238E27FC236}">
                <a16:creationId xmlns:a16="http://schemas.microsoft.com/office/drawing/2014/main" id="{0A9F7B59-4A8D-4122-A62A-EDE04F33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1933575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準備イラスト・人物髪">
            <a:extLst xmlns:a="http://schemas.openxmlformats.org/drawingml/2006/main">
              <a:ext uri="{FF2B5EF4-FFF2-40B4-BE49-F238E27FC236}">
                <a16:creationId xmlns:a16="http://schemas.microsoft.com/office/drawing/2014/main" id="{C74363BC-2FA8-45D5-96FF-73ECCF87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1895475"/>
            <a:ext cx="428625" cy="219075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準備イラスト・人物胴">
            <a:extLst xmlns:a="http://schemas.openxmlformats.org/drawingml/2006/main">
              <a:ext uri="{FF2B5EF4-FFF2-40B4-BE49-F238E27FC236}">
                <a16:creationId xmlns:a16="http://schemas.microsoft.com/office/drawing/2014/main" id="{F7CB7B77-1058-4E3D-8654-73C38446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2333625"/>
            <a:ext cx="7143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準備イラスト・人物脚1">
            <a:extLst xmlns:a="http://schemas.openxmlformats.org/drawingml/2006/main">
              <a:ext uri="{FF2B5EF4-FFF2-40B4-BE49-F238E27FC236}">
                <a16:creationId xmlns:a16="http://schemas.microsoft.com/office/drawing/2014/main" id="{4ECE48F3-21D3-4D95-99BD-DE9D6F96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943225"/>
            <a:ext cx="209550" cy="466725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準備イラスト・人物脚2">
            <a:extLst xmlns:a="http://schemas.openxmlformats.org/drawingml/2006/main">
              <a:ext uri="{FF2B5EF4-FFF2-40B4-BE49-F238E27FC236}">
                <a16:creationId xmlns:a16="http://schemas.microsoft.com/office/drawing/2014/main" id="{605E015B-D18E-41D5-BE72-5A3A289B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943225"/>
            <a:ext cx="209550" cy="466725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準備イラスト・机">
            <a:extLst xmlns:a="http://schemas.openxmlformats.org/drawingml/2006/main">
              <a:ext uri="{FF2B5EF4-FFF2-40B4-BE49-F238E27FC236}">
                <a16:creationId xmlns:a16="http://schemas.microsoft.com/office/drawing/2014/main" id="{4CC5DF8C-C4F9-414E-A0B2-61E5E8B2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3486150"/>
            <a:ext cx="2476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準備イラスト・机脚1">
            <a:extLst xmlns:a="http://schemas.openxmlformats.org/drawingml/2006/main">
              <a:ext uri="{FF2B5EF4-FFF2-40B4-BE49-F238E27FC236}">
                <a16:creationId xmlns:a16="http://schemas.microsoft.com/office/drawing/2014/main" id="{E99B184A-53C4-4FC4-93E9-D9016FF0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3590925"/>
            <a:ext cx="76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準備イラスト・机脚2">
            <a:extLst xmlns:a="http://schemas.openxmlformats.org/drawingml/2006/main">
              <a:ext uri="{FF2B5EF4-FFF2-40B4-BE49-F238E27FC236}">
                <a16:creationId xmlns:a16="http://schemas.microsoft.com/office/drawing/2014/main" id="{CCC494CA-CC84-47A9-9608-131494D0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3590925"/>
            <a:ext cx="76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準備イラスト・PC画面">
            <a:extLst xmlns:a="http://schemas.openxmlformats.org/drawingml/2006/main">
              <a:ext uri="{FF2B5EF4-FFF2-40B4-BE49-F238E27FC236}">
                <a16:creationId xmlns:a16="http://schemas.microsoft.com/office/drawing/2014/main" id="{737E32AF-CCF9-478E-9CF4-1A62C577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2638425"/>
            <a:ext cx="9239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準備イラスト・PC内">
            <a:extLst xmlns:a="http://schemas.openxmlformats.org/drawingml/2006/main">
              <a:ext uri="{FF2B5EF4-FFF2-40B4-BE49-F238E27FC236}">
                <a16:creationId xmlns:a16="http://schemas.microsoft.com/office/drawing/2014/main" id="{13C2D06C-9115-4AB5-84B3-85634DFE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714625"/>
            <a:ext cx="7715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準備イラスト・PC台">
            <a:extLst xmlns:a="http://schemas.openxmlformats.org/drawingml/2006/main">
              <a:ext uri="{FF2B5EF4-FFF2-40B4-BE49-F238E27FC236}">
                <a16:creationId xmlns:a16="http://schemas.microsoft.com/office/drawing/2014/main" id="{3F986EED-9619-42EC-85CE-C1277BA1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3362325"/>
            <a:ext cx="1066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準備イラスト・腕">
            <a:extLst xmlns:a="http://schemas.openxmlformats.org/drawingml/2006/main">
              <a:ext uri="{FF2B5EF4-FFF2-40B4-BE49-F238E27FC236}">
                <a16:creationId xmlns:a16="http://schemas.microsoft.com/office/drawing/2014/main" id="{077ECF7C-2475-44D7-9BF5-41F530B7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2505075"/>
            <a:ext cx="4381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準備イラスト・経歴書">
            <a:extLst xmlns:a="http://schemas.openxmlformats.org/drawingml/2006/main">
              <a:ext uri="{FF2B5EF4-FFF2-40B4-BE49-F238E27FC236}">
                <a16:creationId xmlns:a16="http://schemas.microsoft.com/office/drawing/2014/main" id="{4701A4F7-8245-4980-B14E-B0EEF81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590675"/>
            <a:ext cx="10096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8DE"/>
            </a:solidFill>
            <a:prstDash val="solid"/>
          </a:ln>
        </p:spPr>
      </p:sp>
      <p:sp>
        <p:nvSpPr>
          <p:cNvPr id="20" name="準備イラスト・経歴書タイトル">
            <a:extLst xmlns:a="http://schemas.openxmlformats.org/drawingml/2006/main">
              <a:ext uri="{FF2B5EF4-FFF2-40B4-BE49-F238E27FC236}">
                <a16:creationId xmlns:a16="http://schemas.microsoft.com/office/drawing/2014/main" id="{232CDFE8-0385-4687-AE6D-281EB304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1647825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7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スキルシート</a:t>
            </a:r>
          </a:p>
        </p:txBody>
      </p:sp>
      <p:sp>
        <p:nvSpPr>
          <p:cNvPr id="21" name="準備イラスト・経歴書行1">
            <a:extLst xmlns:a="http://schemas.openxmlformats.org/drawingml/2006/main">
              <a:ext uri="{FF2B5EF4-FFF2-40B4-BE49-F238E27FC236}">
                <a16:creationId xmlns:a16="http://schemas.microsoft.com/office/drawing/2014/main" id="{CEF0735C-E7DF-4954-B37C-BB035BF5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76425"/>
            <a:ext cx="7524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準備イラスト・経歴書行2">
            <a:extLst xmlns:a="http://schemas.openxmlformats.org/drawingml/2006/main">
              <a:ext uri="{FF2B5EF4-FFF2-40B4-BE49-F238E27FC236}">
                <a16:creationId xmlns:a16="http://schemas.microsoft.com/office/drawing/2014/main" id="{28536208-A7D5-400A-BFA6-5AA16CE7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981200"/>
            <a:ext cx="7524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準備イラスト・経歴書行3">
            <a:extLst xmlns:a="http://schemas.openxmlformats.org/drawingml/2006/main">
              <a:ext uri="{FF2B5EF4-FFF2-40B4-BE49-F238E27FC236}">
                <a16:creationId xmlns:a16="http://schemas.microsoft.com/office/drawing/2014/main" id="{1444F509-1D40-469C-A09C-2E10C0D2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085975"/>
            <a:ext cx="7524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準備イラスト・質問カード">
            <a:extLst xmlns:a="http://schemas.openxmlformats.org/drawingml/2006/main">
              <a:ext uri="{FF2B5EF4-FFF2-40B4-BE49-F238E27FC236}">
                <a16:creationId xmlns:a16="http://schemas.microsoft.com/office/drawing/2014/main" id="{7027BE86-63C2-4516-84D5-6FD362C1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1581150"/>
            <a:ext cx="10096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8DE"/>
            </a:solidFill>
            <a:prstDash val="solid"/>
          </a:ln>
        </p:spPr>
      </p:sp>
      <p:sp>
        <p:nvSpPr>
          <p:cNvPr id="25" name="準備イラスト・質問見出し">
            <a:extLst xmlns:a="http://schemas.openxmlformats.org/drawingml/2006/main">
              <a:ext uri="{FF2B5EF4-FFF2-40B4-BE49-F238E27FC236}">
                <a16:creationId xmlns:a16="http://schemas.microsoft.com/office/drawing/2014/main" id="{F5E879F8-91A6-41AA-A241-11E2B255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7925" y="162877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7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面談Q&amp;A</a:t>
            </a:r>
          </a:p>
        </p:txBody>
      </p:sp>
      <p:sp>
        <p:nvSpPr>
          <p:cNvPr id="26" name="準備イラスト・質問文">
            <a:extLst xmlns:a="http://schemas.openxmlformats.org/drawingml/2006/main">
              <a:ext uri="{FF2B5EF4-FFF2-40B4-BE49-F238E27FC236}">
                <a16:creationId xmlns:a16="http://schemas.microsoft.com/office/drawing/2014/main" id="{897DD293-2179-4D4B-A012-7E49056C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1838325"/>
            <a:ext cx="838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75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75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質問 → 回答</a:t>
            </a:r>
          </a:p>
        </p:txBody>
      </p:sp>
      <p:sp>
        <p:nvSpPr>
          <p:cNvPr id="27" name="成約準備ステップ1">
            <a:extLst xmlns:a="http://schemas.openxmlformats.org/drawingml/2006/main">
              <a:ext uri="{FF2B5EF4-FFF2-40B4-BE49-F238E27FC236}">
                <a16:creationId xmlns:a16="http://schemas.microsoft.com/office/drawing/2014/main" id="{0C1A83D1-6EA0-4041-B0F8-CEF54D4D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1495425"/>
            <a:ext cx="4762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28" name="成約準備番号1">
            <a:extLst xmlns:a="http://schemas.openxmlformats.org/drawingml/2006/main">
              <a:ext uri="{FF2B5EF4-FFF2-40B4-BE49-F238E27FC236}">
                <a16:creationId xmlns:a16="http://schemas.microsoft.com/office/drawing/2014/main" id="{A71F69FA-EC77-4E7D-8944-850CE02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成約準備番号文字1">
            <a:extLst xmlns:a="http://schemas.openxmlformats.org/drawingml/2006/main">
              <a:ext uri="{FF2B5EF4-FFF2-40B4-BE49-F238E27FC236}">
                <a16:creationId xmlns:a16="http://schemas.microsoft.com/office/drawing/2014/main" id="{5EC32FD4-08AB-4992-9234-D0A1487E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1619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30" name="成約準備見出し1">
            <a:extLst xmlns:a="http://schemas.openxmlformats.org/drawingml/2006/main">
              <a:ext uri="{FF2B5EF4-FFF2-40B4-BE49-F238E27FC236}">
                <a16:creationId xmlns:a16="http://schemas.microsoft.com/office/drawing/2014/main" id="{531DC5FF-6CA3-4397-932B-E97EC671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15811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対話しながら作る</a:t>
            </a:r>
          </a:p>
        </p:txBody>
      </p:sp>
      <p:sp>
        <p:nvSpPr>
          <p:cNvPr id="31" name="成約準備説明1">
            <a:extLst xmlns:a="http://schemas.openxmlformats.org/drawingml/2006/main">
              <a:ext uri="{FF2B5EF4-FFF2-40B4-BE49-F238E27FC236}">
                <a16:creationId xmlns:a16="http://schemas.microsoft.com/office/drawing/2014/main" id="{6BBF8048-F325-49D0-87A2-0E1B8827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1838325"/>
            <a:ext cx="3762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経験・スキルを事実に沿って整理</a:t>
            </a:r>
          </a:p>
        </p:txBody>
      </p:sp>
      <p:sp>
        <p:nvSpPr>
          <p:cNvPr id="32" name="成約準備ステップ2">
            <a:extLst xmlns:a="http://schemas.openxmlformats.org/drawingml/2006/main">
              <a:ext uri="{FF2B5EF4-FFF2-40B4-BE49-F238E27FC236}">
                <a16:creationId xmlns:a16="http://schemas.microsoft.com/office/drawing/2014/main" id="{03E0E393-33F8-421A-A6B2-B1FA4507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2266950"/>
            <a:ext cx="4762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33" name="成約準備番号2">
            <a:extLst xmlns:a="http://schemas.openxmlformats.org/drawingml/2006/main">
              <a:ext uri="{FF2B5EF4-FFF2-40B4-BE49-F238E27FC236}">
                <a16:creationId xmlns:a16="http://schemas.microsoft.com/office/drawing/2014/main" id="{1DAA622E-D333-41CE-8FE0-7E52BEA9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2390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成約準備番号文字2">
            <a:extLst xmlns:a="http://schemas.openxmlformats.org/drawingml/2006/main">
              <a:ext uri="{FF2B5EF4-FFF2-40B4-BE49-F238E27FC236}">
                <a16:creationId xmlns:a16="http://schemas.microsoft.com/office/drawing/2014/main" id="{6D38B06D-609F-401D-8F80-CF5E8530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23907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5" name="成約準備見出し2">
            <a:extLst xmlns:a="http://schemas.openxmlformats.org/drawingml/2006/main">
              <a:ext uri="{FF2B5EF4-FFF2-40B4-BE49-F238E27FC236}">
                <a16:creationId xmlns:a16="http://schemas.microsoft.com/office/drawing/2014/main" id="{5B6B92AD-5455-4B12-ADEF-E4AF58B5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352675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案件ごとに伝える</a:t>
            </a:r>
          </a:p>
        </p:txBody>
      </p:sp>
      <p:sp>
        <p:nvSpPr>
          <p:cNvPr id="36" name="成約準備説明2">
            <a:extLst xmlns:a="http://schemas.openxmlformats.org/drawingml/2006/main">
              <a:ext uri="{FF2B5EF4-FFF2-40B4-BE49-F238E27FC236}">
                <a16:creationId xmlns:a16="http://schemas.microsoft.com/office/drawing/2014/main" id="{EB4C8FD0-75D1-47C4-8E50-B981C8EE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609850"/>
            <a:ext cx="3762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募集条件に合わせてシートを調整</a:t>
            </a:r>
          </a:p>
        </p:txBody>
      </p:sp>
      <p:sp>
        <p:nvSpPr>
          <p:cNvPr id="37" name="成約準備ステップ3">
            <a:extLst xmlns:a="http://schemas.openxmlformats.org/drawingml/2006/main">
              <a:ext uri="{FF2B5EF4-FFF2-40B4-BE49-F238E27FC236}">
                <a16:creationId xmlns:a16="http://schemas.microsoft.com/office/drawing/2014/main" id="{EF03E682-5254-4165-9A43-21F3EEA0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3038475"/>
            <a:ext cx="4762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38" name="成約準備番号3">
            <a:extLst xmlns:a="http://schemas.openxmlformats.org/drawingml/2006/main">
              <a:ext uri="{FF2B5EF4-FFF2-40B4-BE49-F238E27FC236}">
                <a16:creationId xmlns:a16="http://schemas.microsoft.com/office/drawing/2014/main" id="{FA4D62B1-F391-40E3-93E7-A4E1D4D5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成約準備番号文字3">
            <a:extLst xmlns:a="http://schemas.openxmlformats.org/drawingml/2006/main">
              <a:ext uri="{FF2B5EF4-FFF2-40B4-BE49-F238E27FC236}">
                <a16:creationId xmlns:a16="http://schemas.microsoft.com/office/drawing/2014/main" id="{0E0AAA8B-E4F2-426E-830C-5D2796E1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3162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0" name="成約準備見出し3">
            <a:extLst xmlns:a="http://schemas.openxmlformats.org/drawingml/2006/main">
              <a:ext uri="{FF2B5EF4-FFF2-40B4-BE49-F238E27FC236}">
                <a16:creationId xmlns:a16="http://schemas.microsoft.com/office/drawing/2014/main" id="{A45118D1-F86D-4605-A293-3C3D4AB5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312420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面談前後を支援</a:t>
            </a:r>
          </a:p>
        </p:txBody>
      </p:sp>
      <p:sp>
        <p:nvSpPr>
          <p:cNvPr id="41" name="成約準備説明3">
            <a:extLst xmlns:a="http://schemas.openxmlformats.org/drawingml/2006/main">
              <a:ext uri="{FF2B5EF4-FFF2-40B4-BE49-F238E27FC236}">
                <a16:creationId xmlns:a16="http://schemas.microsoft.com/office/drawing/2014/main" id="{2F487332-3A95-462E-AB92-B1F4091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3381375"/>
            <a:ext cx="3762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97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想定Q&amp;Aを準備し、結果を記録</a:t>
            </a:r>
          </a:p>
        </p:txBody>
      </p:sp>
      <p:sp>
        <p:nvSpPr>
          <p:cNvPr id="42" name="成約準備まとめ帯">
            <a:extLst xmlns:a="http://schemas.openxmlformats.org/drawingml/2006/main">
              <a:ext uri="{FF2B5EF4-FFF2-40B4-BE49-F238E27FC236}">
                <a16:creationId xmlns:a16="http://schemas.microsoft.com/office/drawing/2014/main" id="{D0E6D50D-8B49-4F36-BB8A-F1068718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3895725"/>
            <a:ext cx="47625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成約準備まとめ">
            <a:extLst xmlns:a="http://schemas.openxmlformats.org/drawingml/2006/main">
              <a:ext uri="{FF2B5EF4-FFF2-40B4-BE49-F238E27FC236}">
                <a16:creationId xmlns:a16="http://schemas.microsoft.com/office/drawing/2014/main" id="{54AAA817-7609-41CF-A037-4BEF804D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0025" y="391477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結果と理由を残し、次の応募・面談に活かす</a:t>
            </a:r>
          </a:p>
        </p:txBody>
      </p:sp>
    </p:spTree>
    <p:extLst>
      <p:ext uri="{BB962C8B-B14F-4D97-AF65-F5344CB8AC3E}">
        <p14:creationId xmlns:p14="http://schemas.microsoft.com/office/powerpoint/2010/main" val="1445305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ing-6">
            <a:extLst xmlns:a="http://schemas.openxmlformats.org/drawingml/2006/main">
              <a:ext uri="{FF2B5EF4-FFF2-40B4-BE49-F238E27FC236}">
                <a16:creationId xmlns:a16="http://schemas.microsoft.com/office/drawing/2014/main" id="{DFA6A55B-1998-4464-9873-35174E8E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57175"/>
            <a:ext cx="8229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成約時のみの料金案と、安心して進めるための約束</a:t>
            </a:r>
          </a:p>
        </p:txBody>
      </p:sp>
      <p:sp>
        <p:nvSpPr>
          <p:cNvPr id="2" name="subheading-6">
            <a:extLst xmlns:a="http://schemas.openxmlformats.org/drawingml/2006/main">
              <a:ext uri="{FF2B5EF4-FFF2-40B4-BE49-F238E27FC236}">
                <a16:creationId xmlns:a16="http://schemas.microsoft.com/office/drawing/2014/main" id="{3941A12D-BAA3-4E40-BC7C-BB414706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923925"/>
            <a:ext cx="822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費用・運用方法は相談して決定。初期の進め方もご意見を伺います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08D651C4-E96D-44F9-81ED-EF6CE79F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819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Parks（仮）｜ご提案（たたき台）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A15C0832-3E18-4510-8E71-9606E9CE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4819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5" name="費用イラスト・背景">
            <a:extLst xmlns:a="http://schemas.openxmlformats.org/drawingml/2006/main">
              <a:ext uri="{FF2B5EF4-FFF2-40B4-BE49-F238E27FC236}">
                <a16:creationId xmlns:a16="http://schemas.microsoft.com/office/drawing/2014/main" id="{432CFCE7-7028-40E5-84A0-79BA8D36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428750"/>
            <a:ext cx="30480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6" name="費用イラスト・契約書">
            <a:extLst xmlns:a="http://schemas.openxmlformats.org/drawingml/2006/main">
              <a:ext uri="{FF2B5EF4-FFF2-40B4-BE49-F238E27FC236}">
                <a16:creationId xmlns:a16="http://schemas.microsoft.com/office/drawing/2014/main" id="{E75671D5-2B79-4AF7-B728-A54FEB20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1695450"/>
            <a:ext cx="1438275" cy="18097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8DE"/>
            </a:solidFill>
            <a:prstDash val="solid"/>
          </a:ln>
        </p:spPr>
      </p:sp>
      <p:sp>
        <p:nvSpPr>
          <p:cNvPr id="7" name="費用イラスト・契約書見出し">
            <a:extLst xmlns:a="http://schemas.openxmlformats.org/drawingml/2006/main">
              <a:ext uri="{FF2B5EF4-FFF2-40B4-BE49-F238E27FC236}">
                <a16:creationId xmlns:a16="http://schemas.microsoft.com/office/drawing/2014/main" id="{841B290A-68D2-4159-B0F5-400535D5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1828800"/>
            <a:ext cx="1228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成約時のご利用料</a:t>
            </a:r>
          </a:p>
        </p:txBody>
      </p:sp>
      <p:sp>
        <p:nvSpPr>
          <p:cNvPr id="8" name="費用イラスト・7％">
            <a:extLst xmlns:a="http://schemas.openxmlformats.org/drawingml/2006/main">
              <a:ext uri="{FF2B5EF4-FFF2-40B4-BE49-F238E27FC236}">
                <a16:creationId xmlns:a16="http://schemas.microsoft.com/office/drawing/2014/main" id="{5E59749B-E53C-44B9-839D-0149E857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2152650"/>
            <a:ext cx="11334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7%</a:t>
            </a:r>
          </a:p>
        </p:txBody>
      </p:sp>
      <p:sp>
        <p:nvSpPr>
          <p:cNvPr id="9" name="費用イラスト・書類行1">
            <a:extLst xmlns:a="http://schemas.openxmlformats.org/drawingml/2006/main">
              <a:ext uri="{FF2B5EF4-FFF2-40B4-BE49-F238E27FC236}">
                <a16:creationId xmlns:a16="http://schemas.microsoft.com/office/drawing/2014/main" id="{8CF4C6AC-3323-4C8D-80C4-09DEC990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2714625"/>
            <a:ext cx="10382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費用イラスト・書類行2">
            <a:extLst xmlns:a="http://schemas.openxmlformats.org/drawingml/2006/main">
              <a:ext uri="{FF2B5EF4-FFF2-40B4-BE49-F238E27FC236}">
                <a16:creationId xmlns:a16="http://schemas.microsoft.com/office/drawing/2014/main" id="{08FA43F2-90C2-4987-AB04-55B4C09A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2867025"/>
            <a:ext cx="895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費用イラスト・書類行3">
            <a:extLst xmlns:a="http://schemas.openxmlformats.org/drawingml/2006/main">
              <a:ext uri="{FF2B5EF4-FFF2-40B4-BE49-F238E27FC236}">
                <a16:creationId xmlns:a16="http://schemas.microsoft.com/office/drawing/2014/main" id="{568112EF-1E3A-496E-91ED-3D16C115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019425"/>
            <a:ext cx="9715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費用イラスト・成功マーク">
            <a:extLst xmlns:a="http://schemas.openxmlformats.org/drawingml/2006/main">
              <a:ext uri="{FF2B5EF4-FFF2-40B4-BE49-F238E27FC236}">
                <a16:creationId xmlns:a16="http://schemas.microsoft.com/office/drawing/2014/main" id="{931325D3-DF80-45E4-A9F7-D57CDB8C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31908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費用イラスト・チェック">
            <a:extLst xmlns:a="http://schemas.openxmlformats.org/drawingml/2006/main">
              <a:ext uri="{FF2B5EF4-FFF2-40B4-BE49-F238E27FC236}">
                <a16:creationId xmlns:a16="http://schemas.microsoft.com/office/drawing/2014/main" id="{47274D63-8695-416F-8AAA-2F2A1C2E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319087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4" name="費用イラスト・相談者・頭">
            <a:extLst xmlns:a="http://schemas.openxmlformats.org/drawingml/2006/main">
              <a:ext uri="{FF2B5EF4-FFF2-40B4-BE49-F238E27FC236}">
                <a16:creationId xmlns:a16="http://schemas.microsoft.com/office/drawing/2014/main" id="{44677393-8E04-44B3-A23A-4A1BCFCA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" y="2466975"/>
            <a:ext cx="222885" cy="222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費用イラスト・相談者・髪">
            <a:extLst xmlns:a="http://schemas.openxmlformats.org/drawingml/2006/main">
              <a:ext uri="{FF2B5EF4-FFF2-40B4-BE49-F238E27FC236}">
                <a16:creationId xmlns:a16="http://schemas.microsoft.com/office/drawing/2014/main" id="{EEFCDB87-B20A-4558-9B97-90A9A4A0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" y="2441258"/>
            <a:ext cx="257175" cy="128588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費用イラスト・相談者・胴">
            <a:extLst xmlns:a="http://schemas.openxmlformats.org/drawingml/2006/main">
              <a:ext uri="{FF2B5EF4-FFF2-40B4-BE49-F238E27FC236}">
                <a16:creationId xmlns:a16="http://schemas.microsoft.com/office/drawing/2014/main" id="{11F3F26C-72B6-4C46-9E53-6C3F5236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53" y="2724150"/>
            <a:ext cx="377190" cy="462915"/>
          </a:xfrm>
          <a:prstGeom xmlns:a="http://schemas.openxmlformats.org/drawingml/2006/main" prst="roundRect">
            <a:avLst>
              <a:gd name="adj" fmla="val 20202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費用イラスト・相談者・脚1">
            <a:extLst xmlns:a="http://schemas.openxmlformats.org/drawingml/2006/main">
              <a:ext uri="{FF2B5EF4-FFF2-40B4-BE49-F238E27FC236}">
                <a16:creationId xmlns:a16="http://schemas.microsoft.com/office/drawing/2014/main" id="{55974D88-3673-40DD-8B72-C515F3EB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3" y="3144203"/>
            <a:ext cx="111443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費用イラスト・相談者・脚2">
            <a:extLst xmlns:a="http://schemas.openxmlformats.org/drawingml/2006/main">
              <a:ext uri="{FF2B5EF4-FFF2-40B4-BE49-F238E27FC236}">
                <a16:creationId xmlns:a16="http://schemas.microsoft.com/office/drawing/2014/main" id="{C765526D-C87F-4131-BF37-57571C96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" y="3144203"/>
            <a:ext cx="111443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費用イラスト・相談腕">
            <a:extLst xmlns:a="http://schemas.openxmlformats.org/drawingml/2006/main">
              <a:ext uri="{FF2B5EF4-FFF2-40B4-BE49-F238E27FC236}">
                <a16:creationId xmlns:a16="http://schemas.microsoft.com/office/drawing/2014/main" id="{DFCD6FBF-B36E-451C-B516-858A51ED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781300"/>
            <a:ext cx="44767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費用イラスト・説明">
            <a:extLst xmlns:a="http://schemas.openxmlformats.org/drawingml/2006/main">
              <a:ext uri="{FF2B5EF4-FFF2-40B4-BE49-F238E27FC236}">
                <a16:creationId xmlns:a16="http://schemas.microsoft.com/office/drawing/2014/main" id="{F3AC53B3-AAA9-4BE3-A318-B3E933A9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3714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成約した場合だけ</a:t>
            </a:r>
          </a:p>
        </p:txBody>
      </p:sp>
      <p:sp>
        <p:nvSpPr>
          <p:cNvPr id="21" name="料金案パネル">
            <a:extLst xmlns:a="http://schemas.openxmlformats.org/drawingml/2006/main">
              <a:ext uri="{FF2B5EF4-FFF2-40B4-BE49-F238E27FC236}">
                <a16:creationId xmlns:a16="http://schemas.microsoft.com/office/drawing/2014/main" id="{9221207D-DA14-49B8-89F6-DBA93F7B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1428750"/>
            <a:ext cx="2266950" cy="27051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22" name="料金案見出し">
            <a:extLst xmlns:a="http://schemas.openxmlformats.org/drawingml/2006/main">
              <a:ext uri="{FF2B5EF4-FFF2-40B4-BE49-F238E27FC236}">
                <a16:creationId xmlns:a16="http://schemas.microsoft.com/office/drawing/2014/main" id="{14FFC236-B3C1-42BF-AA58-7B38BA7F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1552575"/>
            <a:ext cx="1971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料金案（要相談）</a:t>
            </a:r>
          </a:p>
        </p:txBody>
      </p:sp>
      <p:sp>
        <p:nvSpPr>
          <p:cNvPr id="23" name="料金案成約時">
            <a:extLst xmlns:a="http://schemas.openxmlformats.org/drawingml/2006/main">
              <a:ext uri="{FF2B5EF4-FFF2-40B4-BE49-F238E27FC236}">
                <a16:creationId xmlns:a16="http://schemas.microsoft.com/office/drawing/2014/main" id="{9C75B956-FE39-49D4-8CDC-1B658438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1924050"/>
            <a:ext cx="1971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成約時のみ発生</a:t>
            </a:r>
          </a:p>
        </p:txBody>
      </p:sp>
      <p:sp>
        <p:nvSpPr>
          <p:cNvPr id="24" name="料金案初期">
            <a:extLst xmlns:a="http://schemas.openxmlformats.org/drawingml/2006/main">
              <a:ext uri="{FF2B5EF4-FFF2-40B4-BE49-F238E27FC236}">
                <a16:creationId xmlns:a16="http://schemas.microsoft.com/office/drawing/2014/main" id="{B906C84B-C345-4FEA-8B15-FF38CD9C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343150"/>
            <a:ext cx="1971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初期費用 7%（案）</a:t>
            </a:r>
          </a:p>
        </p:txBody>
      </p:sp>
      <p:sp>
        <p:nvSpPr>
          <p:cNvPr id="25" name="料金案月額">
            <a:extLst xmlns:a="http://schemas.openxmlformats.org/drawingml/2006/main">
              <a:ext uri="{FF2B5EF4-FFF2-40B4-BE49-F238E27FC236}">
                <a16:creationId xmlns:a16="http://schemas.microsoft.com/office/drawing/2014/main" id="{3DDF9227-3ABD-4A0C-A16C-97E97BE4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7622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月額 3%（契約継続中・案）</a:t>
            </a:r>
          </a:p>
        </p:txBody>
      </p:sp>
      <p:sp>
        <p:nvSpPr>
          <p:cNvPr id="26" name="料金案基準">
            <a:extLst xmlns:a="http://schemas.openxmlformats.org/drawingml/2006/main">
              <a:ext uri="{FF2B5EF4-FFF2-40B4-BE49-F238E27FC236}">
                <a16:creationId xmlns:a16="http://schemas.microsoft.com/office/drawing/2014/main" id="{DF15C794-5095-45A4-B617-44448D56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3305175"/>
            <a:ext cx="1971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基準：SESさまが受け取る案件金額</a:t>
            </a:r>
          </a:p>
        </p:txBody>
      </p:sp>
      <p:sp>
        <p:nvSpPr>
          <p:cNvPr id="27" name="料金案補足">
            <a:extLst xmlns:a="http://schemas.openxmlformats.org/drawingml/2006/main">
              <a:ext uri="{FF2B5EF4-FFF2-40B4-BE49-F238E27FC236}">
                <a16:creationId xmlns:a16="http://schemas.microsoft.com/office/drawing/2014/main" id="{E689C80E-9A4A-4F5D-9EA6-F047F90B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3752850"/>
            <a:ext cx="1971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825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先払いなし。率・条件はご相談のうえ決定</a:t>
            </a:r>
          </a:p>
        </p:txBody>
      </p:sp>
      <p:sp>
        <p:nvSpPr>
          <p:cNvPr id="28" name="安心方針パネル">
            <a:extLst xmlns:a="http://schemas.openxmlformats.org/drawingml/2006/main">
              <a:ext uri="{FF2B5EF4-FFF2-40B4-BE49-F238E27FC236}">
                <a16:creationId xmlns:a16="http://schemas.microsoft.com/office/drawing/2014/main" id="{9FA169B1-1440-4A1B-B1D4-70404725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1428750"/>
            <a:ext cx="2514600" cy="27051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29" name="安心方針見出し">
            <a:extLst xmlns:a="http://schemas.openxmlformats.org/drawingml/2006/main">
              <a:ext uri="{FF2B5EF4-FFF2-40B4-BE49-F238E27FC236}">
                <a16:creationId xmlns:a16="http://schemas.microsoft.com/office/drawing/2014/main" id="{D3946D61-4821-429E-BE1A-974FA16F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15525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運用の約束</a:t>
            </a:r>
          </a:p>
        </p:txBody>
      </p:sp>
      <p:sp>
        <p:nvSpPr>
          <p:cNvPr id="30" name="安心方針マーク1">
            <a:extLst xmlns:a="http://schemas.openxmlformats.org/drawingml/2006/main">
              <a:ext uri="{FF2B5EF4-FFF2-40B4-BE49-F238E27FC236}">
                <a16:creationId xmlns:a16="http://schemas.microsoft.com/office/drawing/2014/main" id="{F6A0ADDD-09DA-4E0F-82F7-D4DBFFAB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192405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安心方針番号1">
            <a:extLst xmlns:a="http://schemas.openxmlformats.org/drawingml/2006/main">
              <a:ext uri="{FF2B5EF4-FFF2-40B4-BE49-F238E27FC236}">
                <a16:creationId xmlns:a16="http://schemas.microsoft.com/office/drawing/2014/main" id="{9FD32DC2-6724-47B6-AC8A-0AE3326E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192405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32" name="安心方針項目1">
            <a:extLst xmlns:a="http://schemas.openxmlformats.org/drawingml/2006/main">
              <a:ext uri="{FF2B5EF4-FFF2-40B4-BE49-F238E27FC236}">
                <a16:creationId xmlns:a16="http://schemas.microsoft.com/office/drawing/2014/main" id="{0D7B262E-C1B5-4961-8A7C-C4BE88DC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175" y="19050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本人の同意</a:t>
            </a:r>
          </a:p>
        </p:txBody>
      </p:sp>
      <p:sp>
        <p:nvSpPr>
          <p:cNvPr id="33" name="安心方針説明1">
            <a:extLst xmlns:a="http://schemas.openxmlformats.org/drawingml/2006/main">
              <a:ext uri="{FF2B5EF4-FFF2-40B4-BE49-F238E27FC236}">
                <a16:creationId xmlns:a16="http://schemas.microsoft.com/office/drawing/2014/main" id="{AD6C08A1-21DD-49CF-AC87-C344CB81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175" y="2114550"/>
            <a:ext cx="1724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個人情報は本人の同意を得て扱い、事実を盛らない</a:t>
            </a:r>
          </a:p>
        </p:txBody>
      </p:sp>
      <p:sp>
        <p:nvSpPr>
          <p:cNvPr id="34" name="安心方針マーク2">
            <a:extLst xmlns:a="http://schemas.openxmlformats.org/drawingml/2006/main">
              <a:ext uri="{FF2B5EF4-FFF2-40B4-BE49-F238E27FC236}">
                <a16:creationId xmlns:a16="http://schemas.microsoft.com/office/drawing/2014/main" id="{3133FE58-5D68-476A-9309-64C379D7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25812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安心方針番号2">
            <a:extLst xmlns:a="http://schemas.openxmlformats.org/drawingml/2006/main">
              <a:ext uri="{FF2B5EF4-FFF2-40B4-BE49-F238E27FC236}">
                <a16:creationId xmlns:a16="http://schemas.microsoft.com/office/drawing/2014/main" id="{44791F5A-33E1-4135-A152-00C1EA45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2581275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36" name="安心方針項目2">
            <a:extLst xmlns:a="http://schemas.openxmlformats.org/drawingml/2006/main">
              <a:ext uri="{FF2B5EF4-FFF2-40B4-BE49-F238E27FC236}">
                <a16:creationId xmlns:a16="http://schemas.microsoft.com/office/drawing/2014/main" id="{70103E95-C17C-4CF6-9E0F-E5060D60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175" y="2562225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情報を守る</a:t>
            </a:r>
          </a:p>
        </p:txBody>
      </p:sp>
      <p:sp>
        <p:nvSpPr>
          <p:cNvPr id="37" name="安心方針説明2">
            <a:extLst xmlns:a="http://schemas.openxmlformats.org/drawingml/2006/main">
              <a:ext uri="{FF2B5EF4-FFF2-40B4-BE49-F238E27FC236}">
                <a16:creationId xmlns:a16="http://schemas.microsoft.com/office/drawing/2014/main" id="{6B4DE9CF-9098-4079-BDA6-AAC882BC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175" y="2771775"/>
            <a:ext cx="1724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案件内容・会社名を外部サービスへ渡さない</a:t>
            </a:r>
          </a:p>
        </p:txBody>
      </p:sp>
      <p:sp>
        <p:nvSpPr>
          <p:cNvPr id="38" name="安心方針マーク3">
            <a:extLst xmlns:a="http://schemas.openxmlformats.org/drawingml/2006/main">
              <a:ext uri="{FF2B5EF4-FFF2-40B4-BE49-F238E27FC236}">
                <a16:creationId xmlns:a16="http://schemas.microsoft.com/office/drawing/2014/main" id="{F7669848-36E2-4B0C-A9A9-0EFDD3BB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32385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安心方針番号3">
            <a:extLst xmlns:a="http://schemas.openxmlformats.org/drawingml/2006/main">
              <a:ext uri="{FF2B5EF4-FFF2-40B4-BE49-F238E27FC236}">
                <a16:creationId xmlns:a16="http://schemas.microsoft.com/office/drawing/2014/main" id="{86A8F083-200D-4D54-BBF8-01FABDE1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323850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0" name="安心方針項目3">
            <a:extLst xmlns:a="http://schemas.openxmlformats.org/drawingml/2006/main">
              <a:ext uri="{FF2B5EF4-FFF2-40B4-BE49-F238E27FC236}">
                <a16:creationId xmlns:a16="http://schemas.microsoft.com/office/drawing/2014/main" id="{5A2173BE-324F-4785-A463-C7417472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175" y="321945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公平性を保つ</a:t>
            </a:r>
          </a:p>
        </p:txBody>
      </p:sp>
      <p:sp>
        <p:nvSpPr>
          <p:cNvPr id="41" name="安心方針説明3">
            <a:extLst xmlns:a="http://schemas.openxmlformats.org/drawingml/2006/main">
              <a:ext uri="{FF2B5EF4-FFF2-40B4-BE49-F238E27FC236}">
                <a16:creationId xmlns:a16="http://schemas.microsoft.com/office/drawing/2014/main" id="{8A018467-2F64-48FD-847A-268C40EB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175" y="3429000"/>
            <a:ext cx="1724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運営と自分の稼働を分け、ルールを整える</a:t>
            </a:r>
          </a:p>
        </p:txBody>
      </p:sp>
    </p:spTree>
    <p:extLst>
      <p:ext uri="{BB962C8B-B14F-4D97-AF65-F5344CB8AC3E}">
        <p14:creationId xmlns:p14="http://schemas.microsoft.com/office/powerpoint/2010/main" val="1245398647"/>
      </p:ext>
    </p:extLst>
  </p:cSld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2026-10-14T07:36:26.1580000Z</dcterms:created>
  <dcterms:modified xsi:type="dcterms:W3CDTF">2026-10-14T07:36:26.1580000Z</dcterms:modified>
</coreProperties>
</file>