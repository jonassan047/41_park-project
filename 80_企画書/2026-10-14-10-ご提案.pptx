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86c815a5341bd" /><Relationship Type="http://schemas.openxmlformats.org/officeDocument/2006/relationships/extended-properties" Target="/docProps/app.xml" Id="R8b8437bd476f4ca6" /><Relationship Type="http://schemas.openxmlformats.org/officeDocument/2006/relationships/officeDocument" Target="/ppt/presentation.xml" Id="R43cfbb969bb9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c266e762314e58"/>
  </p:sldMasterIdLst>
  <p:notesMasterIdLst>
    <p:notesMasterId xmlns:r="http://schemas.openxmlformats.org/officeDocument/2006/relationships" r:id="Rfed1c4ce42204e53"/>
  </p:notesMasterIdLst>
  <p:sldIdLst>
    <p:sldId xmlns:r="http://schemas.openxmlformats.org/officeDocument/2006/relationships" id="256" r:id="Rd4643188162b4326"/>
    <p:sldId xmlns:r="http://schemas.openxmlformats.org/officeDocument/2006/relationships" id="257" r:id="Rde913adb6a224d63"/>
    <p:sldId xmlns:r="http://schemas.openxmlformats.org/officeDocument/2006/relationships" id="258" r:id="Rd32d841b06e343f2"/>
    <p:sldId xmlns:r="http://schemas.openxmlformats.org/officeDocument/2006/relationships" id="259" r:id="R7f464efbb8ea4f8e"/>
    <p:sldId xmlns:r="http://schemas.openxmlformats.org/officeDocument/2006/relationships" id="260" r:id="R58bb99042dce4f3a"/>
    <p:sldId xmlns:r="http://schemas.openxmlformats.org/officeDocument/2006/relationships" id="261" r:id="R5a1415e7868347f4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7c25543fb04a2c" /><Relationship Type="http://schemas.openxmlformats.org/officeDocument/2006/relationships/slideMaster" Target="/ppt/slideMasters/slideMaster1.xml" Id="Redc266e762314e58" /><Relationship Type="http://schemas.openxmlformats.org/officeDocument/2006/relationships/notesMaster" Target="/ppt/notesMasters/notesMaster1.xml" Id="Rfed1c4ce42204e53" /><Relationship Type="http://schemas.openxmlformats.org/officeDocument/2006/relationships/presProps" Target="/ppt/presProps.xml" Id="R58d2ae09d5684b2d" /><Relationship Type="http://schemas.openxmlformats.org/officeDocument/2006/relationships/viewProps" Target="/ppt/viewProps.xml" Id="Rcb9f305b5372437d" /><Relationship Type="http://schemas.openxmlformats.org/officeDocument/2006/relationships/tableStyles" Target="/ppt/tableStyles.xml" Id="R5e991a37f2714a63" /><Relationship Type="http://schemas.openxmlformats.org/officeDocument/2006/relationships/slide" Target="/ppt/slides/slide1.xml" Id="Rd4643188162b4326" /><Relationship Type="http://schemas.openxmlformats.org/officeDocument/2006/relationships/slide" Target="/ppt/slides/slide2.xml" Id="Rde913adb6a224d63" /><Relationship Type="http://schemas.openxmlformats.org/officeDocument/2006/relationships/slide" Target="/ppt/slides/slide3.xml" Id="Rd32d841b06e343f2" /><Relationship Type="http://schemas.openxmlformats.org/officeDocument/2006/relationships/slide" Target="/ppt/slides/slide4.xml" Id="R7f464efbb8ea4f8e" /><Relationship Type="http://schemas.openxmlformats.org/officeDocument/2006/relationships/slide" Target="/ppt/slides/slide5.xml" Id="R58bb99042dce4f3a" /><Relationship Type="http://schemas.openxmlformats.org/officeDocument/2006/relationships/slide" Target="/ppt/slides/slide6.xml" Id="R5a1415e7868347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150cdb832141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1a89d8f660458d" /><Relationship Type="http://schemas.openxmlformats.org/officeDocument/2006/relationships/notesMaster" Target="/ppt/notesMasters/notesMaster1.xml" Id="R1c1240867c5a43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5910c52644252" /><Relationship Type="http://schemas.openxmlformats.org/officeDocument/2006/relationships/notesMaster" Target="/ppt/notesMasters/notesMaster1.xml" Id="Rf05ce142e833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fd83130c484c9f" /><Relationship Type="http://schemas.openxmlformats.org/officeDocument/2006/relationships/notesMaster" Target="/ppt/notesMasters/notesMaster1.xml" Id="R8576d8ff1dd2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24de35ceba46ae" /><Relationship Type="http://schemas.openxmlformats.org/officeDocument/2006/relationships/notesMaster" Target="/ppt/notesMasters/notesMaster1.xml" Id="R11fb4a258f0b42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889801a557425f" /><Relationship Type="http://schemas.openxmlformats.org/officeDocument/2006/relationships/notesMaster" Target="/ppt/notesMasters/notesMaster1.xml" Id="R85a48186438645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5226a95244b20" /><Relationship Type="http://schemas.openxmlformats.org/officeDocument/2006/relationships/notesMaster" Target="/ppt/notesMasters/notesMaster1.xml" Id="R2a8f2e5ce89f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みなさま（ビジネスパートナー）のお悩み</a:t>
            </a:r>
            <a:r>
              <a:t>4</a:t>
            </a:r>
            <a:r>
              <a:t>つ。このシステムがまとめて解決する。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成約率が上がる理由：これまでの落ち方ごとに、このシステムの対策を並べた。グラフと</a:t>
            </a:r>
            <a:r>
              <a:t>『</a:t>
            </a:r>
            <a:r>
              <a:t>約</a:t>
            </a:r>
            <a:r>
              <a:t>2.2</a:t>
            </a:r>
            <a:r>
              <a:t>倍</a:t>
            </a:r>
            <a:r>
              <a:t>』</a:t>
            </a:r>
            <a:r>
              <a:t>は仮の数字（イメージ）。実際は記録して測る。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システムの流れ（たたき台）。準備：</a:t>
            </a:r>
            <a:r>
              <a:t>1) </a:t>
            </a:r>
            <a:r>
              <a:t>ビジネスパートナーがエンジニアの基本情報を登録 </a:t>
            </a:r>
            <a:r>
              <a:t>2) </a:t>
            </a:r>
            <a:r>
              <a:t>エンジニアが自分の情報を登録し、やり取りしながら理想のスキルシートを作る。ここでひと区切り。案件ごと：</a:t>
            </a:r>
            <a:r>
              <a:t>3) </a:t>
            </a:r>
            <a:r>
              <a:t>案件が届き、システムが条件に合うエンジニアを選んで送る（所属先にも通知） </a:t>
            </a:r>
            <a:r>
              <a:t>4) </a:t>
            </a:r>
            <a:r>
              <a:t>エンジニアが応募 </a:t>
            </a:r>
            <a:r>
              <a:t>5) </a:t>
            </a:r>
            <a:r>
              <a:t>面談の依頼が入る。このとき面談対策の</a:t>
            </a:r>
            <a:r>
              <a:t>Q&amp;A</a:t>
            </a:r>
            <a:r>
              <a:t>を提案 </a:t>
            </a:r>
            <a:r>
              <a:t>6) </a:t>
            </a:r>
            <a:r>
              <a:t>面談→合格。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c86dfa79743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b1dcffe8b4f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dfb4109d64cf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">
    <p:bg>
      <p:bgPr>
        <a:solidFill xmlns:a="http://schemas.openxmlformats.org/drawingml/2006/main">
          <a:srgbClr val="3B6EA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43BB16-1DDF-4046-84DF-3AA64AF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0"/>
            <a:ext cx="31089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24865E-C06C-41B4-B74A-831C385C4851}"/>
              </a:ext>
            </a:extLst>
          </p:cNvPr>
          <p:cNvSpPr>
            <a:spLocks xmlns:a="http://schemas.openxmlformats.org/drawingml/2006/main" noGrp="1"/>
          </p:cNvSpPr>
          <p:nvPr>
            <p:ph type="title" idx="101" hasCustomPrompt="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8B1229F-9B68-4E73-9E7B-2B006A5EECE2}"/>
              </a:ext>
            </a:extLst>
          </p:cNvPr>
          <p:cNvSpPr>
            <a:spLocks xmlns:a="http://schemas.openxmlformats.org/drawingml/2006/main" noGrp="1"/>
          </p:cNvSpPr>
          <p:nvPr>
            <p:ph type="body" idx="102" hasCustomPrompt="1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9BAE88-7494-45AF-8A61-205A42B218B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327C5E-2A13-4AF0-A21D-14A24E8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　ご提案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45B7EE-D5A5-4EC1-8951-B9C077DA1CA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d06855b67b4676" /><Relationship Type="http://schemas.openxmlformats.org/officeDocument/2006/relationships/slideLayout" Target="/ppt/slideLayouts/slideLayout1.xml" Id="Ra655ceba6d9f47ae" /><Relationship Type="http://schemas.openxmlformats.org/officeDocument/2006/relationships/slideLayout" Target="/ppt/slideLayouts/slideLayout2.xml" Id="Rd4361393bc384d88" /><Relationship Type="http://schemas.openxmlformats.org/officeDocument/2006/relationships/slideLayout" Target="/ppt/slideLayouts/slideLayout3.xml" Id="Rb65eb4a640514b2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E22AE1-628F-498B-B847-C4756F45783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55ceba6d9f47ae"/>
    <p:sldLayoutId xmlns:r="http://schemas.openxmlformats.org/officeDocument/2006/relationships" id="2147483650" r:id="Rd4361393bc384d88"/>
    <p:sldLayoutId xmlns:r="http://schemas.openxmlformats.org/officeDocument/2006/relationships" id="2147483651" r:id="Rb65eb4a640514b2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8cd226c6f4dfd" /><Relationship Type="http://schemas.openxmlformats.org/officeDocument/2006/relationships/image" Target="/ppt/media/image.png" Id="R5b10bb4859014e0d" /><Relationship Type="http://schemas.openxmlformats.org/officeDocument/2006/relationships/notesSlide" Target="/ppt/notesSlides/notesSlide1.xml" Id="Rf71e4944ee82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c5692161154eea" /><Relationship Type="http://schemas.openxmlformats.org/officeDocument/2006/relationships/image" Target="/ppt/media/image2.png" Id="Rd0e4726b49bd4be7" /><Relationship Type="http://schemas.openxmlformats.org/officeDocument/2006/relationships/image" Target="/ppt/media/image3.png" Id="R1eb922b189294f2c" /><Relationship Type="http://schemas.openxmlformats.org/officeDocument/2006/relationships/image" Target="/ppt/media/image4.png" Id="R40565ec4db6b414a" /><Relationship Type="http://schemas.openxmlformats.org/officeDocument/2006/relationships/notesSlide" Target="/ppt/notesSlides/notesSlide2.xml" Id="R4e89991f2d8745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50b3192f904193" /><Relationship Type="http://schemas.openxmlformats.org/officeDocument/2006/relationships/image" Target="/ppt/media/image5.png" Id="Re9a6d263c8cf4600" /><Relationship Type="http://schemas.openxmlformats.org/officeDocument/2006/relationships/image" Target="/ppt/media/image2.png" Id="R88dccde457a24710" /><Relationship Type="http://schemas.openxmlformats.org/officeDocument/2006/relationships/image" Target="/ppt/media/image6.png" Id="R307e22469c5f4a89" /><Relationship Type="http://schemas.openxmlformats.org/officeDocument/2006/relationships/image" Target="/ppt/media/image4.png" Id="R1f077a3952174e8a" /><Relationship Type="http://schemas.openxmlformats.org/officeDocument/2006/relationships/notesSlide" Target="/ppt/notesSlides/notesSlide3.xml" Id="R5f45a79ee39b48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ed33d5e984495b" /><Relationship Type="http://schemas.openxmlformats.org/officeDocument/2006/relationships/image" Target="/ppt/media/image5.png" Id="R8c33b6bf6e1e4c24" /><Relationship Type="http://schemas.openxmlformats.org/officeDocument/2006/relationships/image" Target="/ppt/media/image6.png" Id="Rac05739cbe5541f3" /><Relationship Type="http://schemas.openxmlformats.org/officeDocument/2006/relationships/image" Target="/ppt/media/image7.png" Id="R27ecb957f89645b5" /><Relationship Type="http://schemas.openxmlformats.org/officeDocument/2006/relationships/image" Target="/ppt/media/image8.png" Id="R290491d32af14df8" /><Relationship Type="http://schemas.openxmlformats.org/officeDocument/2006/relationships/notesSlide" Target="/ppt/notesSlides/notesSlide4.xml" Id="R37a95e7b93ff4c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cb07bcb53a45d3" /><Relationship Type="http://schemas.openxmlformats.org/officeDocument/2006/relationships/notesSlide" Target="/ppt/notesSlides/notesSlide5.xml" Id="R008b85c99dc047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6d17fdf0cd429c" /><Relationship Type="http://schemas.openxmlformats.org/officeDocument/2006/relationships/image" Target="/ppt/media/image2.png" Id="Redbe10b06c2a4107" /><Relationship Type="http://schemas.openxmlformats.org/officeDocument/2006/relationships/image" Target="/ppt/media/image9.png" Id="R2c013eb07d444c8b" /><Relationship Type="http://schemas.openxmlformats.org/officeDocument/2006/relationships/image" Target="/ppt/media/image8.png" Id="R1ce4500660ef4061" /><Relationship Type="http://schemas.openxmlformats.org/officeDocument/2006/relationships/notesSlide" Target="/ppt/notesSlides/notesSlide6.xml" Id="R9255919297ad40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2665E87F-9269-4579-B069-F2EE3CD858E4}"/>
              </a:ext>
            </a:extLst>
          </p:cNvPr>
          <p:cNvSpPr>
            <a:spLocks xmlns:a="http://schemas.openxmlformats.org/drawingml/2006/main" noGrp="1"/>
          </p:cNvSpPr>
          <p:nvPr>
            <p:ph type="title" idx="10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AB85B8-A400-4ADD-ABC1-7F97E0C4AD2F}"/>
              </a:ext>
            </a:extLst>
          </p:cNvPr>
          <p:cNvSpPr>
            <a:spLocks xmlns:a="http://schemas.openxmlformats.org/drawingml/2006/main" noGrp="1"/>
          </p:cNvSpPr>
          <p:nvPr>
            <p:ph type="body" idx="102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案件と人材の出会いを増やし、提案機会を広げる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パートナー連携プラットフォームのご提案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みなさまへ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 xmlns:a="http://schemas.openxmlformats.org/drawingml/2006/main">
              <a:ext uri="{FF2B5EF4-FFF2-40B4-BE49-F238E27FC236}">
                <a16:creationId xmlns:a16="http://schemas.microsoft.com/office/drawing/2014/main" id="{1BDBE7D6-639F-4539-933E-E458AD4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2024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 xmlns:a="http://schemas.openxmlformats.org/drawingml/2006/main">
              <a:ext uri="{FF2B5EF4-FFF2-40B4-BE49-F238E27FC236}">
                <a16:creationId xmlns:a16="http://schemas.microsoft.com/office/drawing/2014/main" id="{74DEBC1D-363B-4437-845E-28744AD9A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0bb4859014e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5355" y="2201875"/>
            <a:ext cx="716890" cy="716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5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58147C-DC96-43A2-A47A-AD04B877554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みなさまの提案機会を、グループ全体で広げる</a:t>
            </a:r>
            <a:endParaRPr sz="2800"/>
          </a:p>
        </p:txBody>
      </p:sp>
      <p:sp>
        <p:nvSpPr>
          <p:cNvPr id="3" name="想い1円">
            <a:extLst xmlns:a="http://schemas.openxmlformats.org/drawingml/2006/main">
              <a:ext uri="{FF2B5EF4-FFF2-40B4-BE49-F238E27FC236}">
                <a16:creationId xmlns:a16="http://schemas.microsoft.com/office/drawing/2014/main" id="{484D0F79-3B0F-4FAC-9640-FFFD3F4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 xmlns:a="http://schemas.openxmlformats.org/drawingml/2006/main">
              <a:ext uri="{FF2B5EF4-FFF2-40B4-BE49-F238E27FC236}">
                <a16:creationId xmlns:a16="http://schemas.microsoft.com/office/drawing/2014/main" id="{FDDCC7CC-EECE-45EB-A6FD-D25819EF3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4726b49bd4b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137525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5" name="想い文1">
            <a:extLst xmlns:a="http://schemas.openxmlformats.org/drawingml/2006/main">
              <a:ext uri="{FF2B5EF4-FFF2-40B4-BE49-F238E27FC236}">
                <a16:creationId xmlns:a16="http://schemas.microsoft.com/office/drawing/2014/main" id="{78108E5A-854F-4982-9E87-359C098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23444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案件に合う人材を、グループ内から探せる</a:t>
            </a:r>
            <a:endParaRPr sz="1800"/>
          </a:p>
        </p:txBody>
      </p:sp>
      <p:sp>
        <p:nvSpPr>
          <p:cNvPr id="6" name="想い2円">
            <a:extLst xmlns:a="http://schemas.openxmlformats.org/drawingml/2006/main">
              <a:ext uri="{FF2B5EF4-FFF2-40B4-BE49-F238E27FC236}">
                <a16:creationId xmlns:a16="http://schemas.microsoft.com/office/drawing/2014/main" id="{AB663356-3F83-4398-B587-55E0EE3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 xmlns:a="http://schemas.openxmlformats.org/drawingml/2006/main">
              <a:ext uri="{FF2B5EF4-FFF2-40B4-BE49-F238E27FC236}">
                <a16:creationId xmlns:a16="http://schemas.microsoft.com/office/drawing/2014/main" id="{B5E99E9C-FCE9-4118-A514-0787255B5C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922b18929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224393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8" name="想い文2">
            <a:extLst xmlns:a="http://schemas.openxmlformats.org/drawingml/2006/main">
              <a:ext uri="{FF2B5EF4-FFF2-40B4-BE49-F238E27FC236}">
                <a16:creationId xmlns:a16="http://schemas.microsoft.com/office/drawing/2014/main" id="{1DFB9ADF-8D92-4DA6-A6E8-CF46918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0312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スキルシートと面談の準備を支援できる</a:t>
            </a:r>
            <a:endParaRPr sz="1800"/>
          </a:p>
        </p:txBody>
      </p:sp>
      <p:sp>
        <p:nvSpPr>
          <p:cNvPr id="9" name="想い3円">
            <a:extLst xmlns:a="http://schemas.openxmlformats.org/drawingml/2006/main">
              <a:ext uri="{FF2B5EF4-FFF2-40B4-BE49-F238E27FC236}">
                <a16:creationId xmlns:a16="http://schemas.microsoft.com/office/drawing/2014/main" id="{62E83D0D-281B-4F3B-8F6D-1F0B9D2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 xmlns:a="http://schemas.openxmlformats.org/drawingml/2006/main">
              <a:ext uri="{FF2B5EF4-FFF2-40B4-BE49-F238E27FC236}">
                <a16:creationId xmlns:a16="http://schemas.microsoft.com/office/drawing/2014/main" id="{4FD24BE9-142F-48FB-B16F-09D116130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65ec4db6b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311261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11" name="想い文3">
            <a:extLst xmlns:a="http://schemas.openxmlformats.org/drawingml/2006/main">
              <a:ext uri="{FF2B5EF4-FFF2-40B4-BE49-F238E27FC236}">
                <a16:creationId xmlns:a16="http://schemas.microsoft.com/office/drawing/2014/main" id="{4F3E8182-10BA-4495-9AFC-F32A977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応募結果を記録し、次の提案に活かせる</a:t>
            </a:r>
            <a:endParaRPr sz="1800"/>
          </a:p>
        </p:txBody>
      </p:sp>
      <p:sp>
        <p:nvSpPr>
          <p:cNvPr id="12" name="経験帯">
            <a:extLst xmlns:a="http://schemas.openxmlformats.org/drawingml/2006/main">
              <a:ext uri="{FF2B5EF4-FFF2-40B4-BE49-F238E27FC236}">
                <a16:creationId xmlns:a16="http://schemas.microsoft.com/office/drawing/2014/main" id="{95EEB37B-8FCA-4CCB-878F-E7915C9D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 xmlns:a="http://schemas.openxmlformats.org/drawingml/2006/main">
              <a:ext uri="{FF2B5EF4-FFF2-40B4-BE49-F238E27FC236}">
                <a16:creationId xmlns:a16="http://schemas.microsoft.com/office/drawing/2014/main" id="{97AAE8E1-DDA7-446A-A568-22A39FC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エンジニアとして15年以上の経験をもとに構想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2C085C8-E587-4DF8-B25A-06207EC2A7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1438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545AB9-3814-4388-93B0-B71BF608F89D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みなさまが直面する4つの機会損失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C95E26-366E-4617-A71B-FA18106AC6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悩み0カード">
            <a:extLst xmlns:a="http://schemas.openxmlformats.org/drawingml/2006/main">
              <a:ext uri="{FF2B5EF4-FFF2-40B4-BE49-F238E27FC236}">
                <a16:creationId xmlns:a16="http://schemas.microsoft.com/office/drawing/2014/main" id="{AB880AF1-7071-48A5-A7F2-8E0B8DA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悩み0円">
            <a:extLst xmlns:a="http://schemas.openxmlformats.org/drawingml/2006/main">
              <a:ext uri="{FF2B5EF4-FFF2-40B4-BE49-F238E27FC236}">
                <a16:creationId xmlns:a16="http://schemas.microsoft.com/office/drawing/2014/main" id="{AEBF90E4-2CE1-443B-B605-121090E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悩み0アイコン">
            <a:extLst xmlns:a="http://schemas.openxmlformats.org/drawingml/2006/main">
              <a:ext uri="{FF2B5EF4-FFF2-40B4-BE49-F238E27FC236}">
                <a16:creationId xmlns:a16="http://schemas.microsoft.com/office/drawing/2014/main" id="{F5A6FB2C-106B-487C-A58C-ADF4D10F5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6d263c8cf4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悩み0題">
            <a:extLst xmlns:a="http://schemas.openxmlformats.org/drawingml/2006/main">
              <a:ext uri="{FF2B5EF4-FFF2-40B4-BE49-F238E27FC236}">
                <a16:creationId xmlns:a16="http://schemas.microsoft.com/office/drawing/2014/main" id="{3A132DE8-DD81-492B-A246-37B8F5ED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案件の選択肢が少ない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悩み0文">
            <a:extLst xmlns:a="http://schemas.openxmlformats.org/drawingml/2006/main">
              <a:ext uri="{FF2B5EF4-FFF2-40B4-BE49-F238E27FC236}">
                <a16:creationId xmlns:a16="http://schemas.microsoft.com/office/drawing/2014/main" id="{F7D43283-5920-4295-9179-D88C5DC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案件は個別に待つしかなく、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合う案件に出会いにくい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悩み1カード">
            <a:extLst xmlns:a="http://schemas.openxmlformats.org/drawingml/2006/main">
              <a:ext uri="{FF2B5EF4-FFF2-40B4-BE49-F238E27FC236}">
                <a16:creationId xmlns:a16="http://schemas.microsoft.com/office/drawing/2014/main" id="{4E837392-105A-46F2-B247-62F73FB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悩み1円">
            <a:extLst xmlns:a="http://schemas.openxmlformats.org/drawingml/2006/main">
              <a:ext uri="{FF2B5EF4-FFF2-40B4-BE49-F238E27FC236}">
                <a16:creationId xmlns:a16="http://schemas.microsoft.com/office/drawing/2014/main" id="{548D8F87-2392-4563-B855-ABD2723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悩み1アイコン">
            <a:extLst xmlns:a="http://schemas.openxmlformats.org/drawingml/2006/main">
              <a:ext uri="{FF2B5EF4-FFF2-40B4-BE49-F238E27FC236}">
                <a16:creationId xmlns:a16="http://schemas.microsoft.com/office/drawing/2014/main" id="{8329A091-2059-4AB5-BA09-02624CFD28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ccde457a247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悩み1題">
            <a:extLst xmlns:a="http://schemas.openxmlformats.org/drawingml/2006/main">
              <a:ext uri="{FF2B5EF4-FFF2-40B4-BE49-F238E27FC236}">
                <a16:creationId xmlns:a16="http://schemas.microsoft.com/office/drawing/2014/main" id="{6CC98E58-15DE-4314-92B7-9F238B8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人が足りず、取りこぼす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悩み1文">
            <a:extLst xmlns:a="http://schemas.openxmlformats.org/drawingml/2006/main">
              <a:ext uri="{FF2B5EF4-FFF2-40B4-BE49-F238E27FC236}">
                <a16:creationId xmlns:a16="http://schemas.microsoft.com/office/drawing/2014/main" id="{A1F7574C-A5F9-4C93-94F1-D1A7CA9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せっかくの案件に、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出せるエンジニアがいない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悩み2カード">
            <a:extLst xmlns:a="http://schemas.openxmlformats.org/drawingml/2006/main">
              <a:ext uri="{FF2B5EF4-FFF2-40B4-BE49-F238E27FC236}">
                <a16:creationId xmlns:a16="http://schemas.microsoft.com/office/drawing/2014/main" id="{140454E9-B2E1-48D8-8E97-2DD54F2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悩み2円">
            <a:extLst xmlns:a="http://schemas.openxmlformats.org/drawingml/2006/main">
              <a:ext uri="{FF2B5EF4-FFF2-40B4-BE49-F238E27FC236}">
                <a16:creationId xmlns:a16="http://schemas.microsoft.com/office/drawing/2014/main" id="{382C0F04-4D18-478E-9B45-9A78951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7" name="悩み2アイコン">
            <a:extLst xmlns:a="http://schemas.openxmlformats.org/drawingml/2006/main">
              <a:ext uri="{FF2B5EF4-FFF2-40B4-BE49-F238E27FC236}">
                <a16:creationId xmlns:a16="http://schemas.microsoft.com/office/drawing/2014/main" id="{B11AD8B5-ABD8-46A6-9236-6164545BC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e22469c5f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悩み2題">
            <a:extLst xmlns:a="http://schemas.openxmlformats.org/drawingml/2006/main">
              <a:ext uri="{FF2B5EF4-FFF2-40B4-BE49-F238E27FC236}">
                <a16:creationId xmlns:a16="http://schemas.microsoft.com/office/drawing/2014/main" id="{19434B8F-674A-4E08-8E33-A4291CA7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書類・面談で落ちる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9" name="悩み2文">
            <a:extLst xmlns:a="http://schemas.openxmlformats.org/drawingml/2006/main">
              <a:ext uri="{FF2B5EF4-FFF2-40B4-BE49-F238E27FC236}">
                <a16:creationId xmlns:a16="http://schemas.microsoft.com/office/drawing/2014/main" id="{3008BC41-F0AE-4C1C-B4C6-E39AACD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スキルシートや受け答えの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準備が追いつかない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0" name="悩み3カード">
            <a:extLst xmlns:a="http://schemas.openxmlformats.org/drawingml/2006/main">
              <a:ext uri="{FF2B5EF4-FFF2-40B4-BE49-F238E27FC236}">
                <a16:creationId xmlns:a16="http://schemas.microsoft.com/office/drawing/2014/main" id="{87060EAA-1FB1-4345-AEC3-7B8FC5A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悩み3円">
            <a:extLst xmlns:a="http://schemas.openxmlformats.org/drawingml/2006/main">
              <a:ext uri="{FF2B5EF4-FFF2-40B4-BE49-F238E27FC236}">
                <a16:creationId xmlns:a16="http://schemas.microsoft.com/office/drawing/2014/main" id="{D1198070-20D7-479C-8943-7A78019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悩み3アイコン">
            <a:extLst xmlns:a="http://schemas.openxmlformats.org/drawingml/2006/main">
              <a:ext uri="{FF2B5EF4-FFF2-40B4-BE49-F238E27FC236}">
                <a16:creationId xmlns:a16="http://schemas.microsoft.com/office/drawing/2014/main" id="{F297B3D4-415E-4729-A50D-F11CBF6B8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77a395217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悩み3題">
            <a:extLst xmlns:a="http://schemas.openxmlformats.org/drawingml/2006/main">
              <a:ext uri="{FF2B5EF4-FFF2-40B4-BE49-F238E27FC236}">
                <a16:creationId xmlns:a16="http://schemas.microsoft.com/office/drawing/2014/main" id="{8CE6F708-06AE-40E3-BAE1-635226F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ノウハウがたまらない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4" name="悩み3文">
            <a:extLst xmlns:a="http://schemas.openxmlformats.org/drawingml/2006/main">
              <a:ext uri="{FF2B5EF4-FFF2-40B4-BE49-F238E27FC236}">
                <a16:creationId xmlns:a16="http://schemas.microsoft.com/office/drawing/2014/main" id="{A22147E1-F2E6-43E0-AF0B-A235105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落ちた理由も、通った型も、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社内に残らない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5" name="解決帯">
            <a:extLst xmlns:a="http://schemas.openxmlformats.org/drawingml/2006/main">
              <a:ext uri="{FF2B5EF4-FFF2-40B4-BE49-F238E27FC236}">
                <a16:creationId xmlns:a16="http://schemas.microsoft.com/office/drawing/2014/main" id="{667F6612-73B3-466A-97A0-6CC7897C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案件・人材・応募支援をつなぐ仕組みをご提案します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5829284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01EE16-739E-4555-BF6A-D1D7781E683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応募から成約までの準備と効果検証を支援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D05FC1-8A33-420C-80FC-3E7F2053C49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14" name="グラフ注記">
            <a:extLst xmlns:a="http://schemas.openxmlformats.org/drawingml/2006/main">
              <a:ext uri="{FF2B5EF4-FFF2-40B4-BE49-F238E27FC236}">
                <a16:creationId xmlns:a16="http://schemas.microsoft.com/office/drawing/2014/main" id="{70FF0310-5289-435C-95D2-E2BF688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3000"/>
            <a:ext cx="3251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導入前後の実績を比較し、効果を確認します</a:t>
            </a:r>
            <a:endParaRPr sz="10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6" name="見出し今">
            <a:extLst xmlns:a="http://schemas.openxmlformats.org/drawingml/2006/main">
              <a:ext uri="{FF2B5EF4-FFF2-40B4-BE49-F238E27FC236}">
                <a16:creationId xmlns:a16="http://schemas.microsoft.com/office/drawing/2014/main" id="{BB023A56-10B7-4637-8576-3CB7DCD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92200"/>
            <a:ext cx="177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6E6E6E"/>
                </a:solidFill>
                <a:latin typeface="Meiryo"/>
                <a:ea typeface="Meiryo"/>
                <a:cs typeface="Meiryo"/>
              </a:rPr>
              <a:t>これまで</a:t>
            </a:r>
            <a:endParaRPr sz="1100" b="1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7" name="見出し後">
            <a:extLst xmlns:a="http://schemas.openxmlformats.org/drawingml/2006/main">
              <a:ext uri="{FF2B5EF4-FFF2-40B4-BE49-F238E27FC236}">
                <a16:creationId xmlns:a16="http://schemas.microsoft.com/office/drawing/2014/main" id="{30105586-D882-43D6-B605-63984EC1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92200"/>
            <a:ext cx="2743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このシステムで</a:t>
            </a:r>
            <a:endParaRPr sz="11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今0">
            <a:extLst xmlns:a="http://schemas.openxmlformats.org/drawingml/2006/main">
              <a:ext uri="{FF2B5EF4-FFF2-40B4-BE49-F238E27FC236}">
                <a16:creationId xmlns:a16="http://schemas.microsoft.com/office/drawing/2014/main" id="{297359FC-47BE-4700-AB42-982DEEAD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462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合わない人を出す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改善矢印0">
            <a:extLst xmlns:a="http://schemas.openxmlformats.org/drawingml/2006/main">
              <a:ext uri="{FF2B5EF4-FFF2-40B4-BE49-F238E27FC236}">
                <a16:creationId xmlns:a16="http://schemas.microsoft.com/office/drawing/2014/main" id="{F1238645-45B8-49DF-9B1E-F3CEAEA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5113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後0">
            <a:extLst xmlns:a="http://schemas.openxmlformats.org/drawingml/2006/main">
              <a:ext uri="{FF2B5EF4-FFF2-40B4-BE49-F238E27FC236}">
                <a16:creationId xmlns:a16="http://schemas.microsoft.com/office/drawing/2014/main" id="{75EEF49C-08CB-4069-A362-B247486D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3462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後0円">
            <a:extLst xmlns:a="http://schemas.openxmlformats.org/drawingml/2006/main">
              <a:ext uri="{FF2B5EF4-FFF2-40B4-BE49-F238E27FC236}">
                <a16:creationId xmlns:a16="http://schemas.microsoft.com/office/drawing/2014/main" id="{FA36D012-11D6-4E79-BF35-1F21E84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43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3" name="後0アイコン">
            <a:extLst xmlns:a="http://schemas.openxmlformats.org/drawingml/2006/main">
              <a:ext uri="{FF2B5EF4-FFF2-40B4-BE49-F238E27FC236}">
                <a16:creationId xmlns:a16="http://schemas.microsoft.com/office/drawing/2014/main" id="{48EB3C60-F989-4288-8C14-D9BF7E512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3b6bf6e1e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367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22" name="後0文">
            <a:extLst xmlns:a="http://schemas.openxmlformats.org/drawingml/2006/main">
              <a:ext uri="{FF2B5EF4-FFF2-40B4-BE49-F238E27FC236}">
                <a16:creationId xmlns:a16="http://schemas.microsoft.com/office/drawing/2014/main" id="{D104406B-CAAB-48E3-8E52-C29DFFF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461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いちばん合う人を選ぶ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今1">
            <a:extLst xmlns:a="http://schemas.openxmlformats.org/drawingml/2006/main">
              <a:ext uri="{FF2B5EF4-FFF2-40B4-BE49-F238E27FC236}">
                <a16:creationId xmlns:a16="http://schemas.microsoft.com/office/drawing/2014/main" id="{05F9261A-7B28-4514-A221-B4A68F6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66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書類で落ちる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改善矢印1">
            <a:extLst xmlns:a="http://schemas.openxmlformats.org/drawingml/2006/main">
              <a:ext uri="{FF2B5EF4-FFF2-40B4-BE49-F238E27FC236}">
                <a16:creationId xmlns:a16="http://schemas.microsoft.com/office/drawing/2014/main" id="{1354B2EA-7A42-4DE9-9A0F-D028972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1717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後1">
            <a:extLst xmlns:a="http://schemas.openxmlformats.org/drawingml/2006/main">
              <a:ext uri="{FF2B5EF4-FFF2-40B4-BE49-F238E27FC236}">
                <a16:creationId xmlns:a16="http://schemas.microsoft.com/office/drawing/2014/main" id="{F2513FAB-F60A-4294-9F71-D318698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0066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後1円">
            <a:extLst xmlns:a="http://schemas.openxmlformats.org/drawingml/2006/main">
              <a:ext uri="{FF2B5EF4-FFF2-40B4-BE49-F238E27FC236}">
                <a16:creationId xmlns:a16="http://schemas.microsoft.com/office/drawing/2014/main" id="{170D8CA6-34BE-4C7D-8C61-98478749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後1アイコン">
            <a:extLst xmlns:a="http://schemas.openxmlformats.org/drawingml/2006/main">
              <a:ext uri="{FF2B5EF4-FFF2-40B4-BE49-F238E27FC236}">
                <a16:creationId xmlns:a16="http://schemas.microsoft.com/office/drawing/2014/main" id="{D0FF3086-8B2E-45A9-AECF-EF91A3A62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5739cbe55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1971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0" name="後1文">
            <a:extLst xmlns:a="http://schemas.openxmlformats.org/drawingml/2006/main">
              <a:ext uri="{FF2B5EF4-FFF2-40B4-BE49-F238E27FC236}">
                <a16:creationId xmlns:a16="http://schemas.microsoft.com/office/drawing/2014/main" id="{5864A1DD-9C12-4F22-848E-80A3BE6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65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理想のスキルシートを作る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1" name="今2">
            <a:extLst xmlns:a="http://schemas.openxmlformats.org/drawingml/2006/main">
              <a:ext uri="{FF2B5EF4-FFF2-40B4-BE49-F238E27FC236}">
                <a16:creationId xmlns:a16="http://schemas.microsoft.com/office/drawing/2014/main" id="{D5E0CBCA-504A-4F2A-864D-439BEBC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面談で落ちる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2" name="改善矢印2">
            <a:extLst xmlns:a="http://schemas.openxmlformats.org/drawingml/2006/main">
              <a:ext uri="{FF2B5EF4-FFF2-40B4-BE49-F238E27FC236}">
                <a16:creationId xmlns:a16="http://schemas.microsoft.com/office/drawing/2014/main" id="{8A3DF1A3-7859-48AD-85F9-831030A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8321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後2">
            <a:extLst xmlns:a="http://schemas.openxmlformats.org/drawingml/2006/main">
              <a:ext uri="{FF2B5EF4-FFF2-40B4-BE49-F238E27FC236}">
                <a16:creationId xmlns:a16="http://schemas.microsoft.com/office/drawing/2014/main" id="{510AAF63-57E2-4FFF-B85A-5AC1229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670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後2円">
            <a:extLst xmlns:a="http://schemas.openxmlformats.org/drawingml/2006/main">
              <a:ext uri="{FF2B5EF4-FFF2-40B4-BE49-F238E27FC236}">
                <a16:creationId xmlns:a16="http://schemas.microsoft.com/office/drawing/2014/main" id="{A0836E6A-7118-46EF-B309-8CE5FF7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755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5" name="後2アイコン">
            <a:extLst xmlns:a="http://schemas.openxmlformats.org/drawingml/2006/main">
              <a:ext uri="{FF2B5EF4-FFF2-40B4-BE49-F238E27FC236}">
                <a16:creationId xmlns:a16="http://schemas.microsoft.com/office/drawing/2014/main" id="{481E918D-AF9B-4478-979E-AAF222E76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cb957f896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8575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6" name="後2文">
            <a:extLst xmlns:a="http://schemas.openxmlformats.org/drawingml/2006/main">
              <a:ext uri="{FF2B5EF4-FFF2-40B4-BE49-F238E27FC236}">
                <a16:creationId xmlns:a16="http://schemas.microsoft.com/office/drawing/2014/main" id="{1DAA7AA3-7A46-4F6E-AE43-9F36127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69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面談対策の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Q&amp;A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で準備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7" name="今3">
            <a:extLst xmlns:a="http://schemas.openxmlformats.org/drawingml/2006/main">
              <a:ext uri="{FF2B5EF4-FFF2-40B4-BE49-F238E27FC236}">
                <a16:creationId xmlns:a16="http://schemas.microsoft.com/office/drawing/2014/main" id="{7B551BC5-6F03-4F3F-93BD-08E54B7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74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落ちた理由が残らない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8" name="改善矢印3">
            <a:extLst xmlns:a="http://schemas.openxmlformats.org/drawingml/2006/main">
              <a:ext uri="{FF2B5EF4-FFF2-40B4-BE49-F238E27FC236}">
                <a16:creationId xmlns:a16="http://schemas.microsoft.com/office/drawing/2014/main" id="{30B71788-0862-49F4-890F-7EF92B4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492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後3">
            <a:extLst xmlns:a="http://schemas.openxmlformats.org/drawingml/2006/main">
              <a:ext uri="{FF2B5EF4-FFF2-40B4-BE49-F238E27FC236}">
                <a16:creationId xmlns:a16="http://schemas.microsoft.com/office/drawing/2014/main" id="{08FD2501-E7A1-4AC8-A510-FED8634E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3274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後3円">
            <a:extLst xmlns:a="http://schemas.openxmlformats.org/drawingml/2006/main">
              <a:ext uri="{FF2B5EF4-FFF2-40B4-BE49-F238E27FC236}">
                <a16:creationId xmlns:a16="http://schemas.microsoft.com/office/drawing/2014/main" id="{93E0FD99-AEA2-4189-ABDE-B5B9881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416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1" name="後3アイコン">
            <a:extLst xmlns:a="http://schemas.openxmlformats.org/drawingml/2006/main">
              <a:ext uri="{FF2B5EF4-FFF2-40B4-BE49-F238E27FC236}">
                <a16:creationId xmlns:a16="http://schemas.microsoft.com/office/drawing/2014/main" id="{94F2F475-FB96-448E-A5C0-94EA507E2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491d32af1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5179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42" name="後3文">
            <a:extLst xmlns:a="http://schemas.openxmlformats.org/drawingml/2006/main">
              <a:ext uri="{FF2B5EF4-FFF2-40B4-BE49-F238E27FC236}">
                <a16:creationId xmlns:a16="http://schemas.microsoft.com/office/drawing/2014/main" id="{11986946-729A-48C8-B0AD-99EC3F8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73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結果をためて次に活かす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3" name="決まる帯">
            <a:extLst xmlns:a="http://schemas.openxmlformats.org/drawingml/2006/main">
              <a:ext uri="{FF2B5EF4-FFF2-40B4-BE49-F238E27FC236}">
                <a16:creationId xmlns:a16="http://schemas.microsoft.com/office/drawing/2014/main" id="{F3FB01FB-13B2-4115-9E45-A6CC978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8229600" cy="508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応募数・面談数・成約数を記録して検証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成約率ラベル">
            <a:extLst xmlns:a="http://schemas.openxmlformats.org/drawingml/2006/main">
              <a:ext uri="{FF2B5EF4-FFF2-40B4-BE49-F238E27FC236}">
                <a16:creationId xmlns:a16="http://schemas.microsoft.com/office/drawing/2014/main" id="{D9000E45-0CD3-4965-B6D6-C6D9559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25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効果測定の指標</a:t>
            </a:r>
            <a:endParaRPr sz="12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" name="成約率数字">
            <a:extLst xmlns:a="http://schemas.openxmlformats.org/drawingml/2006/main">
              <a:ext uri="{FF2B5EF4-FFF2-40B4-BE49-F238E27FC236}">
                <a16:creationId xmlns:a16="http://schemas.microsoft.com/office/drawing/2014/main" id="{318B5CE5-D92A-4153-8430-411D47C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25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成約までを計測</a:t>
            </a:r>
            <a:endParaRPr sz="14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4" name="測定項目">
            <a:extLst xmlns:a="http://schemas.openxmlformats.org/drawingml/2006/main">
              <a:ext uri="{FF2B5EF4-FFF2-40B4-BE49-F238E27FC236}">
                <a16:creationId xmlns:a16="http://schemas.microsoft.com/office/drawing/2014/main" id="{B453735C-B472-4CB2-86A5-264C3CC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25116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応募数・応募率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面談設定数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成約数・成約率</a:t>
            </a:r>
          </a:p>
        </p:txBody>
      </p:sp>
    </p:spTree>
    <p:extLst>
      <p:ext uri="{BB962C8B-B14F-4D97-AF65-F5344CB8AC3E}">
        <p14:creationId xmlns:p14="http://schemas.microsoft.com/office/powerpoint/2010/main" val="2081789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50A9ED-1A23-48EC-918B-5D48316DFBD7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案件選択と応募準備の画面</a:t>
            </a:r>
            <a:endParaRPr sz="28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E8792DE-B8C9-48FE-ADC8-3F1099C89B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36" name="画面フレーム">
            <a:extLst xmlns:a="http://schemas.openxmlformats.org/drawingml/2006/main">
              <a:ext uri="{FF2B5EF4-FFF2-40B4-BE49-F238E27FC236}">
                <a16:creationId xmlns:a16="http://schemas.microsoft.com/office/drawing/2014/main" id="{734C970E-715B-4932-BBCF-3BE614C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E9F5"/>
            </a:solidFill>
            <a:prstDash val="solid"/>
          </a:ln>
        </p:spPr>
      </p:sp>
      <p:sp>
        <p:nvSpPr>
          <p:cNvPr id="37" name="アプリヘッダー">
            <a:extLst xmlns:a="http://schemas.openxmlformats.org/drawingml/2006/main">
              <a:ext uri="{FF2B5EF4-FFF2-40B4-BE49-F238E27FC236}">
                <a16:creationId xmlns:a16="http://schemas.microsoft.com/office/drawing/2014/main" id="{836BF9A9-6316-4A8C-8953-78640CF7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solidFill>
              <a:srgbClr val="2B4A6F"/>
            </a:solidFill>
            <a:prstDash val="solid"/>
          </a:ln>
        </p:spPr>
      </p:sp>
      <p:sp>
        <p:nvSpPr>
          <p:cNvPr id="38" name="ブランド名">
            <a:extLst xmlns:a="http://schemas.openxmlformats.org/drawingml/2006/main">
              <a:ext uri="{FF2B5EF4-FFF2-40B4-BE49-F238E27FC236}">
                <a16:creationId xmlns:a16="http://schemas.microsoft.com/office/drawing/2014/main" id="{EB7F9F09-70E1-42D8-BDA9-B1839224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Parks</a:t>
            </a:r>
          </a:p>
        </p:txBody>
      </p:sp>
      <p:sp>
        <p:nvSpPr>
          <p:cNvPr id="39" name="メニュー案件">
            <a:extLst xmlns:a="http://schemas.openxmlformats.org/drawingml/2006/main">
              <a:ext uri="{FF2B5EF4-FFF2-40B4-BE49-F238E27FC236}">
                <a16:creationId xmlns:a16="http://schemas.microsoft.com/office/drawing/2014/main" id="{1EBB4484-DD87-47BB-9387-8C638D2F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001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案件一覧</a:t>
            </a:r>
          </a:p>
        </p:txBody>
      </p:sp>
      <p:sp>
        <p:nvSpPr>
          <p:cNvPr id="40" name="メニュー人材">
            <a:extLst xmlns:a="http://schemas.openxmlformats.org/drawingml/2006/main">
              <a:ext uri="{FF2B5EF4-FFF2-40B4-BE49-F238E27FC236}">
                <a16:creationId xmlns:a16="http://schemas.microsoft.com/office/drawing/2014/main" id="{E03D72AB-6BFA-4342-A6E7-471A305F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001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人材情報</a:t>
            </a:r>
          </a:p>
        </p:txBody>
      </p:sp>
      <p:sp>
        <p:nvSpPr>
          <p:cNvPr id="41" name="メニュー応募">
            <a:extLst xmlns:a="http://schemas.openxmlformats.org/drawingml/2006/main">
              <a:ext uri="{FF2B5EF4-FFF2-40B4-BE49-F238E27FC236}">
                <a16:creationId xmlns:a16="http://schemas.microsoft.com/office/drawing/2014/main" id="{C6E1F91C-47B7-4A38-A033-2BD2DCF8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001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応募状況</a:t>
            </a:r>
          </a:p>
        </p:txBody>
      </p:sp>
      <p:sp>
        <p:nvSpPr>
          <p:cNvPr id="42" name="利用者表示">
            <a:extLst xmlns:a="http://schemas.openxmlformats.org/drawingml/2006/main">
              <a:ext uri="{FF2B5EF4-FFF2-40B4-BE49-F238E27FC236}">
                <a16:creationId xmlns:a16="http://schemas.microsoft.com/office/drawing/2014/main" id="{D01B5317-D38B-4A21-81D1-D4EC9E8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みなさま</a:t>
            </a:r>
          </a:p>
        </p:txBody>
      </p:sp>
      <p:sp>
        <p:nvSpPr>
          <p:cNvPr id="43" name="サイドメニュー背景">
            <a:extLst xmlns:a="http://schemas.openxmlformats.org/drawingml/2006/main">
              <a:ext uri="{FF2B5EF4-FFF2-40B4-BE49-F238E27FC236}">
                <a16:creationId xmlns:a16="http://schemas.microsoft.com/office/drawing/2014/main" id="{884C456E-9BD3-4B89-B175-2E93AF6A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3811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選択メニュー背景">
            <a:extLst xmlns:a="http://schemas.openxmlformats.org/drawingml/2006/main">
              <a:ext uri="{FF2B5EF4-FFF2-40B4-BE49-F238E27FC236}">
                <a16:creationId xmlns:a16="http://schemas.microsoft.com/office/drawing/2014/main" id="{553C07CB-558A-4595-A96F-7DECB415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90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選択メニュー">
            <a:extLst xmlns:a="http://schemas.openxmlformats.org/drawingml/2006/main">
              <a:ext uri="{FF2B5EF4-FFF2-40B4-BE49-F238E27FC236}">
                <a16:creationId xmlns:a16="http://schemas.microsoft.com/office/drawing/2014/main" id="{7A049F39-E8C6-4A59-80EA-AFABC1B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案件一覧</a:t>
            </a:r>
          </a:p>
        </p:txBody>
      </p:sp>
      <p:sp>
        <p:nvSpPr>
          <p:cNvPr id="46" name="人材メニュー">
            <a:extLst xmlns:a="http://schemas.openxmlformats.org/drawingml/2006/main">
              <a:ext uri="{FF2B5EF4-FFF2-40B4-BE49-F238E27FC236}">
                <a16:creationId xmlns:a16="http://schemas.microsoft.com/office/drawing/2014/main" id="{DB93AB92-A0BB-4BC9-B25F-81F9CFE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エンジニア情報</a:t>
            </a:r>
          </a:p>
        </p:txBody>
      </p:sp>
      <p:sp>
        <p:nvSpPr>
          <p:cNvPr id="47" name="応募状況メニュー">
            <a:extLst xmlns:a="http://schemas.openxmlformats.org/drawingml/2006/main">
              <a:ext uri="{FF2B5EF4-FFF2-40B4-BE49-F238E27FC236}">
                <a16:creationId xmlns:a16="http://schemas.microsoft.com/office/drawing/2014/main" id="{B2382040-5783-440A-A043-1239C023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応募状況</a:t>
            </a:r>
          </a:p>
        </p:txBody>
      </p:sp>
      <p:sp>
        <p:nvSpPr>
          <p:cNvPr id="48" name="画面見出し">
            <a:extLst xmlns:a="http://schemas.openxmlformats.org/drawingml/2006/main">
              <a:ext uri="{FF2B5EF4-FFF2-40B4-BE49-F238E27FC236}">
                <a16:creationId xmlns:a16="http://schemas.microsoft.com/office/drawing/2014/main" id="{9C78EE1A-2E30-4217-AFE6-9EA5AC3E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案件の内容と人材候補</a:t>
            </a:r>
          </a:p>
        </p:txBody>
      </p:sp>
      <p:sp>
        <p:nvSpPr>
          <p:cNvPr id="49" name="画面説明">
            <a:extLst xmlns:a="http://schemas.openxmlformats.org/drawingml/2006/main">
              <a:ext uri="{FF2B5EF4-FFF2-40B4-BE49-F238E27FC236}">
                <a16:creationId xmlns:a16="http://schemas.microsoft.com/office/drawing/2014/main" id="{3C1D0FA1-911D-4525-88BC-8AF7FE5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764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案件条件を確認し、候補者を選びます</a:t>
            </a:r>
          </a:p>
        </p:txBody>
      </p:sp>
      <p:sp>
        <p:nvSpPr>
          <p:cNvPr id="50" name="案件詳細パネル">
            <a:extLst xmlns:a="http://schemas.openxmlformats.org/drawingml/2006/main">
              <a:ext uri="{FF2B5EF4-FFF2-40B4-BE49-F238E27FC236}">
                <a16:creationId xmlns:a16="http://schemas.microsoft.com/office/drawing/2014/main" id="{53AAB236-E123-4624-9338-B3D3CD10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52650"/>
            <a:ext cx="2057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51" name="案件ラベル">
            <a:extLst xmlns:a="http://schemas.openxmlformats.org/drawingml/2006/main">
              <a:ext uri="{FF2B5EF4-FFF2-40B4-BE49-F238E27FC236}">
                <a16:creationId xmlns:a16="http://schemas.microsoft.com/office/drawing/2014/main" id="{883A660C-797F-490A-A6E9-C9FE3FCE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47900"/>
            <a:ext cx="1790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選択中の案件</a:t>
            </a:r>
          </a:p>
        </p:txBody>
      </p:sp>
      <p:sp>
        <p:nvSpPr>
          <p:cNvPr id="52" name="案件タイトル">
            <a:extLst xmlns:a="http://schemas.openxmlformats.org/drawingml/2006/main">
              <a:ext uri="{FF2B5EF4-FFF2-40B4-BE49-F238E27FC236}">
                <a16:creationId xmlns:a16="http://schemas.microsoft.com/office/drawing/2014/main" id="{54FF9476-31E0-4C7A-907E-42555C72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050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案件内容を確認</a:t>
            </a:r>
          </a:p>
        </p:txBody>
      </p:sp>
      <p:sp>
        <p:nvSpPr>
          <p:cNvPr id="53" name="案件詳細説明">
            <a:extLst xmlns:a="http://schemas.openxmlformats.org/drawingml/2006/main">
              <a:ext uri="{FF2B5EF4-FFF2-40B4-BE49-F238E27FC236}">
                <a16:creationId xmlns:a16="http://schemas.microsoft.com/office/drawing/2014/main" id="{2F7872A4-DF2F-41AA-8671-41DA25B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仕事内容・募集条件</a:t>
            </a:r>
          </a:p>
          <a:p xmlns:a="http://schemas.openxmlformats.org/drawingml/2006/main"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必須スキルを確認</a:t>
            </a:r>
          </a:p>
        </p:txBody>
      </p:sp>
      <p:sp>
        <p:nvSpPr>
          <p:cNvPr id="54" name="人材候補ボタン">
            <a:extLst xmlns:a="http://schemas.openxmlformats.org/drawingml/2006/main">
              <a:ext uri="{FF2B5EF4-FFF2-40B4-BE49-F238E27FC236}">
                <a16:creationId xmlns:a16="http://schemas.microsoft.com/office/drawing/2014/main" id="{2915AF41-E51A-40E7-8840-61D18B4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95675"/>
            <a:ext cx="1790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人材候補ボタン文字">
            <a:extLst xmlns:a="http://schemas.openxmlformats.org/drawingml/2006/main">
              <a:ext uri="{FF2B5EF4-FFF2-40B4-BE49-F238E27FC236}">
                <a16:creationId xmlns:a16="http://schemas.microsoft.com/office/drawing/2014/main" id="{A7EA1470-8408-4A8B-B3C6-14F4C471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528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人材候補を見る</a:t>
            </a:r>
          </a:p>
        </p:txBody>
      </p:sp>
      <p:sp>
        <p:nvSpPr>
          <p:cNvPr id="56" name="候補者パネル">
            <a:extLst xmlns:a="http://schemas.openxmlformats.org/drawingml/2006/main">
              <a:ext uri="{FF2B5EF4-FFF2-40B4-BE49-F238E27FC236}">
                <a16:creationId xmlns:a16="http://schemas.microsoft.com/office/drawing/2014/main" id="{381FCA71-73D3-4A13-B953-7D649B1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4324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57" name="候補者見出し">
            <a:extLst xmlns:a="http://schemas.openxmlformats.org/drawingml/2006/main">
              <a:ext uri="{FF2B5EF4-FFF2-40B4-BE49-F238E27FC236}">
                <a16:creationId xmlns:a16="http://schemas.microsoft.com/office/drawing/2014/main" id="{DE01D7E2-3E00-40BA-90E4-F338B367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人材候補</a:t>
            </a:r>
          </a:p>
        </p:txBody>
      </p:sp>
      <p:sp>
        <p:nvSpPr>
          <p:cNvPr id="58" name="候補者説明">
            <a:extLst xmlns:a="http://schemas.openxmlformats.org/drawingml/2006/main">
              <a:ext uri="{FF2B5EF4-FFF2-40B4-BE49-F238E27FC236}">
                <a16:creationId xmlns:a16="http://schemas.microsoft.com/office/drawing/2014/main" id="{41486548-9873-4ABA-8FE1-225CE32D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288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経歴とスキルシートを確認</a:t>
            </a:r>
          </a:p>
        </p:txBody>
      </p:sp>
      <p:sp>
        <p:nvSpPr>
          <p:cNvPr id="59" name="候補者行1">
            <a:extLst xmlns:a="http://schemas.openxmlformats.org/drawingml/2006/main">
              <a:ext uri="{FF2B5EF4-FFF2-40B4-BE49-F238E27FC236}">
                <a16:creationId xmlns:a16="http://schemas.microsoft.com/office/drawing/2014/main" id="{1EF0AF04-7544-4023-A317-9F792AF1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40576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候補者選択1">
            <a:extLst xmlns:a="http://schemas.openxmlformats.org/drawingml/2006/main">
              <a:ext uri="{FF2B5EF4-FFF2-40B4-BE49-F238E27FC236}">
                <a16:creationId xmlns:a16="http://schemas.microsoft.com/office/drawing/2014/main" id="{331B4F4B-1708-4FEF-8973-FA4FCBBD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DB8DE"/>
            </a:solidFill>
            <a:prstDash val="solid"/>
          </a:ln>
        </p:spPr>
      </p:sp>
      <p:sp>
        <p:nvSpPr>
          <p:cNvPr id="61" name="候補者名1">
            <a:extLst xmlns:a="http://schemas.openxmlformats.org/drawingml/2006/main">
              <a:ext uri="{FF2B5EF4-FFF2-40B4-BE49-F238E27FC236}">
                <a16:creationId xmlns:a16="http://schemas.microsoft.com/office/drawing/2014/main" id="{557B5095-A08B-4D22-9147-D56481A1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81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A</a:t>
            </a:r>
          </a:p>
        </p:txBody>
      </p:sp>
      <p:sp>
        <p:nvSpPr>
          <p:cNvPr id="62" name="候補者情報1">
            <a:extLst xmlns:a="http://schemas.openxmlformats.org/drawingml/2006/main">
              <a:ext uri="{FF2B5EF4-FFF2-40B4-BE49-F238E27FC236}">
                <a16:creationId xmlns:a16="http://schemas.microsoft.com/office/drawing/2014/main" id="{73178A26-694A-4A59-8938-85CA4128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90800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63" name="候補者詳細1">
            <a:extLst xmlns:a="http://schemas.openxmlformats.org/drawingml/2006/main">
              <a:ext uri="{FF2B5EF4-FFF2-40B4-BE49-F238E27FC236}">
                <a16:creationId xmlns:a16="http://schemas.microsoft.com/office/drawing/2014/main" id="{285945F5-DFB1-4787-94CE-49957097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内容を見る</a:t>
            </a:r>
          </a:p>
        </p:txBody>
      </p:sp>
      <p:sp>
        <p:nvSpPr>
          <p:cNvPr id="64" name="候補者行2">
            <a:extLst xmlns:a="http://schemas.openxmlformats.org/drawingml/2006/main">
              <a:ext uri="{FF2B5EF4-FFF2-40B4-BE49-F238E27FC236}">
                <a16:creationId xmlns:a16="http://schemas.microsoft.com/office/drawing/2014/main" id="{1DD1AD16-3676-47F2-A097-5532504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24175"/>
            <a:ext cx="40576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8F1F9"/>
          </a:solidFill>
          <a:ln xmlns:a="http://schemas.openxmlformats.org/drawingml/2006/main" w="11430">
            <a:solidFill>
              <a:srgbClr val="4A7FB5"/>
            </a:solidFill>
            <a:prstDash val="solid"/>
          </a:ln>
        </p:spPr>
      </p:sp>
      <p:sp>
        <p:nvSpPr>
          <p:cNvPr id="65" name="候補者選択2">
            <a:extLst xmlns:a="http://schemas.openxmlformats.org/drawingml/2006/main">
              <a:ext uri="{FF2B5EF4-FFF2-40B4-BE49-F238E27FC236}">
                <a16:creationId xmlns:a16="http://schemas.microsoft.com/office/drawing/2014/main" id="{CBE591A0-1482-455C-96FA-A0F87C85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194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1430">
            <a:solidFill>
              <a:srgbClr val="4A7FB5"/>
            </a:solidFill>
            <a:prstDash val="solid"/>
          </a:ln>
        </p:spPr>
      </p:sp>
      <p:sp>
        <p:nvSpPr>
          <p:cNvPr id="66" name="候補者選択内2">
            <a:extLst xmlns:a="http://schemas.openxmlformats.org/drawingml/2006/main">
              <a:ext uri="{FF2B5EF4-FFF2-40B4-BE49-F238E27FC236}">
                <a16:creationId xmlns:a16="http://schemas.microsoft.com/office/drawing/2014/main" id="{85632058-6B2B-4891-B614-F311198B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67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候補者名2">
            <a:extLst xmlns:a="http://schemas.openxmlformats.org/drawingml/2006/main">
              <a:ext uri="{FF2B5EF4-FFF2-40B4-BE49-F238E27FC236}">
                <a16:creationId xmlns:a16="http://schemas.microsoft.com/office/drawing/2014/main" id="{90625AB5-7C69-4B7A-A351-FC18E5F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90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B</a:t>
            </a:r>
          </a:p>
        </p:txBody>
      </p:sp>
      <p:sp>
        <p:nvSpPr>
          <p:cNvPr id="68" name="候補者情報2">
            <a:extLst xmlns:a="http://schemas.openxmlformats.org/drawingml/2006/main">
              <a:ext uri="{FF2B5EF4-FFF2-40B4-BE49-F238E27FC236}">
                <a16:creationId xmlns:a16="http://schemas.microsoft.com/office/drawing/2014/main" id="{277A71AD-C05C-4B1E-8179-DA52DCDD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03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69" name="候補者詳細2">
            <a:extLst xmlns:a="http://schemas.openxmlformats.org/drawingml/2006/main">
              <a:ext uri="{FF2B5EF4-FFF2-40B4-BE49-F238E27FC236}">
                <a16:creationId xmlns:a16="http://schemas.microsoft.com/office/drawing/2014/main" id="{2B12645B-F745-4139-ABD5-BD51B21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0375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選択中</a:t>
            </a:r>
          </a:p>
        </p:txBody>
      </p:sp>
      <p:sp>
        <p:nvSpPr>
          <p:cNvPr id="70" name="候補者行3">
            <a:extLst xmlns:a="http://schemas.openxmlformats.org/drawingml/2006/main">
              <a:ext uri="{FF2B5EF4-FFF2-40B4-BE49-F238E27FC236}">
                <a16:creationId xmlns:a16="http://schemas.microsoft.com/office/drawing/2014/main" id="{6A1469E7-54F2-46B7-B67C-0B2A2371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40576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候補者選択3">
            <a:extLst xmlns:a="http://schemas.openxmlformats.org/drawingml/2006/main">
              <a:ext uri="{FF2B5EF4-FFF2-40B4-BE49-F238E27FC236}">
                <a16:creationId xmlns:a16="http://schemas.microsoft.com/office/drawing/2014/main" id="{5C211819-0A91-41E7-A521-80F60BDA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DB8DE"/>
            </a:solidFill>
            <a:prstDash val="solid"/>
          </a:ln>
        </p:spPr>
      </p:sp>
      <p:sp>
        <p:nvSpPr>
          <p:cNvPr id="72" name="候補者名3">
            <a:extLst xmlns:a="http://schemas.openxmlformats.org/drawingml/2006/main">
              <a:ext uri="{FF2B5EF4-FFF2-40B4-BE49-F238E27FC236}">
                <a16:creationId xmlns:a16="http://schemas.microsoft.com/office/drawing/2014/main" id="{919C9185-F639-455C-937B-98E477A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00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C</a:t>
            </a:r>
          </a:p>
        </p:txBody>
      </p:sp>
      <p:sp>
        <p:nvSpPr>
          <p:cNvPr id="73" name="候補者情報3">
            <a:extLst xmlns:a="http://schemas.openxmlformats.org/drawingml/2006/main">
              <a:ext uri="{FF2B5EF4-FFF2-40B4-BE49-F238E27FC236}">
                <a16:creationId xmlns:a16="http://schemas.microsoft.com/office/drawing/2014/main" id="{7D3B230F-8168-4352-A0A7-6C2F862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09950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74" name="候補者詳細3">
            <a:extLst xmlns:a="http://schemas.openxmlformats.org/drawingml/2006/main">
              <a:ext uri="{FF2B5EF4-FFF2-40B4-BE49-F238E27FC236}">
                <a16:creationId xmlns:a16="http://schemas.microsoft.com/office/drawing/2014/main" id="{B8457F8D-FAA8-4428-BAC5-EF8558BE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9950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内容を見る</a:t>
            </a:r>
          </a:p>
        </p:txBody>
      </p:sp>
      <p:sp>
        <p:nvSpPr>
          <p:cNvPr id="75" name="応募準備背景">
            <a:extLst xmlns:a="http://schemas.openxmlformats.org/drawingml/2006/main">
              <a:ext uri="{FF2B5EF4-FFF2-40B4-BE49-F238E27FC236}">
                <a16:creationId xmlns:a16="http://schemas.microsoft.com/office/drawing/2014/main" id="{797222F9-9C18-43DC-B8BC-BF70419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432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応募準備説明">
            <a:extLst xmlns:a="http://schemas.openxmlformats.org/drawingml/2006/main">
              <a:ext uri="{FF2B5EF4-FFF2-40B4-BE49-F238E27FC236}">
                <a16:creationId xmlns:a16="http://schemas.microsoft.com/office/drawing/2014/main" id="{837901DF-BC6F-4296-B3EF-40B1DDA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スキルシート・面談対策Q&amp;Aを確認</a:t>
            </a:r>
          </a:p>
        </p:txBody>
      </p:sp>
      <p:sp>
        <p:nvSpPr>
          <p:cNvPr id="77" name="応募準備ボタン">
            <a:extLst xmlns:a="http://schemas.openxmlformats.org/drawingml/2006/main">
              <a:ext uri="{FF2B5EF4-FFF2-40B4-BE49-F238E27FC236}">
                <a16:creationId xmlns:a16="http://schemas.microsoft.com/office/drawing/2014/main" id="{FB06FFB4-6BE3-4965-A72E-3EEAB05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05225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応募準備ボタン文字">
            <a:extLst xmlns:a="http://schemas.openxmlformats.org/drawingml/2006/main">
              <a:ext uri="{FF2B5EF4-FFF2-40B4-BE49-F238E27FC236}">
                <a16:creationId xmlns:a16="http://schemas.microsoft.com/office/drawing/2014/main" id="{50CD175A-4737-4EA8-A979-BEAE0692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応募準備へ</a:t>
            </a:r>
          </a:p>
        </p:txBody>
      </p:sp>
      <p:sp>
        <p:nvSpPr>
          <p:cNvPr id="79" name="画面イメージ注記">
            <a:extLst xmlns:a="http://schemas.openxmlformats.org/drawingml/2006/main">
              <a:ext uri="{FF2B5EF4-FFF2-40B4-BE49-F238E27FC236}">
                <a16:creationId xmlns:a16="http://schemas.microsoft.com/office/drawing/2014/main" id="{4E81FEF7-B3FF-4A82-9B7B-BEE6A20E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953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画面イメージ（提案段階）</a:t>
            </a:r>
          </a:p>
        </p:txBody>
      </p:sp>
      <p:sp>
        <p:nvSpPr>
          <p:cNvPr id="80" name="利用の流れ">
            <a:extLst xmlns:a="http://schemas.openxmlformats.org/drawingml/2006/main">
              <a:ext uri="{FF2B5EF4-FFF2-40B4-BE49-F238E27FC236}">
                <a16:creationId xmlns:a16="http://schemas.microsoft.com/office/drawing/2014/main" id="{38B41997-91E1-4990-8A46-F9D4D02B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みなさまが候補を選び、エンジニアはスキルシートと面談対策Q&amp;Aを確認して応募</a:t>
            </a: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741EA8-32C6-43C1-B815-FFD363A13902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案件と人材をつなぎ、グループで提案機会を広げる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A285F97-2B11-4344-8701-0F191D6CCDD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14" name="仲間0">
            <a:extLst xmlns:a="http://schemas.openxmlformats.org/drawingml/2006/main">
              <a:ext uri="{FF2B5EF4-FFF2-40B4-BE49-F238E27FC236}">
                <a16:creationId xmlns:a16="http://schemas.microsoft.com/office/drawing/2014/main" id="{25BC46A4-292E-40CB-9DA0-1BE12C87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5" name="仲間1">
            <a:extLst xmlns:a="http://schemas.openxmlformats.org/drawingml/2006/main">
              <a:ext uri="{FF2B5EF4-FFF2-40B4-BE49-F238E27FC236}">
                <a16:creationId xmlns:a16="http://schemas.microsoft.com/office/drawing/2014/main" id="{AE89B932-6BE9-49B8-B102-E089C2F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58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6" name="仲間2">
            <a:extLst xmlns:a="http://schemas.openxmlformats.org/drawingml/2006/main">
              <a:ext uri="{FF2B5EF4-FFF2-40B4-BE49-F238E27FC236}">
                <a16:creationId xmlns:a16="http://schemas.microsoft.com/office/drawing/2014/main" id="{6817C1F1-F7AE-4F73-9FB1-47ED838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4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7" name="結束矢印1">
            <a:extLst xmlns:a="http://schemas.openxmlformats.org/drawingml/2006/main">
              <a:ext uri="{FF2B5EF4-FFF2-40B4-BE49-F238E27FC236}">
                <a16:creationId xmlns:a16="http://schemas.microsoft.com/office/drawing/2014/main" id="{D9ADB216-589B-41A3-A9F0-0A887CE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GP円">
            <a:extLst xmlns:a="http://schemas.openxmlformats.org/drawingml/2006/main">
              <a:ext uri="{FF2B5EF4-FFF2-40B4-BE49-F238E27FC236}">
                <a16:creationId xmlns:a16="http://schemas.microsoft.com/office/drawing/2014/main" id="{E97364F5-BAD7-45A6-BCE3-5A6C12E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sz="9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結束矢印2">
            <a:extLst xmlns:a="http://schemas.openxmlformats.org/drawingml/2006/main">
              <a:ext uri="{FF2B5EF4-FFF2-40B4-BE49-F238E27FC236}">
                <a16:creationId xmlns:a16="http://schemas.microsoft.com/office/drawing/2014/main" id="{916296A9-F836-4237-88D3-83C66659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案件0">
            <a:extLst xmlns:a="http://schemas.openxmlformats.org/drawingml/2006/main">
              <a:ext uri="{FF2B5EF4-FFF2-40B4-BE49-F238E27FC236}">
                <a16:creationId xmlns:a16="http://schemas.microsoft.com/office/drawing/2014/main" id="{C0183C29-D0F3-4074-92D3-0F7CC9E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1684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案件1">
            <a:extLst xmlns:a="http://schemas.openxmlformats.org/drawingml/2006/main">
              <a:ext uri="{FF2B5EF4-FFF2-40B4-BE49-F238E27FC236}">
                <a16:creationId xmlns:a16="http://schemas.microsoft.com/office/drawing/2014/main" id="{F151A781-B5DB-47D0-97DA-EFC4D4F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7272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2" name="案件2">
            <a:extLst xmlns:a="http://schemas.openxmlformats.org/drawingml/2006/main">
              <a:ext uri="{FF2B5EF4-FFF2-40B4-BE49-F238E27FC236}">
                <a16:creationId xmlns:a16="http://schemas.microsoft.com/office/drawing/2014/main" id="{1FFD0150-9D14-42BE-95D8-FBC2F60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2860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案件3">
            <a:extLst xmlns:a="http://schemas.openxmlformats.org/drawingml/2006/main">
              <a:ext uri="{FF2B5EF4-FFF2-40B4-BE49-F238E27FC236}">
                <a16:creationId xmlns:a16="http://schemas.microsoft.com/office/drawing/2014/main" id="{7241A846-F2A1-4786-ABA7-D8A5AFE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8448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結束説明">
            <a:extLst xmlns:a="http://schemas.openxmlformats.org/drawingml/2006/main">
              <a:ext uri="{FF2B5EF4-FFF2-40B4-BE49-F238E27FC236}">
                <a16:creationId xmlns:a16="http://schemas.microsoft.com/office/drawing/2014/main" id="{811D1F66-5C6D-4083-B55C-CE624A5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0599"/>
            <a:ext cx="4394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みなさまの案件と人材を、グループ内で共有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利点0">
            <a:extLst xmlns:a="http://schemas.openxmlformats.org/drawingml/2006/main">
              <a:ext uri="{FF2B5EF4-FFF2-40B4-BE49-F238E27FC236}">
                <a16:creationId xmlns:a16="http://schemas.microsoft.com/office/drawing/2014/main" id="{6E10B4A9-6611-4CFC-983F-83B761B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1684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利点0円">
            <a:extLst xmlns:a="http://schemas.openxmlformats.org/drawingml/2006/main">
              <a:ext uri="{FF2B5EF4-FFF2-40B4-BE49-F238E27FC236}">
                <a16:creationId xmlns:a16="http://schemas.microsoft.com/office/drawing/2014/main" id="{FBBD6D11-40EA-4DE9-A724-3FE4095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129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利点0アイコン">
            <a:extLst xmlns:a="http://schemas.openxmlformats.org/drawingml/2006/main">
              <a:ext uri="{FF2B5EF4-FFF2-40B4-BE49-F238E27FC236}">
                <a16:creationId xmlns:a16="http://schemas.microsoft.com/office/drawing/2014/main" id="{CB44EFBC-E970-48ED-B63A-0BEBF8E775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10b06c2a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4160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29" name="利点0文">
            <a:extLst xmlns:a="http://schemas.openxmlformats.org/drawingml/2006/main">
              <a:ext uri="{FF2B5EF4-FFF2-40B4-BE49-F238E27FC236}">
                <a16:creationId xmlns:a16="http://schemas.microsoft.com/office/drawing/2014/main" id="{1430FF79-4012-4724-AA29-0DCA28A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11683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単独では難しい案件も、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みなさまで協力して提案</a:t>
            </a:r>
          </a:p>
        </p:txBody>
      </p:sp>
      <p:sp>
        <p:nvSpPr>
          <p:cNvPr id="30" name="利点1">
            <a:extLst xmlns:a="http://schemas.openxmlformats.org/drawingml/2006/main">
              <a:ext uri="{FF2B5EF4-FFF2-40B4-BE49-F238E27FC236}">
                <a16:creationId xmlns:a16="http://schemas.microsoft.com/office/drawing/2014/main" id="{D01200A4-E1BB-400F-96F8-F54E780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0066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利点1円">
            <a:extLst xmlns:a="http://schemas.openxmlformats.org/drawingml/2006/main">
              <a:ext uri="{FF2B5EF4-FFF2-40B4-BE49-F238E27FC236}">
                <a16:creationId xmlns:a16="http://schemas.microsoft.com/office/drawing/2014/main" id="{77231901-DBC3-4348-B52D-5156717A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利点1アイコン">
            <a:extLst xmlns:a="http://schemas.openxmlformats.org/drawingml/2006/main">
              <a:ext uri="{FF2B5EF4-FFF2-40B4-BE49-F238E27FC236}">
                <a16:creationId xmlns:a16="http://schemas.microsoft.com/office/drawing/2014/main" id="{2C348285-B527-4EAE-8207-3CFFB83D2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13eb07d444c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2542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3" name="利点1文">
            <a:extLst xmlns:a="http://schemas.openxmlformats.org/drawingml/2006/main">
              <a:ext uri="{FF2B5EF4-FFF2-40B4-BE49-F238E27FC236}">
                <a16:creationId xmlns:a16="http://schemas.microsoft.com/office/drawing/2014/main" id="{F1DEE283-0F56-43C0-B91B-E9C0A31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0065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人材が不足する案件も、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仲間の人材と組んで提案</a:t>
            </a:r>
          </a:p>
        </p:txBody>
      </p:sp>
      <p:sp>
        <p:nvSpPr>
          <p:cNvPr id="34" name="利点2">
            <a:extLst xmlns:a="http://schemas.openxmlformats.org/drawingml/2006/main">
              <a:ext uri="{FF2B5EF4-FFF2-40B4-BE49-F238E27FC236}">
                <a16:creationId xmlns:a16="http://schemas.microsoft.com/office/drawing/2014/main" id="{7AD63BF7-F738-4D07-965B-1E71C8D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448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利点2円">
            <a:extLst xmlns:a="http://schemas.openxmlformats.org/drawingml/2006/main">
              <a:ext uri="{FF2B5EF4-FFF2-40B4-BE49-F238E27FC236}">
                <a16:creationId xmlns:a16="http://schemas.microsoft.com/office/drawing/2014/main" id="{E9F4EE69-4A8C-4C31-AAC4-18C2F1D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" name="利点2アイコン">
            <a:extLst xmlns:a="http://schemas.openxmlformats.org/drawingml/2006/main">
              <a:ext uri="{FF2B5EF4-FFF2-40B4-BE49-F238E27FC236}">
                <a16:creationId xmlns:a16="http://schemas.microsoft.com/office/drawing/2014/main" id="{1D796BA9-17F0-434B-9852-8D8AAB4A3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4500660ef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30924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7" name="利点2文">
            <a:extLst xmlns:a="http://schemas.openxmlformats.org/drawingml/2006/main">
              <a:ext uri="{FF2B5EF4-FFF2-40B4-BE49-F238E27FC236}">
                <a16:creationId xmlns:a16="http://schemas.microsoft.com/office/drawing/2014/main" id="{1B7E737C-4B3F-475B-8424-4CE3A15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8447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成約実績を重ね、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グループへの信頼を育てる</a:t>
            </a:r>
          </a:p>
        </p:txBody>
      </p:sp>
      <p:sp>
        <p:nvSpPr>
          <p:cNvPr id="38" name="結束帯">
            <a:extLst xmlns:a="http://schemas.openxmlformats.org/drawingml/2006/main">
              <a:ext uri="{FF2B5EF4-FFF2-40B4-BE49-F238E27FC236}">
                <a16:creationId xmlns:a16="http://schemas.microsoft.com/office/drawing/2014/main" id="{0CDBE450-E80B-46A3-89A2-D3C43D3B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まずは案件共有の方法をご相談ください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2026-10-14T00:58:35.0420000Z</dcterms:created>
  <dcterms:modified xsi:type="dcterms:W3CDTF">2026-10-14T00:58:35.0420000Z</dcterms:modified>
</coreProperties>
</file>