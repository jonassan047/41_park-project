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16485F92-9BE7-A7E3-EF36-B53A3307E266}">
          <p14:sldIdLst>
            <p14:sldId id="256"/>
          </p14:sldIdLst>
        </p14:section>
        <p14:section name="想い" id="{7266E59C-8B5F-5544-08A8-FD5768DE98E6}">
          <p14:sldIdLst>
            <p14:sldId id="257"/>
          </p14:sldIdLst>
        </p14:section>
        <p14:section name="提案" id="{324DDFFA-62CA-A420-7236-C5F9D4357CB5}">
          <p14:sldIdLst>
            <p14:sldId id="258"/>
          </p14:sldIdLst>
        </p14:section>
        <p14:section name="成約率" id="{2993A237-E66B-542D-54D3-D811AC81748A}">
          <p14:sldIdLst>
            <p14:sldId id="259"/>
          </p14:sldIdLst>
        </p14:section>
        <p14:section name="費用と安心" id="{DF971B41-862A-4C3D-7727-EAC3FAB33B69}">
          <p14:sldIdLst>
            <p14:sldId id="260"/>
          </p14:sldIdLst>
        </p14:section>
        <p14:section name="進め方" id="{472ACA0A-AF94-407A-ECF8-51B3B8D8D9D6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4A6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4A6F"/>
                </a:solidFill>
                <a:latin typeface="+mn-lt"/>
              </a:rPr>
              <a:t>応募に対する成約率  約2.2倍（仮）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今（仮）</c:v>
                </c:pt>
              </c:strCache>
            </c:strRef>
          </c:tx>
          <c:spPr>
            <a:solidFill>
              <a:srgbClr val="C9D8E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2B4A6F"/>
                    </a:solidFill>
                    <a:latin typeface="+mn-lt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応募</c:v>
                </c:pt>
                <c:pt idx="1">
                  <c:v>書類通過</c:v>
                </c:pt>
                <c:pt idx="2">
                  <c:v>成約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30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GP（仮）</c:v>
                </c:pt>
              </c:strCache>
            </c:strRef>
          </c:tx>
          <c:spPr>
            <a:solidFill>
              <a:srgbClr val="4A7FB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2B4A6F"/>
                    </a:solidFill>
                    <a:latin typeface="+mn-lt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応募</c:v>
                </c:pt>
                <c:pt idx="1">
                  <c:v>書類通過</c:v>
                </c:pt>
                <c:pt idx="2">
                  <c:v>成約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522560"/>
        <c:axId val="9528448"/>
      </c:barChart>
      <c:catAx>
        <c:axId val="9522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4A6F"/>
                </a:solidFill>
                <a:latin typeface="+mn-lt"/>
              </a:defRPr>
            </a:pPr>
            <a:endParaRPr lang="ja-JP"/>
          </a:p>
        </c:txPr>
        <c:crossAx val="9528448"/>
        <c:crosses val="autoZero"/>
        <c:auto val="1"/>
        <c:lblAlgn val="ctr"/>
        <c:lblOffset val="100"/>
        <c:noMultiLvlLbl val="1"/>
      </c:catAx>
      <c:valAx>
        <c:axId val="9528448"/>
        <c:scaling>
          <c:orientation val="minMax"/>
          <c:max val="1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9522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4A6F"/>
              </a:solidFill>
              <a:latin typeface="+mn-lt"/>
              <a:cs typeface="+mn-lt"/>
            </a:defRPr>
          </a:pPr>
          <a:endParaRPr lang="ja-JP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77DF0-7FB0-4363-8343-2FFED5B28499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AF352-40A6-46C7-819D-AC62DF2192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092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mtClean="0"/>
              <a:t>システムの流れ（たたき台）。準備：</a:t>
            </a:r>
            <a:r>
              <a:rPr lang="en-US" altLang="ja-JP" smtClean="0"/>
              <a:t>1) </a:t>
            </a:r>
            <a:r>
              <a:rPr lang="ja-JP" altLang="en-US" smtClean="0"/>
              <a:t>ビジネスパートナーがエンジニアの基本情報を登録 </a:t>
            </a:r>
            <a:r>
              <a:rPr lang="en-US" altLang="ja-JP" smtClean="0"/>
              <a:t>2) </a:t>
            </a:r>
            <a:r>
              <a:rPr lang="ja-JP" altLang="en-US" smtClean="0"/>
              <a:t>エンジニアが自分の情報を登録し、やり取りしながら理想のスキルシートを作る。ここでひと区切り。案件ごと：</a:t>
            </a:r>
            <a:r>
              <a:rPr lang="en-US" altLang="ja-JP" smtClean="0"/>
              <a:t>3) </a:t>
            </a:r>
            <a:r>
              <a:rPr lang="ja-JP" altLang="en-US" smtClean="0"/>
              <a:t>案件が届き、システムが条件に合うエンジニアを選んで送る（所属先にも通知） </a:t>
            </a:r>
            <a:r>
              <a:rPr lang="en-US" altLang="ja-JP" smtClean="0"/>
              <a:t>4) </a:t>
            </a:r>
            <a:r>
              <a:rPr lang="ja-JP" altLang="en-US" smtClean="0"/>
              <a:t>エンジニアが応募 </a:t>
            </a:r>
            <a:r>
              <a:rPr lang="en-US" altLang="ja-JP" smtClean="0"/>
              <a:t>5) </a:t>
            </a:r>
            <a:r>
              <a:rPr lang="ja-JP" altLang="en-US" smtClean="0"/>
              <a:t>面談の依頼が入る。このとき面談対策の</a:t>
            </a:r>
            <a:r>
              <a:rPr lang="en-US" altLang="ja-JP" smtClean="0"/>
              <a:t>Q&amp;A</a:t>
            </a:r>
            <a:r>
              <a:rPr lang="ja-JP" altLang="en-US" smtClean="0"/>
              <a:t>を提案 </a:t>
            </a:r>
            <a:r>
              <a:rPr lang="en-US" altLang="ja-JP" smtClean="0"/>
              <a:t>6) </a:t>
            </a:r>
            <a:r>
              <a:rPr lang="ja-JP" altLang="en-US" smtClean="0"/>
              <a:t>面談→合格。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3B6E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Parks（仮）｜阿部さん向け企画書（たたき台）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Parks（仮）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/>
          </p:nvPr>
        </p:nvSpPr>
        <p:spPr>
          <a:xfrm>
            <a:off x="548640" y="274320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ビジネスパートナーとエンジニアが、気楽に参加できる場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エンジニアの成約率を、ぐっと上げる仕組み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阿部さんへのご提案（たたき台）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accent4"/>
                </a:solidFill>
              </a:rPr>
              <a:t>2026年10月14日</a:t>
            </a:r>
            <a:endParaRPr lang="en-US" sz="1600" dirty="0"/>
          </a:p>
        </p:txBody>
      </p:sp>
      <p:sp>
        <p:nvSpPr>
          <p:cNvPr id="4" name="表紙円"/>
          <p:cNvSpPr/>
          <p:nvPr/>
        </p:nvSpPr>
        <p:spPr>
          <a:xfrm>
            <a:off x="6903720" y="192024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 descr="表紙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201875"/>
            <a:ext cx="716890" cy="716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このプロジェクトに賭ける私の想い</a:t>
            </a:r>
            <a:endParaRPr lang="en-US" sz="2800" dirty="0"/>
          </a:p>
        </p:txBody>
      </p:sp>
      <p:sp>
        <p:nvSpPr>
          <p:cNvPr id="3" name="想い1円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 descr="想い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1375258"/>
            <a:ext cx="358445" cy="358445"/>
          </a:xfrm>
          <a:prstGeom prst="rect">
            <a:avLst/>
          </a:prstGeom>
        </p:spPr>
      </p:pic>
      <p:sp>
        <p:nvSpPr>
          <p:cNvPr id="5" name="想い文1"/>
          <p:cNvSpPr txBox="1"/>
          <p:nvPr/>
        </p:nvSpPr>
        <p:spPr>
          <a:xfrm>
            <a:off x="1325880" y="123444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ビジネスパートナーとエンジニアの、最適な環境を作りたい</a:t>
            </a:r>
            <a:endParaRPr lang="en-US" sz="1800" dirty="0"/>
          </a:p>
        </p:txBody>
      </p:sp>
      <p:sp>
        <p:nvSpPr>
          <p:cNvPr id="6" name="想い2円"/>
          <p:cNvSpPr/>
          <p:nvPr/>
        </p:nvSpPr>
        <p:spPr>
          <a:xfrm>
            <a:off x="457200" y="2103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 descr="想い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8" y="2243938"/>
            <a:ext cx="358445" cy="358445"/>
          </a:xfrm>
          <a:prstGeom prst="rect">
            <a:avLst/>
          </a:prstGeom>
        </p:spPr>
      </p:pic>
      <p:sp>
        <p:nvSpPr>
          <p:cNvPr id="8" name="想い文2"/>
          <p:cNvSpPr txBox="1"/>
          <p:nvPr/>
        </p:nvSpPr>
        <p:spPr>
          <a:xfrm>
            <a:off x="1325880" y="210312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ビジネスパートナーの手間をなくし、快適な収益環境を作りたい</a:t>
            </a:r>
            <a:endParaRPr lang="en-US" sz="1800" dirty="0"/>
          </a:p>
        </p:txBody>
      </p:sp>
      <p:sp>
        <p:nvSpPr>
          <p:cNvPr id="9" name="想い3円"/>
          <p:cNvSpPr/>
          <p:nvPr/>
        </p:nvSpPr>
        <p:spPr>
          <a:xfrm>
            <a:off x="45720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 descr="想い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8" y="3112618"/>
            <a:ext cx="358445" cy="358445"/>
          </a:xfrm>
          <a:prstGeom prst="rect">
            <a:avLst/>
          </a:prstGeom>
        </p:spPr>
      </p:pic>
      <p:sp>
        <p:nvSpPr>
          <p:cNvPr id="11" name="想い文3"/>
          <p:cNvSpPr txBox="1"/>
          <p:nvPr/>
        </p:nvSpPr>
        <p:spPr>
          <a:xfrm>
            <a:off x="1325880" y="2971800"/>
            <a:ext cx="7360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エンジニアのビジネス環境を豊かにしたい</a:t>
            </a:r>
            <a:endParaRPr lang="en-US" sz="1800" dirty="0"/>
          </a:p>
        </p:txBody>
      </p:sp>
      <p:sp>
        <p:nvSpPr>
          <p:cNvPr id="12" name="経験帯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経験文"/>
          <p:cNvSpPr txBox="1"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エンジニアを15年以上続けてきた私だから、提案できます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現場の課題を、ビジネスパートナーの束ねで解く</a:t>
            </a:r>
            <a:endParaRPr lang="en-US" sz="2800" dirty="0"/>
          </a:p>
        </p:txBody>
      </p:sp>
      <p:sp>
        <p:nvSpPr>
          <p:cNvPr id="3" name="ビジネスパートナーカード"/>
          <p:cNvSpPr/>
          <p:nvPr/>
        </p:nvSpPr>
        <p:spPr>
          <a:xfrm>
            <a:off x="457200" y="1188720"/>
            <a:ext cx="37490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BP円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Pアイコン" descr="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6" y="1370686"/>
            <a:ext cx="230429" cy="230429"/>
          </a:xfrm>
          <a:prstGeom prst="rect">
            <a:avLst/>
          </a:prstGeom>
        </p:spPr>
      </p:pic>
      <p:sp>
        <p:nvSpPr>
          <p:cNvPr id="6" name="BP題"/>
          <p:cNvSpPr txBox="1"/>
          <p:nvPr/>
        </p:nvSpPr>
        <p:spPr>
          <a:xfrm>
            <a:off x="109728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</a:t>
            </a:r>
            <a:endParaRPr lang="en-US" sz="1600" dirty="0"/>
          </a:p>
        </p:txBody>
      </p:sp>
      <p:sp>
        <p:nvSpPr>
          <p:cNvPr id="7" name="BP本文"/>
          <p:cNvSpPr txBox="1"/>
          <p:nvPr/>
        </p:nvSpPr>
        <p:spPr>
          <a:xfrm>
            <a:off x="640080" y="17830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案件は個別に待ち、連携は友人どうし。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人が足りず、取りこぼしも出る。</a:t>
            </a:r>
            <a:endParaRPr lang="en-US" sz="1400" dirty="0"/>
          </a:p>
        </p:txBody>
      </p:sp>
      <p:sp>
        <p:nvSpPr>
          <p:cNvPr id="8" name="エンジニアカード"/>
          <p:cNvSpPr/>
          <p:nvPr/>
        </p:nvSpPr>
        <p:spPr>
          <a:xfrm>
            <a:off x="457200" y="2560320"/>
            <a:ext cx="37490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EG円"/>
          <p:cNvSpPr/>
          <p:nvPr/>
        </p:nvSpPr>
        <p:spPr>
          <a:xfrm>
            <a:off x="594360" y="2651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EGアイコン" descr="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6" y="2742286"/>
            <a:ext cx="230429" cy="230429"/>
          </a:xfrm>
          <a:prstGeom prst="rect">
            <a:avLst/>
          </a:prstGeom>
        </p:spPr>
      </p:pic>
      <p:sp>
        <p:nvSpPr>
          <p:cNvPr id="11" name="EG題"/>
          <p:cNvSpPr txBox="1"/>
          <p:nvPr/>
        </p:nvSpPr>
        <p:spPr>
          <a:xfrm>
            <a:off x="109728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</a:t>
            </a:r>
            <a:endParaRPr lang="en-US" sz="1600" dirty="0"/>
          </a:p>
        </p:txBody>
      </p:sp>
      <p:sp>
        <p:nvSpPr>
          <p:cNvPr id="12" name="EG本文"/>
          <p:cNvSpPr txBox="1"/>
          <p:nvPr/>
        </p:nvSpPr>
        <p:spPr>
          <a:xfrm>
            <a:off x="640080" y="31546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孤独になりやすく、知識が残りにくい。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案件の選択肢は、所属先の中だけ。</a:t>
            </a:r>
            <a:endParaRPr lang="en-US" sz="1400" dirty="0"/>
          </a:p>
        </p:txBody>
      </p:sp>
      <p:sp>
        <p:nvSpPr>
          <p:cNvPr id="13" name="箱1"/>
          <p:cNvSpPr/>
          <p:nvPr/>
        </p:nvSpPr>
        <p:spPr>
          <a:xfrm>
            <a:off x="4434840" y="118872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箱文1"/>
          <p:cNvSpPr txBox="1"/>
          <p:nvPr/>
        </p:nvSpPr>
        <p:spPr>
          <a:xfrm>
            <a:off x="4434840" y="11887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5" name="箱2"/>
          <p:cNvSpPr/>
          <p:nvPr/>
        </p:nvSpPr>
        <p:spPr>
          <a:xfrm>
            <a:off x="4434840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箱文2"/>
          <p:cNvSpPr txBox="1"/>
          <p:nvPr/>
        </p:nvSpPr>
        <p:spPr>
          <a:xfrm>
            <a:off x="4434840" y="19202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パートナーB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7" name="箱3"/>
          <p:cNvSpPr/>
          <p:nvPr/>
        </p:nvSpPr>
        <p:spPr>
          <a:xfrm>
            <a:off x="4434840" y="265176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箱文3"/>
          <p:cNvSpPr txBox="1"/>
          <p:nvPr/>
        </p:nvSpPr>
        <p:spPr>
          <a:xfrm>
            <a:off x="4434840" y="26517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パートナーC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エンジニア多数</a:t>
            </a:r>
            <a:endParaRPr lang="en-US" sz="1400" dirty="0"/>
          </a:p>
        </p:txBody>
      </p:sp>
      <p:sp>
        <p:nvSpPr>
          <p:cNvPr id="19" name="矢印1"/>
          <p:cNvSpPr/>
          <p:nvPr/>
        </p:nvSpPr>
        <p:spPr>
          <a:xfrm>
            <a:off x="5897880" y="201168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GP円"/>
          <p:cNvSpPr/>
          <p:nvPr/>
        </p:nvSpPr>
        <p:spPr>
          <a:xfrm>
            <a:off x="6217920" y="1463040"/>
            <a:ext cx="1325880" cy="1325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GP文"/>
          <p:cNvSpPr txBox="1"/>
          <p:nvPr/>
        </p:nvSpPr>
        <p:spPr>
          <a:xfrm>
            <a:off x="6217920" y="146304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（グループ）</a:t>
            </a:r>
            <a:endParaRPr lang="en-US" sz="1400" dirty="0"/>
          </a:p>
        </p:txBody>
      </p:sp>
      <p:sp>
        <p:nvSpPr>
          <p:cNvPr id="22" name="矢印2"/>
          <p:cNvSpPr/>
          <p:nvPr/>
        </p:nvSpPr>
        <p:spPr>
          <a:xfrm>
            <a:off x="7589520" y="201168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案件箱"/>
          <p:cNvSpPr/>
          <p:nvPr/>
        </p:nvSpPr>
        <p:spPr>
          <a:xfrm>
            <a:off x="7909560" y="1645920"/>
            <a:ext cx="777240" cy="96012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案件文"/>
          <p:cNvSpPr txBox="1"/>
          <p:nvPr/>
        </p:nvSpPr>
        <p:spPr>
          <a:xfrm>
            <a:off x="7909560" y="164592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</a:t>
            </a:r>
            <a:endParaRPr lang="en-US" sz="1400" dirty="0"/>
          </a:p>
        </p:txBody>
      </p:sp>
      <p:sp>
        <p:nvSpPr>
          <p:cNvPr id="25" name="GP説明"/>
          <p:cNvSpPr txBox="1"/>
          <p:nvPr/>
        </p:nvSpPr>
        <p:spPr>
          <a:xfrm>
            <a:off x="4434840" y="329184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GPに来た案件を、全エンジニアの中から、いちばん合う人に結びつけます。</a:t>
            </a:r>
            <a:endParaRPr lang="en-US" sz="1400" dirty="0"/>
          </a:p>
        </p:txBody>
      </p:sp>
      <p:sp>
        <p:nvSpPr>
          <p:cNvPr id="26" name="メッセージ帯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メッセージ文"/>
          <p:cNvSpPr txBox="1"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ビジネスパートナーを束ねれば、案件も人も、もっと活かせます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エンジニアの成約率が、ぐっと上がる仕組み</a:t>
            </a:r>
            <a:endParaRPr lang="en-US" sz="2800" dirty="0"/>
          </a:p>
        </p:txBody>
      </p:sp>
      <p:graphicFrame>
        <p:nvGraphicFramePr>
          <p:cNvPr id="3" name="成約率グラフ"/>
          <p:cNvGraphicFramePr/>
          <p:nvPr/>
        </p:nvGraphicFramePr>
        <p:xfrm>
          <a:off x="457200" y="1097280"/>
          <a:ext cx="39319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成約率注記"/>
          <p:cNvSpPr txBox="1"/>
          <p:nvPr/>
        </p:nvSpPr>
        <p:spPr>
          <a:xfrm>
            <a:off x="45720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C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イメージです（仮の数字）。実際は記録して測ります。</a:t>
            </a:r>
            <a:endParaRPr lang="en-US" sz="1100" dirty="0"/>
          </a:p>
        </p:txBody>
      </p:sp>
      <p:sp>
        <p:nvSpPr>
          <p:cNvPr id="5" name="てこカード1"/>
          <p:cNvSpPr/>
          <p:nvPr/>
        </p:nvSpPr>
        <p:spPr>
          <a:xfrm>
            <a:off x="4617720" y="114300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てこ1円"/>
          <p:cNvSpPr/>
          <p:nvPr/>
        </p:nvSpPr>
        <p:spPr>
          <a:xfrm>
            <a:off x="475488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てこ1アイコン" descr="てこ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522" y="1390802"/>
            <a:ext cx="281635" cy="281635"/>
          </a:xfrm>
          <a:prstGeom prst="rect">
            <a:avLst/>
          </a:prstGeom>
        </p:spPr>
      </p:pic>
      <p:sp>
        <p:nvSpPr>
          <p:cNvPr id="8" name="てこ題1"/>
          <p:cNvSpPr txBox="1"/>
          <p:nvPr/>
        </p:nvSpPr>
        <p:spPr>
          <a:xfrm>
            <a:off x="5440680" y="121615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誰を出すか</a:t>
            </a:r>
            <a:endParaRPr lang="en-US" sz="1400" dirty="0"/>
          </a:p>
        </p:txBody>
      </p:sp>
      <p:sp>
        <p:nvSpPr>
          <p:cNvPr id="9" name="てこ文1"/>
          <p:cNvSpPr txBox="1"/>
          <p:nvPr/>
        </p:nvSpPr>
        <p:spPr>
          <a:xfrm>
            <a:off x="5440680" y="1536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全員の中から、いちばん合う人を選ぶ</a:t>
            </a:r>
            <a:endParaRPr lang="en-US" sz="1200" dirty="0"/>
          </a:p>
        </p:txBody>
      </p:sp>
      <p:sp>
        <p:nvSpPr>
          <p:cNvPr id="10" name="てこカード2"/>
          <p:cNvSpPr/>
          <p:nvPr/>
        </p:nvSpPr>
        <p:spPr>
          <a:xfrm>
            <a:off x="4617720" y="201168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てこ2円"/>
          <p:cNvSpPr/>
          <p:nvPr/>
        </p:nvSpPr>
        <p:spPr>
          <a:xfrm>
            <a:off x="4754880" y="2148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てこ2アイコン" descr="てこ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522" y="2259482"/>
            <a:ext cx="281635" cy="281635"/>
          </a:xfrm>
          <a:prstGeom prst="rect">
            <a:avLst/>
          </a:prstGeom>
        </p:spPr>
      </p:pic>
      <p:sp>
        <p:nvSpPr>
          <p:cNvPr id="13" name="てこ題2"/>
          <p:cNvSpPr txBox="1"/>
          <p:nvPr/>
        </p:nvSpPr>
        <p:spPr>
          <a:xfrm>
            <a:off x="5440680" y="208483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出し方</a:t>
            </a:r>
            <a:endParaRPr lang="en-US" sz="1400" dirty="0"/>
          </a:p>
        </p:txBody>
      </p:sp>
      <p:sp>
        <p:nvSpPr>
          <p:cNvPr id="14" name="てこ文2"/>
          <p:cNvSpPr txBox="1"/>
          <p:nvPr/>
        </p:nvSpPr>
        <p:spPr>
          <a:xfrm>
            <a:off x="5440680" y="2404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案件別のスキルシートと推薦コメント</a:t>
            </a:r>
            <a:endParaRPr lang="en-US" sz="1200" dirty="0"/>
          </a:p>
        </p:txBody>
      </p:sp>
      <p:sp>
        <p:nvSpPr>
          <p:cNvPr id="15" name="てこカード3"/>
          <p:cNvSpPr/>
          <p:nvPr/>
        </p:nvSpPr>
        <p:spPr>
          <a:xfrm>
            <a:off x="4617720" y="2880360"/>
            <a:ext cx="40690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てこ3円"/>
          <p:cNvSpPr/>
          <p:nvPr/>
        </p:nvSpPr>
        <p:spPr>
          <a:xfrm>
            <a:off x="475488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てこ3アイコン" descr="てこ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522" y="3128162"/>
            <a:ext cx="281635" cy="281635"/>
          </a:xfrm>
          <a:prstGeom prst="rect">
            <a:avLst/>
          </a:prstGeom>
        </p:spPr>
      </p:pic>
      <p:sp>
        <p:nvSpPr>
          <p:cNvPr id="18" name="てこ題3"/>
          <p:cNvSpPr txBox="1"/>
          <p:nvPr/>
        </p:nvSpPr>
        <p:spPr>
          <a:xfrm>
            <a:off x="5440680" y="295351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面談での勝ち方</a:t>
            </a:r>
            <a:endParaRPr lang="en-US" sz="1400" dirty="0"/>
          </a:p>
        </p:txBody>
      </p:sp>
      <p:sp>
        <p:nvSpPr>
          <p:cNvPr id="19" name="てこ文3"/>
          <p:cNvSpPr txBox="1"/>
          <p:nvPr/>
        </p:nvSpPr>
        <p:spPr>
          <a:xfrm>
            <a:off x="5440680" y="32735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想定質問・模擬面談・経験の「型」</a:t>
            </a:r>
            <a:endParaRPr lang="en-US" sz="1200" dirty="0"/>
          </a:p>
        </p:txBody>
      </p:sp>
      <p:sp>
        <p:nvSpPr>
          <p:cNvPr id="20" name="ループ帯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ループ円"/>
          <p:cNvSpPr/>
          <p:nvPr/>
        </p:nvSpPr>
        <p:spPr>
          <a:xfrm>
            <a:off x="594360" y="4023360"/>
            <a:ext cx="502920" cy="502920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pic>
        <p:nvPicPr>
          <p:cNvPr id="22" name="ループアイコン" descr="ループ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02" y="4134002"/>
            <a:ext cx="281635" cy="281635"/>
          </a:xfrm>
          <a:prstGeom prst="rect">
            <a:avLst/>
          </a:prstGeom>
        </p:spPr>
      </p:pic>
      <p:sp>
        <p:nvSpPr>
          <p:cNvPr id="23" name="ループ題"/>
          <p:cNvSpPr txBox="1"/>
          <p:nvPr/>
        </p:nvSpPr>
        <p:spPr>
          <a:xfrm>
            <a:off x="1188720" y="39319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使うほど上がる</a:t>
            </a:r>
            <a:endParaRPr lang="en-US" sz="1400" dirty="0"/>
          </a:p>
        </p:txBody>
      </p:sp>
      <p:sp>
        <p:nvSpPr>
          <p:cNvPr id="24" name="ループ札1"/>
          <p:cNvSpPr/>
          <p:nvPr/>
        </p:nvSpPr>
        <p:spPr>
          <a:xfrm>
            <a:off x="2743200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5" name="ループ札文1"/>
          <p:cNvSpPr txBox="1"/>
          <p:nvPr/>
        </p:nvSpPr>
        <p:spPr>
          <a:xfrm>
            <a:off x="2743200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結果を記録</a:t>
            </a:r>
            <a:endParaRPr lang="en-US" sz="1100" dirty="0"/>
          </a:p>
        </p:txBody>
      </p:sp>
      <p:sp>
        <p:nvSpPr>
          <p:cNvPr id="26" name="ループ矢印1"/>
          <p:cNvSpPr/>
          <p:nvPr/>
        </p:nvSpPr>
        <p:spPr>
          <a:xfrm>
            <a:off x="3950208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ループ札2"/>
          <p:cNvSpPr/>
          <p:nvPr/>
        </p:nvSpPr>
        <p:spPr>
          <a:xfrm>
            <a:off x="4224528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8" name="ループ札文2"/>
          <p:cNvSpPr txBox="1"/>
          <p:nvPr/>
        </p:nvSpPr>
        <p:spPr>
          <a:xfrm>
            <a:off x="4224528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型にして蓄積</a:t>
            </a:r>
            <a:endParaRPr lang="en-US" sz="1100" dirty="0"/>
          </a:p>
        </p:txBody>
      </p:sp>
      <p:sp>
        <p:nvSpPr>
          <p:cNvPr id="29" name="ループ矢印2"/>
          <p:cNvSpPr/>
          <p:nvPr/>
        </p:nvSpPr>
        <p:spPr>
          <a:xfrm>
            <a:off x="5431536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ループ札3"/>
          <p:cNvSpPr/>
          <p:nvPr/>
        </p:nvSpPr>
        <p:spPr>
          <a:xfrm>
            <a:off x="5705856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1" name="ループ札文3"/>
          <p:cNvSpPr txBox="1"/>
          <p:nvPr/>
        </p:nvSpPr>
        <p:spPr>
          <a:xfrm>
            <a:off x="5705856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全員に共有</a:t>
            </a:r>
            <a:endParaRPr lang="en-US" sz="1100" dirty="0"/>
          </a:p>
        </p:txBody>
      </p:sp>
      <p:sp>
        <p:nvSpPr>
          <p:cNvPr id="32" name="ループ矢印3"/>
          <p:cNvSpPr/>
          <p:nvPr/>
        </p:nvSpPr>
        <p:spPr>
          <a:xfrm>
            <a:off x="6912864" y="4160520"/>
            <a:ext cx="237744" cy="22860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ループ札4"/>
          <p:cNvSpPr/>
          <p:nvPr/>
        </p:nvSpPr>
        <p:spPr>
          <a:xfrm>
            <a:off x="7187184" y="4069080"/>
            <a:ext cx="1188720" cy="411480"/>
          </a:xfrm>
          <a:prstGeom prst="roundRect">
            <a:avLst>
              <a:gd name="adj" fmla="val 44444"/>
            </a:avLst>
          </a:prstGeom>
          <a:solidFill>
            <a:schemeClr val="accent4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ループ札文4"/>
          <p:cNvSpPr txBox="1"/>
          <p:nvPr/>
        </p:nvSpPr>
        <p:spPr>
          <a:xfrm>
            <a:off x="7187184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成約率が上がる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1" name="準備ラベル"/>
          <p:cNvSpPr/>
          <p:nvPr/>
        </p:nvSpPr>
        <p:spPr>
          <a:xfrm>
            <a:off x="457200" y="1168400"/>
            <a:ext cx="838200" cy="11684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kumimoji="1" lang="ja-JP" altLang="en-US" sz="1500" b="1" smtClean="0">
                <a:solidFill>
                  <a:srgbClr val="FFFFFF"/>
                </a:solidFill>
                <a:latin typeface="Meiryo"/>
                <a:ea typeface="Meiryo"/>
              </a:rPr>
              <a:t>準備</a:t>
            </a:r>
          </a:p>
          <a:p>
            <a:pPr algn="ctr"/>
            <a:r>
              <a:rPr kumimoji="1" lang="ja-JP" altLang="en-US" sz="1000" smtClean="0">
                <a:solidFill>
                  <a:srgbClr val="FFFFFF"/>
                </a:solidFill>
                <a:latin typeface="Meiryo"/>
                <a:ea typeface="Meiryo"/>
              </a:rPr>
              <a:t>最初に</a:t>
            </a:r>
            <a:r>
              <a:rPr kumimoji="1" lang="en-US" altLang="ja-JP" sz="1000" smtClean="0">
                <a:solidFill>
                  <a:srgbClr val="FFFFFF"/>
                </a:solidFill>
                <a:latin typeface="Meiryo"/>
                <a:ea typeface="Meiryo"/>
              </a:rPr>
              <a:t>1</a:t>
            </a:r>
            <a:r>
              <a:rPr kumimoji="1" lang="ja-JP" altLang="en-US" sz="1000" smtClean="0">
                <a:solidFill>
                  <a:srgbClr val="FFFFFF"/>
                </a:solidFill>
                <a:latin typeface="Meiryo"/>
                <a:ea typeface="Meiryo"/>
              </a:rPr>
              <a:t>回</a:t>
            </a:r>
            <a:endParaRPr kumimoji="1" lang="ja-JP" altLang="en-US" sz="100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32" name="手順1"/>
          <p:cNvSpPr/>
          <p:nvPr/>
        </p:nvSpPr>
        <p:spPr>
          <a:xfrm>
            <a:off x="1397000" y="1168400"/>
            <a:ext cx="2463800" cy="1168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手順1円"/>
          <p:cNvSpPr/>
          <p:nvPr/>
        </p:nvSpPr>
        <p:spPr>
          <a:xfrm>
            <a:off x="1498600" y="12700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 smtClean="0">
                <a:solidFill>
                  <a:srgbClr val="FFFFFF"/>
                </a:solidFill>
                <a:latin typeface="Meiryo"/>
                <a:ea typeface="Meiryo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34" name="手順1題"/>
          <p:cNvSpPr txBox="1"/>
          <p:nvPr/>
        </p:nvSpPr>
        <p:spPr>
          <a:xfrm>
            <a:off x="1854200" y="1269999"/>
            <a:ext cx="1930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ビジネスパートナーが登録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35" name="手順1文"/>
          <p:cNvSpPr txBox="1"/>
          <p:nvPr/>
        </p:nvSpPr>
        <p:spPr>
          <a:xfrm>
            <a:off x="1524000" y="1650999"/>
            <a:ext cx="2209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smtClean="0">
                <a:solidFill>
                  <a:srgbClr val="2B4A6F"/>
                </a:solidFill>
                <a:latin typeface="Meiryo"/>
                <a:ea typeface="Meiryo"/>
              </a:rPr>
              <a:t>所属するエンジニアの基本情報を入力します</a:t>
            </a:r>
            <a:endParaRPr kumimoji="1" lang="ja-JP" altLang="en-US" sz="11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36" name="矢印1"/>
          <p:cNvSpPr/>
          <p:nvPr/>
        </p:nvSpPr>
        <p:spPr>
          <a:xfrm>
            <a:off x="3911600" y="16256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手順2"/>
          <p:cNvSpPr/>
          <p:nvPr/>
        </p:nvSpPr>
        <p:spPr>
          <a:xfrm>
            <a:off x="4216400" y="1168400"/>
            <a:ext cx="2463800" cy="11684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手順2円"/>
          <p:cNvSpPr/>
          <p:nvPr/>
        </p:nvSpPr>
        <p:spPr>
          <a:xfrm>
            <a:off x="4318000" y="12700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 smtClean="0">
                <a:solidFill>
                  <a:srgbClr val="FFFFFF"/>
                </a:solidFill>
                <a:latin typeface="Meiryo"/>
                <a:ea typeface="Meiryo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39" name="手順2題"/>
          <p:cNvSpPr txBox="1"/>
          <p:nvPr/>
        </p:nvSpPr>
        <p:spPr>
          <a:xfrm>
            <a:off x="4673600" y="1269999"/>
            <a:ext cx="1930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エンジニアが登録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0" name="手順2文"/>
          <p:cNvSpPr txBox="1"/>
          <p:nvPr/>
        </p:nvSpPr>
        <p:spPr>
          <a:xfrm>
            <a:off x="4343400" y="1650999"/>
            <a:ext cx="2209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smtClean="0">
                <a:solidFill>
                  <a:srgbClr val="2B4A6F"/>
                </a:solidFill>
                <a:latin typeface="Meiryo"/>
                <a:ea typeface="Meiryo"/>
              </a:rPr>
              <a:t>自分の経歴・スキルを入力。やり取りしながら仕上げます</a:t>
            </a:r>
            <a:endParaRPr kumimoji="1" lang="ja-JP" altLang="en-US" sz="11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41" name="矢印2"/>
          <p:cNvSpPr/>
          <p:nvPr/>
        </p:nvSpPr>
        <p:spPr>
          <a:xfrm>
            <a:off x="6731000" y="16256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成果カード"/>
          <p:cNvSpPr/>
          <p:nvPr/>
        </p:nvSpPr>
        <p:spPr>
          <a:xfrm>
            <a:off x="7035800" y="1168400"/>
            <a:ext cx="1651000" cy="11684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成果円"/>
          <p:cNvSpPr/>
          <p:nvPr/>
        </p:nvSpPr>
        <p:spPr>
          <a:xfrm>
            <a:off x="7162800" y="1270000"/>
            <a:ext cx="355600" cy="3556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成果アイコン" descr="てこ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1346200"/>
            <a:ext cx="203200" cy="203200"/>
          </a:xfrm>
          <a:prstGeom prst="rect">
            <a:avLst/>
          </a:prstGeom>
        </p:spPr>
      </p:pic>
      <p:sp>
        <p:nvSpPr>
          <p:cNvPr id="45" name="成果見出し"/>
          <p:cNvSpPr txBox="1"/>
          <p:nvPr/>
        </p:nvSpPr>
        <p:spPr>
          <a:xfrm>
            <a:off x="7620000" y="1269999"/>
            <a:ext cx="990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100" b="1" smtClean="0">
                <a:solidFill>
                  <a:srgbClr val="4A7FB5"/>
                </a:solidFill>
                <a:latin typeface="Meiryo"/>
                <a:ea typeface="Meiryo"/>
              </a:rPr>
              <a:t>できあがり</a:t>
            </a:r>
            <a:endParaRPr kumimoji="1" lang="ja-JP" altLang="en-US" sz="11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46" name="成果文"/>
          <p:cNvSpPr txBox="1"/>
          <p:nvPr/>
        </p:nvSpPr>
        <p:spPr>
          <a:xfrm>
            <a:off x="7162800" y="1701799"/>
            <a:ext cx="1447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理想の</a:t>
            </a:r>
          </a:p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スキルシートが完成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cxnSp>
        <p:nvCxnSpPr>
          <p:cNvPr id="47" name="区切り線"/>
          <p:cNvCxnSpPr/>
          <p:nvPr/>
        </p:nvCxnSpPr>
        <p:spPr>
          <a:xfrm>
            <a:off x="457200" y="2501900"/>
            <a:ext cx="8229600" cy="0"/>
          </a:xfrm>
          <a:prstGeom prst="line">
            <a:avLst/>
          </a:prstGeom>
          <a:ln w="15875">
            <a:solidFill>
              <a:srgbClr val="8DB8D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区切り文"/>
          <p:cNvSpPr txBox="1"/>
          <p:nvPr/>
        </p:nvSpPr>
        <p:spPr>
          <a:xfrm>
            <a:off x="3810000" y="2400300"/>
            <a:ext cx="1524000" cy="2032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000" smtClean="0">
                <a:solidFill>
                  <a:srgbClr val="7A8CA3"/>
                </a:solidFill>
                <a:latin typeface="Meiryo"/>
                <a:ea typeface="Meiryo"/>
              </a:rPr>
              <a:t>ここでひと区切り</a:t>
            </a:r>
            <a:endParaRPr kumimoji="1" lang="ja-JP" altLang="en-US" sz="1000">
              <a:solidFill>
                <a:srgbClr val="7A8CA3"/>
              </a:solidFill>
              <a:latin typeface="Meiryo"/>
              <a:ea typeface="Meiryo"/>
            </a:endParaRPr>
          </a:p>
        </p:txBody>
      </p:sp>
      <p:sp>
        <p:nvSpPr>
          <p:cNvPr id="49" name="案件ラベル"/>
          <p:cNvSpPr/>
          <p:nvPr/>
        </p:nvSpPr>
        <p:spPr>
          <a:xfrm>
            <a:off x="457200" y="2641600"/>
            <a:ext cx="838200" cy="12700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kumimoji="1" lang="ja-JP" altLang="en-US" sz="1500" b="1" smtClean="0">
                <a:solidFill>
                  <a:srgbClr val="FFFFFF"/>
                </a:solidFill>
                <a:latin typeface="Meiryo"/>
                <a:ea typeface="Meiryo"/>
              </a:rPr>
              <a:t>案件</a:t>
            </a:r>
          </a:p>
          <a:p>
            <a:pPr algn="ctr"/>
            <a:r>
              <a:rPr kumimoji="1" lang="ja-JP" altLang="en-US" sz="1000" smtClean="0">
                <a:solidFill>
                  <a:srgbClr val="FFFFFF"/>
                </a:solidFill>
                <a:latin typeface="Meiryo"/>
                <a:ea typeface="Meiryo"/>
              </a:rPr>
              <a:t>届くたびに</a:t>
            </a:r>
            <a:endParaRPr kumimoji="1" lang="ja-JP" altLang="en-US" sz="100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50" name="手順3"/>
          <p:cNvSpPr/>
          <p:nvPr/>
        </p:nvSpPr>
        <p:spPr>
          <a:xfrm>
            <a:off x="1397000" y="2641600"/>
            <a:ext cx="15494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手順3円"/>
          <p:cNvSpPr/>
          <p:nvPr/>
        </p:nvSpPr>
        <p:spPr>
          <a:xfrm>
            <a:off x="1498600" y="27432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 smtClean="0">
                <a:solidFill>
                  <a:srgbClr val="FFFFFF"/>
                </a:solidFill>
                <a:latin typeface="Meiryo"/>
                <a:ea typeface="Meiryo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52" name="手順3題"/>
          <p:cNvSpPr txBox="1"/>
          <p:nvPr/>
        </p:nvSpPr>
        <p:spPr>
          <a:xfrm>
            <a:off x="1854200" y="2743199"/>
            <a:ext cx="101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案件が届く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53" name="手順3文"/>
          <p:cNvSpPr txBox="1"/>
          <p:nvPr/>
        </p:nvSpPr>
        <p:spPr>
          <a:xfrm>
            <a:off x="1524000" y="3124199"/>
            <a:ext cx="12954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smtClean="0">
                <a:solidFill>
                  <a:srgbClr val="2B4A6F"/>
                </a:solidFill>
                <a:latin typeface="Meiryo"/>
                <a:ea typeface="Meiryo"/>
              </a:rPr>
              <a:t>システムが条件に合うエンジニアを選んで送る。所属先にも通知</a:t>
            </a:r>
            <a:endParaRPr kumimoji="1" lang="ja-JP" altLang="en-US" sz="11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54" name="矢印3"/>
          <p:cNvSpPr/>
          <p:nvPr/>
        </p:nvSpPr>
        <p:spPr>
          <a:xfrm>
            <a:off x="2997200" y="31623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手順4"/>
          <p:cNvSpPr/>
          <p:nvPr/>
        </p:nvSpPr>
        <p:spPr>
          <a:xfrm>
            <a:off x="3302000" y="2641600"/>
            <a:ext cx="15494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手順4円"/>
          <p:cNvSpPr/>
          <p:nvPr/>
        </p:nvSpPr>
        <p:spPr>
          <a:xfrm>
            <a:off x="3403600" y="27432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 smtClean="0">
                <a:solidFill>
                  <a:srgbClr val="FFFFFF"/>
                </a:solidFill>
                <a:latin typeface="Meiryo"/>
                <a:ea typeface="Meiryo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57" name="手順4題"/>
          <p:cNvSpPr txBox="1"/>
          <p:nvPr/>
        </p:nvSpPr>
        <p:spPr>
          <a:xfrm>
            <a:off x="3759200" y="2743199"/>
            <a:ext cx="101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応募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58" name="手順4文"/>
          <p:cNvSpPr txBox="1"/>
          <p:nvPr/>
        </p:nvSpPr>
        <p:spPr>
          <a:xfrm>
            <a:off x="3429000" y="3124199"/>
            <a:ext cx="12954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smtClean="0">
                <a:solidFill>
                  <a:srgbClr val="2B4A6F"/>
                </a:solidFill>
                <a:latin typeface="Meiryo"/>
                <a:ea typeface="Meiryo"/>
              </a:rPr>
              <a:t>エンジニアが案件に応募します</a:t>
            </a:r>
            <a:endParaRPr kumimoji="1" lang="ja-JP" altLang="en-US" sz="11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59" name="矢印4"/>
          <p:cNvSpPr/>
          <p:nvPr/>
        </p:nvSpPr>
        <p:spPr>
          <a:xfrm>
            <a:off x="4902200" y="31623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手順5"/>
          <p:cNvSpPr/>
          <p:nvPr/>
        </p:nvSpPr>
        <p:spPr>
          <a:xfrm>
            <a:off x="5207000" y="2641600"/>
            <a:ext cx="1549400" cy="1270000"/>
          </a:xfrm>
          <a:prstGeom prst="roundRect">
            <a:avLst>
              <a:gd name="adj" fmla="val 12000"/>
            </a:avLst>
          </a:prstGeom>
          <a:solidFill>
            <a:srgbClr val="F0F5FA"/>
          </a:solidFill>
          <a:ln w="9525">
            <a:solidFill>
              <a:srgbClr val="DCE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手順5円"/>
          <p:cNvSpPr/>
          <p:nvPr/>
        </p:nvSpPr>
        <p:spPr>
          <a:xfrm>
            <a:off x="5308600" y="2743200"/>
            <a:ext cx="279400" cy="2794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 smtClean="0">
                <a:solidFill>
                  <a:srgbClr val="FFFFFF"/>
                </a:solidFill>
                <a:latin typeface="Meiryo"/>
                <a:ea typeface="Meiryo"/>
              </a:rPr>
              <a:t>5</a:t>
            </a:r>
            <a:endParaRPr kumimoji="1" lang="ja-JP" altLang="en-US" sz="1200" b="1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62" name="手順5題"/>
          <p:cNvSpPr txBox="1"/>
          <p:nvPr/>
        </p:nvSpPr>
        <p:spPr>
          <a:xfrm>
            <a:off x="5664200" y="2743199"/>
            <a:ext cx="1016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4A7FB5"/>
                </a:solidFill>
                <a:latin typeface="Meiryo"/>
                <a:ea typeface="Meiryo"/>
              </a:rPr>
              <a:t>面談の依頼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3" name="手順5文"/>
          <p:cNvSpPr txBox="1"/>
          <p:nvPr/>
        </p:nvSpPr>
        <p:spPr>
          <a:xfrm>
            <a:off x="5334000" y="3124199"/>
            <a:ext cx="12954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smtClean="0">
                <a:solidFill>
                  <a:srgbClr val="2B4A6F"/>
                </a:solidFill>
                <a:latin typeface="Meiryo"/>
                <a:ea typeface="Meiryo"/>
              </a:rPr>
              <a:t>エンジニアに面談の依頼が届きます</a:t>
            </a:r>
            <a:endParaRPr kumimoji="1" lang="ja-JP" altLang="en-US" sz="1100">
              <a:solidFill>
                <a:srgbClr val="2B4A6F"/>
              </a:solidFill>
              <a:latin typeface="Meiryo"/>
              <a:ea typeface="Meiryo"/>
            </a:endParaRPr>
          </a:p>
        </p:txBody>
      </p:sp>
      <p:sp>
        <p:nvSpPr>
          <p:cNvPr id="64" name="矢印5"/>
          <p:cNvSpPr/>
          <p:nvPr/>
        </p:nvSpPr>
        <p:spPr>
          <a:xfrm>
            <a:off x="6807200" y="3162300"/>
            <a:ext cx="254000" cy="228600"/>
          </a:xfrm>
          <a:prstGeom prst="rightArrow">
            <a:avLst/>
          </a:prstGeom>
          <a:solidFill>
            <a:srgbClr val="8DB8DE"/>
          </a:solidFill>
          <a:ln w="12700">
            <a:solidFill>
              <a:srgbClr val="8DB8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手順6"/>
          <p:cNvSpPr/>
          <p:nvPr/>
        </p:nvSpPr>
        <p:spPr>
          <a:xfrm>
            <a:off x="7112000" y="2641600"/>
            <a:ext cx="1574800" cy="1270000"/>
          </a:xfrm>
          <a:prstGeom prst="roundRect">
            <a:avLst>
              <a:gd name="adj" fmla="val 12000"/>
            </a:avLst>
          </a:prstGeom>
          <a:solidFill>
            <a:srgbClr val="4A7FB5"/>
          </a:solidFill>
          <a:ln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手順6円"/>
          <p:cNvSpPr/>
          <p:nvPr/>
        </p:nvSpPr>
        <p:spPr>
          <a:xfrm>
            <a:off x="7213600" y="2743200"/>
            <a:ext cx="279400" cy="279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 smtClean="0">
                <a:solidFill>
                  <a:srgbClr val="4A7FB5"/>
                </a:solidFill>
                <a:latin typeface="Meiryo"/>
                <a:ea typeface="Meiryo"/>
              </a:rPr>
              <a:t>6</a:t>
            </a:r>
            <a:endParaRPr kumimoji="1" lang="ja-JP" altLang="en-US" sz="1200" b="1">
              <a:solidFill>
                <a:srgbClr val="4A7FB5"/>
              </a:solidFill>
              <a:latin typeface="Meiryo"/>
              <a:ea typeface="Meiryo"/>
            </a:endParaRPr>
          </a:p>
        </p:txBody>
      </p:sp>
      <p:sp>
        <p:nvSpPr>
          <p:cNvPr id="67" name="手順6題"/>
          <p:cNvSpPr txBox="1"/>
          <p:nvPr/>
        </p:nvSpPr>
        <p:spPr>
          <a:xfrm>
            <a:off x="7569200" y="2743199"/>
            <a:ext cx="1041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FFFFFF"/>
                </a:solidFill>
                <a:latin typeface="Meiryo"/>
                <a:ea typeface="Meiryo"/>
              </a:rPr>
              <a:t>面談・合格</a:t>
            </a:r>
            <a:endParaRPr kumimoji="1" lang="ja-JP" altLang="en-US" sz="1200" b="1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68" name="手順6文"/>
          <p:cNvSpPr txBox="1"/>
          <p:nvPr/>
        </p:nvSpPr>
        <p:spPr>
          <a:xfrm>
            <a:off x="7239000" y="3124199"/>
            <a:ext cx="13208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100" smtClean="0">
                <a:solidFill>
                  <a:srgbClr val="FFFFFF"/>
                </a:solidFill>
                <a:latin typeface="Meiryo"/>
                <a:ea typeface="Meiryo"/>
              </a:rPr>
              <a:t>面談を受けて、合格（成約）</a:t>
            </a:r>
            <a:endParaRPr kumimoji="1" lang="ja-JP" altLang="en-US" sz="1100">
              <a:solidFill>
                <a:srgbClr val="FFFFFF"/>
              </a:solidFill>
              <a:latin typeface="Meiryo"/>
              <a:ea typeface="Meiryo"/>
            </a:endParaRPr>
          </a:p>
        </p:txBody>
      </p:sp>
      <p:sp>
        <p:nvSpPr>
          <p:cNvPr id="69" name="QAカード"/>
          <p:cNvSpPr/>
          <p:nvPr/>
        </p:nvSpPr>
        <p:spPr>
          <a:xfrm>
            <a:off x="4902200" y="4013200"/>
            <a:ext cx="2159000" cy="431800"/>
          </a:xfrm>
          <a:prstGeom prst="roundRect">
            <a:avLst>
              <a:gd name="adj" fmla="val 12000"/>
            </a:avLst>
          </a:prstGeom>
          <a:solidFill>
            <a:srgbClr val="F5B971"/>
          </a:solidFill>
          <a:ln w="12700">
            <a:solidFill>
              <a:srgbClr val="F5B9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QA円"/>
          <p:cNvSpPr/>
          <p:nvPr/>
        </p:nvSpPr>
        <p:spPr>
          <a:xfrm>
            <a:off x="4991100" y="4076700"/>
            <a:ext cx="304800" cy="3048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1" name="QAアイコン" descr="てこ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600" y="4140200"/>
            <a:ext cx="177800" cy="177800"/>
          </a:xfrm>
          <a:prstGeom prst="rect">
            <a:avLst/>
          </a:prstGeom>
        </p:spPr>
      </p:pic>
      <p:sp>
        <p:nvSpPr>
          <p:cNvPr id="72" name="QA文"/>
          <p:cNvSpPr txBox="1"/>
          <p:nvPr/>
        </p:nvSpPr>
        <p:spPr>
          <a:xfrm>
            <a:off x="5384800" y="4013199"/>
            <a:ext cx="1625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面談対策の</a:t>
            </a:r>
            <a:r>
              <a:rPr kumimoji="1" lang="en-US" altLang="ja-JP" sz="1200" b="1" smtClean="0">
                <a:solidFill>
                  <a:srgbClr val="2B4A6F"/>
                </a:solidFill>
                <a:latin typeface="Meiryo"/>
                <a:ea typeface="Meiryo"/>
              </a:rPr>
              <a:t>Q&amp;A</a:t>
            </a:r>
            <a:r>
              <a:rPr kumimoji="1" lang="ja-JP" altLang="en-US" sz="1200" b="1" smtClean="0">
                <a:solidFill>
                  <a:srgbClr val="2B4A6F"/>
                </a:solidFill>
                <a:latin typeface="Meiryo"/>
                <a:ea typeface="Meiryo"/>
              </a:rPr>
              <a:t>を提案</a:t>
            </a:r>
            <a:endParaRPr kumimoji="1" lang="ja-JP" altLang="en-US" sz="1200" b="1">
              <a:solidFill>
                <a:srgbClr val="2B4A6F"/>
              </a:solidFill>
              <a:latin typeface="Meiryo"/>
              <a:ea typeface="Meiryo"/>
            </a:endParaRPr>
          </a:p>
        </p:txBody>
      </p:sp>
      <p:cxnSp>
        <p:nvCxnSpPr>
          <p:cNvPr id="3" name="QA線"/>
          <p:cNvCxnSpPr/>
          <p:nvPr/>
        </p:nvCxnSpPr>
        <p:spPr>
          <a:xfrm>
            <a:off x="5981700" y="3911600"/>
            <a:ext cx="0" cy="101600"/>
          </a:xfrm>
          <a:prstGeom prst="line">
            <a:avLst/>
          </a:prstGeom>
          <a:ln w="19050">
            <a:solidFill>
              <a:srgbClr val="8DB8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タイトル 3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3" name="Text 0"/>
          <p:cNvSpPr txBox="1">
            <a:spLocks/>
          </p:cNvSpPr>
          <p:nvPr/>
        </p:nvSpPr>
        <p:spPr>
          <a:xfrm>
            <a:off x="457200" y="279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tx1"/>
                </a:solidFill>
              </a:rPr>
              <a:t>登録から合格までの流れ</a:t>
            </a:r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まず小さく試して、数字で確かめる</a:t>
            </a:r>
            <a:endParaRPr lang="en-US" sz="2800" dirty="0"/>
          </a:p>
        </p:txBody>
      </p:sp>
      <p:sp>
        <p:nvSpPr>
          <p:cNvPr id="3" name="段階カード1"/>
          <p:cNvSpPr/>
          <p:nvPr/>
        </p:nvSpPr>
        <p:spPr>
          <a:xfrm>
            <a:off x="45720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段階1円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5" name="段階1アイコン" descr="段階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89304"/>
            <a:ext cx="256032" cy="256032"/>
          </a:xfrm>
          <a:prstGeom prst="rect">
            <a:avLst/>
          </a:prstGeom>
        </p:spPr>
      </p:pic>
      <p:sp>
        <p:nvSpPr>
          <p:cNvPr id="6" name="段階題1"/>
          <p:cNvSpPr txBox="1"/>
          <p:nvPr/>
        </p:nvSpPr>
        <p:spPr>
          <a:xfrm>
            <a:off x="118872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試す</a:t>
            </a:r>
            <a:endParaRPr lang="en-US" sz="1600" dirty="0"/>
          </a:p>
        </p:txBody>
      </p:sp>
      <p:sp>
        <p:nvSpPr>
          <p:cNvPr id="7" name="段階文1"/>
          <p:cNvSpPr txBox="1"/>
          <p:nvPr/>
        </p:nvSpPr>
        <p:spPr>
          <a:xfrm>
            <a:off x="5943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エンジニア1〜2人・案件5〜10件で、費用のかからない形で</a:t>
            </a:r>
            <a:endParaRPr lang="en-US" sz="1200" dirty="0"/>
          </a:p>
        </p:txBody>
      </p:sp>
      <p:sp>
        <p:nvSpPr>
          <p:cNvPr id="8" name="段階矢印1"/>
          <p:cNvSpPr/>
          <p:nvPr/>
        </p:nvSpPr>
        <p:spPr>
          <a:xfrm>
            <a:off x="3035808" y="1572768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段階カード2"/>
          <p:cNvSpPr/>
          <p:nvPr/>
        </p:nvSpPr>
        <p:spPr>
          <a:xfrm>
            <a:off x="329184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段階2円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pic>
        <p:nvPicPr>
          <p:cNvPr id="11" name="段階2アイコン" descr="段階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289304"/>
            <a:ext cx="256032" cy="256032"/>
          </a:xfrm>
          <a:prstGeom prst="rect">
            <a:avLst/>
          </a:prstGeom>
        </p:spPr>
      </p:pic>
      <p:sp>
        <p:nvSpPr>
          <p:cNvPr id="12" name="段階題2"/>
          <p:cNvSpPr txBox="1"/>
          <p:nvPr/>
        </p:nvSpPr>
        <p:spPr>
          <a:xfrm>
            <a:off x="402336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測る</a:t>
            </a:r>
            <a:endParaRPr lang="en-US" sz="1600" dirty="0"/>
          </a:p>
        </p:txBody>
      </p:sp>
      <p:sp>
        <p:nvSpPr>
          <p:cNvPr id="13" name="段階文2"/>
          <p:cNvSpPr txBox="1"/>
          <p:nvPr/>
        </p:nvSpPr>
        <p:spPr>
          <a:xfrm>
            <a:off x="342900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応募から延長まで、1件ずつ記録して通過率を見る</a:t>
            </a:r>
            <a:endParaRPr lang="en-US" sz="1200" dirty="0"/>
          </a:p>
        </p:txBody>
      </p:sp>
      <p:sp>
        <p:nvSpPr>
          <p:cNvPr id="14" name="段階矢印2"/>
          <p:cNvSpPr/>
          <p:nvPr/>
        </p:nvSpPr>
        <p:spPr>
          <a:xfrm>
            <a:off x="5870448" y="1572768"/>
            <a:ext cx="237744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段階カード3"/>
          <p:cNvSpPr/>
          <p:nvPr/>
        </p:nvSpPr>
        <p:spPr>
          <a:xfrm>
            <a:off x="6126480" y="109728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段階3円"/>
          <p:cNvSpPr/>
          <p:nvPr/>
        </p:nvSpPr>
        <p:spPr>
          <a:xfrm>
            <a:off x="6263640" y="1188720"/>
            <a:ext cx="457200" cy="457200"/>
          </a:xfrm>
          <a:prstGeom prst="ellipse">
            <a:avLst/>
          </a:prstGeom>
          <a:solidFill>
            <a:srgbClr val="F5B971"/>
          </a:solidFill>
          <a:ln w="12700">
            <a:solidFill>
              <a:srgbClr val="F5B971"/>
            </a:solidFill>
            <a:prstDash val="solid"/>
          </a:ln>
        </p:spPr>
      </p:sp>
      <p:pic>
        <p:nvPicPr>
          <p:cNvPr id="17" name="段階3アイコン" descr="段階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289304"/>
            <a:ext cx="256032" cy="256032"/>
          </a:xfrm>
          <a:prstGeom prst="rect">
            <a:avLst/>
          </a:prstGeom>
        </p:spPr>
      </p:pic>
      <p:sp>
        <p:nvSpPr>
          <p:cNvPr id="18" name="段階題3"/>
          <p:cNvSpPr txBox="1"/>
          <p:nvPr/>
        </p:nvSpPr>
        <p:spPr>
          <a:xfrm>
            <a:off x="685800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広げる</a:t>
            </a:r>
            <a:endParaRPr lang="en-US" sz="1600" dirty="0"/>
          </a:p>
        </p:txBody>
      </p:sp>
      <p:sp>
        <p:nvSpPr>
          <p:cNvPr id="19" name="段階文3"/>
          <p:cNvSpPr txBox="1"/>
          <p:nvPr/>
        </p:nvSpPr>
        <p:spPr>
          <a:xfrm>
            <a:off x="626364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確かめてから、参加を広げる</a:t>
            </a:r>
            <a:endParaRPr lang="en-US" sz="1200" dirty="0"/>
          </a:p>
        </p:txBody>
      </p:sp>
      <p:sp>
        <p:nvSpPr>
          <p:cNvPr id="20" name="お願い題"/>
          <p:cNvSpPr txBox="1"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阿部さんにお願いしたいこと</a:t>
            </a:r>
            <a:endParaRPr lang="en-US" sz="1400" dirty="0"/>
          </a:p>
        </p:txBody>
      </p:sp>
      <p:sp>
        <p:nvSpPr>
          <p:cNvPr id="21" name="お願い1円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お願い1アイコン" descr="お願い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2889504"/>
            <a:ext cx="256032" cy="256032"/>
          </a:xfrm>
          <a:prstGeom prst="rect">
            <a:avLst/>
          </a:prstGeom>
        </p:spPr>
      </p:pic>
      <p:sp>
        <p:nvSpPr>
          <p:cNvPr id="23" name="お願い文1"/>
          <p:cNvSpPr txBox="1"/>
          <p:nvPr/>
        </p:nvSpPr>
        <p:spPr>
          <a:xfrm>
            <a:off x="105156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お知り合いのビジネスパートナーへのご紹介</a:t>
            </a:r>
            <a:endParaRPr lang="en-US" sz="1400" dirty="0"/>
          </a:p>
        </p:txBody>
      </p:sp>
      <p:sp>
        <p:nvSpPr>
          <p:cNvPr id="24" name="お願い2円"/>
          <p:cNvSpPr/>
          <p:nvPr/>
        </p:nvSpPr>
        <p:spPr>
          <a:xfrm>
            <a:off x="329184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お願い2アイコン" descr="お願い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2424" y="2889504"/>
            <a:ext cx="256032" cy="256032"/>
          </a:xfrm>
          <a:prstGeom prst="rect">
            <a:avLst/>
          </a:prstGeom>
        </p:spPr>
      </p:pic>
      <p:sp>
        <p:nvSpPr>
          <p:cNvPr id="26" name="お願い文2"/>
          <p:cNvSpPr txBox="1"/>
          <p:nvPr/>
        </p:nvSpPr>
        <p:spPr>
          <a:xfrm>
            <a:off x="388620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成約の確認（監査）</a:t>
            </a:r>
            <a:endParaRPr lang="en-US" sz="1400" dirty="0"/>
          </a:p>
        </p:txBody>
      </p:sp>
      <p:sp>
        <p:nvSpPr>
          <p:cNvPr id="27" name="お願い3円"/>
          <p:cNvSpPr/>
          <p:nvPr/>
        </p:nvSpPr>
        <p:spPr>
          <a:xfrm>
            <a:off x="612648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お願い3アイコン" descr="お願い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2889504"/>
            <a:ext cx="256032" cy="256032"/>
          </a:xfrm>
          <a:prstGeom prst="rect">
            <a:avLst/>
          </a:prstGeom>
        </p:spPr>
      </p:pic>
      <p:sp>
        <p:nvSpPr>
          <p:cNvPr id="29" name="お願い文3"/>
          <p:cNvSpPr txBox="1"/>
          <p:nvPr/>
        </p:nvSpPr>
        <p:spPr>
          <a:xfrm>
            <a:off x="672084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率やルールへのご意見</a:t>
            </a:r>
            <a:endParaRPr lang="en-US" sz="1400" dirty="0"/>
          </a:p>
        </p:txBody>
      </p:sp>
      <p:sp>
        <p:nvSpPr>
          <p:cNvPr id="30" name="報酬枠"/>
          <p:cNvSpPr/>
          <p:nvPr/>
        </p:nvSpPr>
        <p:spPr>
          <a:xfrm>
            <a:off x="457200" y="3429000"/>
            <a:ext cx="822960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1" name="報酬文"/>
          <p:cNvSpPr txBox="1"/>
          <p:nvPr/>
        </p:nvSpPr>
        <p:spPr>
          <a:xfrm>
            <a:off x="640080" y="3429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阿部さんへの報酬は、成果が見える形で、時期と割合を一緒に相談して決めます。</a:t>
            </a:r>
            <a:endParaRPr lang="en-US" sz="1400" dirty="0"/>
          </a:p>
        </p:txBody>
      </p:sp>
      <p:sp>
        <p:nvSpPr>
          <p:cNvPr id="32" name="オプション枠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オプション札"/>
          <p:cNvSpPr/>
          <p:nvPr/>
        </p:nvSpPr>
        <p:spPr>
          <a:xfrm>
            <a:off x="594360" y="4114800"/>
            <a:ext cx="1188720" cy="365760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オプション札文"/>
          <p:cNvSpPr txBox="1"/>
          <p:nvPr/>
        </p:nvSpPr>
        <p:spPr>
          <a:xfrm>
            <a:off x="59436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オプション</a:t>
            </a:r>
            <a:endParaRPr lang="en-US" sz="1200" dirty="0"/>
          </a:p>
        </p:txBody>
      </p:sp>
      <p:sp>
        <p:nvSpPr>
          <p:cNvPr id="35" name="オプション文"/>
          <p:cNvSpPr txBox="1"/>
          <p:nvPr/>
        </p:nvSpPr>
        <p:spPr>
          <a:xfrm>
            <a:off x="1920240" y="39776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成約のあと、育てる方向：配属後のフォローと、スキルの差の見える化。必要に応じて、あとから加えられます。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画面に合わせる (16:9)</PresentationFormat>
  <Paragraphs>96</Paragraphs>
  <Slides>6</Slides>
  <Notes>6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7" baseType="lpstr">
      <vt:lpstr>Parks Blue</vt:lpstr>
      <vt:lpstr>Parks（仮）</vt:lpstr>
      <vt:lpstr>このプロジェクトに賭ける私の想い</vt:lpstr>
      <vt:lpstr>現場の課題を、ビジネスパートナーの束ねで解く</vt:lpstr>
      <vt:lpstr>エンジニアの成約率が、ぐっと上がる仕組み</vt:lpstr>
      <vt:lpstr>PowerPoint プレゼンテーション</vt:lpstr>
      <vt:lpstr>まず小さく試して、数字で確かめる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Parks（仮）企画書 たたき台</dc:title>
  <dc:subject>PptxGenJS Presentation</dc:subject>
  <dc:creator>tezzo</dc:creator>
  <cp:lastModifiedBy>rock@jona.jp</cp:lastModifiedBy>
  <cp:revision>6</cp:revision>
  <dcterms:created xsi:type="dcterms:W3CDTF">2026-10-13T22:51:16Z</dcterms:created>
  <dcterms:modified xsi:type="dcterms:W3CDTF">2026-10-13T23:40:12Z</dcterms:modified>
</cp:coreProperties>
</file>