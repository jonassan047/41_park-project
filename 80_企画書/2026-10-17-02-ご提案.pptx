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307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1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締め：みなさまで結束（グループ化）すれば、受けられる案件が増え、人が足りない案件も埋められ、決まるほど案件が集まる。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39FF0B-54CE-4728-A088-CBA73DF2FB34}"/>
              </a:ext>
            </a:extLst>
          </p:cNvPr>
          <p:cNvSpPr>
            <a:spLocks noGrp="1"/>
          </p:cNvSpPr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05703E-438F-4D79-96EC-9D68963DFCB6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D649693-62BB-4CD9-A87B-FBF3F338A78A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9C844A-121C-4E64-9845-41F327C8019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52EE027-0985-490A-90F2-2F828C91B51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  <a:endParaRPr sz="1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8BAE9C7-A860-4CB8-B123-FC6E29B3983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E6E297E-55D3-495F-9F92-E294FB0C78F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A03124A-9DB6-4D0F-A358-2EC8B3AD9CC1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 dirty="0">
                <a:solidFill>
                  <a:schemeClr val="bg1"/>
                </a:solidFill>
              </a:rPr>
              <a:t>PARK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ja-JP" altLang="en-US" sz="4000" b="1" dirty="0">
                <a:solidFill>
                  <a:schemeClr val="bg1"/>
                </a:solidFill>
              </a:rPr>
              <a:t>プロジェクト</a:t>
            </a:r>
            <a:endParaRPr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E1F597-DA0B-4FE6-A963-4322C7D5446E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00" dirty="0" err="1">
                <a:solidFill>
                  <a:schemeClr val="accent4"/>
                </a:solidFill>
              </a:rPr>
              <a:t>SES企業</a:t>
            </a:r>
            <a:r>
              <a:rPr lang="ja-JP" altLang="en-US" sz="1600" dirty="0">
                <a:solidFill>
                  <a:schemeClr val="accent4"/>
                </a:solidFill>
              </a:rPr>
              <a:t>のみなさま</a:t>
            </a:r>
            <a:r>
              <a:rPr sz="1600" dirty="0" err="1">
                <a:solidFill>
                  <a:schemeClr val="accent4"/>
                </a:solidFill>
              </a:rPr>
              <a:t>とエンジニアが</a:t>
            </a:r>
            <a:r>
              <a:rPr lang="ja-JP" altLang="en-US" dirty="0"/>
              <a:t>集う庭</a:t>
            </a:r>
            <a:br>
              <a:rPr lang="en-US" altLang="ja-JP" dirty="0"/>
            </a:br>
            <a:r>
              <a:rPr sz="1600" dirty="0" err="1">
                <a:solidFill>
                  <a:schemeClr val="accent4"/>
                </a:solidFill>
              </a:rPr>
              <a:t>案件と人材をつなぎ、成約率向上をめざす仕組み</a:t>
            </a:r>
            <a:endParaRPr sz="1600" dirty="0"/>
          </a:p>
          <a:p>
            <a:pPr marL="0" indent="0" algn="l">
              <a:buNone/>
            </a:pPr>
            <a:r>
              <a:rPr lang="en-US" altLang="ja-JP" sz="1600" dirty="0">
                <a:solidFill>
                  <a:schemeClr val="accent4"/>
                </a:solidFill>
              </a:rPr>
              <a:t>PARK</a:t>
            </a:r>
            <a:r>
              <a:rPr lang="ja-JP" altLang="en-US" sz="1600" dirty="0">
                <a:solidFill>
                  <a:schemeClr val="accent4"/>
                </a:solidFill>
              </a:rPr>
              <a:t>プロジェクトは</a:t>
            </a:r>
            <a:r>
              <a:rPr sz="1600" dirty="0" err="1">
                <a:solidFill>
                  <a:schemeClr val="accent4"/>
                </a:solidFill>
              </a:rPr>
              <a:t>SES企業のみなさまへのご提案です</a:t>
            </a:r>
            <a:endParaRPr sz="1600" dirty="0">
              <a:solidFill>
                <a:schemeClr val="accent4"/>
              </a:solidFill>
            </a:endParaRPr>
          </a:p>
          <a:p>
            <a:pPr marL="0" indent="0" algn="l">
              <a:buNone/>
            </a:pPr>
            <a:endParaRPr sz="1600" dirty="0">
              <a:solidFill>
                <a:schemeClr val="accent4"/>
              </a:solidFill>
            </a:endParaRPr>
          </a:p>
          <a:p>
            <a:pPr marL="0" indent="0" algn="l">
              <a:buNone/>
            </a:pPr>
            <a:r>
              <a:rPr sz="1200" dirty="0">
                <a:solidFill>
                  <a:schemeClr val="accent4"/>
                </a:solidFill>
              </a:rPr>
              <a:t>2026年10月14日</a:t>
            </a:r>
            <a:endParaRPr sz="1600" dirty="0"/>
          </a:p>
        </p:txBody>
      </p:sp>
      <p:sp>
        <p:nvSpPr>
          <p:cNvPr id="4" name="表紙円">
            <a:extLst>
              <a:ext uri="{FF2B5EF4-FFF2-40B4-BE49-F238E27FC236}">
                <a16:creationId xmlns:a16="http://schemas.microsoft.com/office/drawing/2014/main" id="{534AB8E4-6002-46F7-96CB-F43A3D03E2E9}"/>
              </a:ext>
            </a:extLst>
          </p:cNvPr>
          <p:cNvSpPr>
            <a:spLocks noGrp="1"/>
          </p:cNvSpPr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>
              <a:ext uri="{FF2B5EF4-FFF2-40B4-BE49-F238E27FC236}">
                <a16:creationId xmlns:a16="http://schemas.microsoft.com/office/drawing/2014/main" id="{A20DFDC4-977B-4B8B-AE7F-6BBF4BAC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  <p:sp>
        <p:nvSpPr>
          <p:cNvPr id="6" name="表紙イラスト・机">
            <a:extLst>
              <a:ext uri="{FF2B5EF4-FFF2-40B4-BE49-F238E27FC236}">
                <a16:creationId xmlns:a16="http://schemas.microsoft.com/office/drawing/2014/main" id="{820FA163-9CC6-42DC-A900-F90CA962A337}"/>
              </a:ext>
            </a:extLst>
          </p:cNvPr>
          <p:cNvSpPr>
            <a:spLocks noGrp="1"/>
          </p:cNvSpPr>
          <p:nvPr/>
        </p:nvSpPr>
        <p:spPr>
          <a:xfrm>
            <a:off x="6448425" y="433387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7" name="表紙イラスト・机脚1">
            <a:extLst>
              <a:ext uri="{FF2B5EF4-FFF2-40B4-BE49-F238E27FC236}">
                <a16:creationId xmlns:a16="http://schemas.microsoft.com/office/drawing/2014/main" id="{CFFF6332-B535-4C52-8E47-C312A3F2D992}"/>
              </a:ext>
            </a:extLst>
          </p:cNvPr>
          <p:cNvSpPr>
            <a:spLocks noGrp="1"/>
          </p:cNvSpPr>
          <p:nvPr/>
        </p:nvSpPr>
        <p:spPr>
          <a:xfrm>
            <a:off x="66294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8" name="表紙イラスト・机脚2">
            <a:extLst>
              <a:ext uri="{FF2B5EF4-FFF2-40B4-BE49-F238E27FC236}">
                <a16:creationId xmlns:a16="http://schemas.microsoft.com/office/drawing/2014/main" id="{9AFCA771-6A42-411B-91B1-5E9EC197B116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9" name="表紙イラスト・参加者A・頭">
            <a:extLst>
              <a:ext uri="{FF2B5EF4-FFF2-40B4-BE49-F238E27FC236}">
                <a16:creationId xmlns:a16="http://schemas.microsoft.com/office/drawing/2014/main" id="{77B52754-DFF3-45D7-B06B-0F0EBDE28907}"/>
              </a:ext>
            </a:extLst>
          </p:cNvPr>
          <p:cNvSpPr>
            <a:spLocks noGrp="1"/>
          </p:cNvSpPr>
          <p:nvPr/>
        </p:nvSpPr>
        <p:spPr>
          <a:xfrm>
            <a:off x="684561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0" name="表紙イラスト・参加者A・髪">
            <a:extLst>
              <a:ext uri="{FF2B5EF4-FFF2-40B4-BE49-F238E27FC236}">
                <a16:creationId xmlns:a16="http://schemas.microsoft.com/office/drawing/2014/main" id="{39BB2835-EBD3-48D7-AA0C-4F314C3A737D}"/>
              </a:ext>
            </a:extLst>
          </p:cNvPr>
          <p:cNvSpPr>
            <a:spLocks noGrp="1"/>
          </p:cNvSpPr>
          <p:nvPr/>
        </p:nvSpPr>
        <p:spPr>
          <a:xfrm>
            <a:off x="682371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1" name="表紙イラスト・参加者A・胴">
            <a:extLst>
              <a:ext uri="{FF2B5EF4-FFF2-40B4-BE49-F238E27FC236}">
                <a16:creationId xmlns:a16="http://schemas.microsoft.com/office/drawing/2014/main" id="{BFB3B67F-A451-4F05-A097-425AEC0193F4}"/>
              </a:ext>
            </a:extLst>
          </p:cNvPr>
          <p:cNvSpPr>
            <a:spLocks noGrp="1"/>
          </p:cNvSpPr>
          <p:nvPr/>
        </p:nvSpPr>
        <p:spPr>
          <a:xfrm>
            <a:off x="674703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2" name="表紙イラスト・参加者A・脚1">
            <a:extLst>
              <a:ext uri="{FF2B5EF4-FFF2-40B4-BE49-F238E27FC236}">
                <a16:creationId xmlns:a16="http://schemas.microsoft.com/office/drawing/2014/main" id="{29E55881-6D69-472E-B4D5-554A19E4ECE4}"/>
              </a:ext>
            </a:extLst>
          </p:cNvPr>
          <p:cNvSpPr>
            <a:spLocks noGrp="1"/>
          </p:cNvSpPr>
          <p:nvPr/>
        </p:nvSpPr>
        <p:spPr>
          <a:xfrm>
            <a:off x="679084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3" name="表紙イラスト・参加者A・脚2">
            <a:extLst>
              <a:ext uri="{FF2B5EF4-FFF2-40B4-BE49-F238E27FC236}">
                <a16:creationId xmlns:a16="http://schemas.microsoft.com/office/drawing/2014/main" id="{0796754B-0D5E-4FC4-8AE9-6219A99E0A3D}"/>
              </a:ext>
            </a:extLst>
          </p:cNvPr>
          <p:cNvSpPr>
            <a:spLocks noGrp="1"/>
          </p:cNvSpPr>
          <p:nvPr/>
        </p:nvSpPr>
        <p:spPr>
          <a:xfrm>
            <a:off x="704278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4" name="表紙イラスト・参加者B・頭">
            <a:extLst>
              <a:ext uri="{FF2B5EF4-FFF2-40B4-BE49-F238E27FC236}">
                <a16:creationId xmlns:a16="http://schemas.microsoft.com/office/drawing/2014/main" id="{A0D77145-C973-4C91-920A-5EF0D451E706}"/>
              </a:ext>
            </a:extLst>
          </p:cNvPr>
          <p:cNvSpPr>
            <a:spLocks noGrp="1"/>
          </p:cNvSpPr>
          <p:nvPr/>
        </p:nvSpPr>
        <p:spPr>
          <a:xfrm>
            <a:off x="800766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5" name="表紙イラスト・参加者B・髪">
            <a:extLst>
              <a:ext uri="{FF2B5EF4-FFF2-40B4-BE49-F238E27FC236}">
                <a16:creationId xmlns:a16="http://schemas.microsoft.com/office/drawing/2014/main" id="{D845F178-023E-4EB4-81B3-6FEF0DA73879}"/>
              </a:ext>
            </a:extLst>
          </p:cNvPr>
          <p:cNvSpPr>
            <a:spLocks noGrp="1"/>
          </p:cNvSpPr>
          <p:nvPr/>
        </p:nvSpPr>
        <p:spPr>
          <a:xfrm>
            <a:off x="798576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6" name="表紙イラスト・参加者B・胴">
            <a:extLst>
              <a:ext uri="{FF2B5EF4-FFF2-40B4-BE49-F238E27FC236}">
                <a16:creationId xmlns:a16="http://schemas.microsoft.com/office/drawing/2014/main" id="{1F425D05-9FDF-4FB6-881D-3833880406D6}"/>
              </a:ext>
            </a:extLst>
          </p:cNvPr>
          <p:cNvSpPr>
            <a:spLocks noGrp="1"/>
          </p:cNvSpPr>
          <p:nvPr/>
        </p:nvSpPr>
        <p:spPr>
          <a:xfrm>
            <a:off x="790908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7" name="表紙イラスト・参加者B・脚1">
            <a:extLst>
              <a:ext uri="{FF2B5EF4-FFF2-40B4-BE49-F238E27FC236}">
                <a16:creationId xmlns:a16="http://schemas.microsoft.com/office/drawing/2014/main" id="{2E2E9F38-78A8-42E0-AB58-DEAF04818EBB}"/>
              </a:ext>
            </a:extLst>
          </p:cNvPr>
          <p:cNvSpPr>
            <a:spLocks noGrp="1"/>
          </p:cNvSpPr>
          <p:nvPr/>
        </p:nvSpPr>
        <p:spPr>
          <a:xfrm>
            <a:off x="795289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8" name="表紙イラスト・参加者B・脚2">
            <a:extLst>
              <a:ext uri="{FF2B5EF4-FFF2-40B4-BE49-F238E27FC236}">
                <a16:creationId xmlns:a16="http://schemas.microsoft.com/office/drawing/2014/main" id="{9CBFFAF5-B5C3-4DF5-8932-03BBCD532098}"/>
              </a:ext>
            </a:extLst>
          </p:cNvPr>
          <p:cNvSpPr>
            <a:spLocks noGrp="1"/>
          </p:cNvSpPr>
          <p:nvPr/>
        </p:nvSpPr>
        <p:spPr>
          <a:xfrm>
            <a:off x="820483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9" name="表紙イラスト・PC画面">
            <a:extLst>
              <a:ext uri="{FF2B5EF4-FFF2-40B4-BE49-F238E27FC236}">
                <a16:creationId xmlns:a16="http://schemas.microsoft.com/office/drawing/2014/main" id="{70099F48-E67E-4C84-93DC-DC4DA404E0ED}"/>
              </a:ext>
            </a:extLst>
          </p:cNvPr>
          <p:cNvSpPr>
            <a:spLocks noGrp="1"/>
          </p:cNvSpPr>
          <p:nvPr/>
        </p:nvSpPr>
        <p:spPr>
          <a:xfrm>
            <a:off x="7296150" y="38100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0" name="表紙イラスト・PC画面内">
            <a:extLst>
              <a:ext uri="{FF2B5EF4-FFF2-40B4-BE49-F238E27FC236}">
                <a16:creationId xmlns:a16="http://schemas.microsoft.com/office/drawing/2014/main" id="{99F7B1B0-AC12-469B-882F-D72EA3DBF51D}"/>
              </a:ext>
            </a:extLst>
          </p:cNvPr>
          <p:cNvSpPr>
            <a:spLocks noGrp="1"/>
          </p:cNvSpPr>
          <p:nvPr/>
        </p:nvSpPr>
        <p:spPr>
          <a:xfrm>
            <a:off x="7353300" y="3867150"/>
            <a:ext cx="552450" cy="333375"/>
          </a:xfrm>
          <a:prstGeom prst="roundRect">
            <a:avLst>
              <a:gd name="adj" fmla="val 22857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21" name="表紙イラスト・PC台">
            <a:extLst>
              <a:ext uri="{FF2B5EF4-FFF2-40B4-BE49-F238E27FC236}">
                <a16:creationId xmlns:a16="http://schemas.microsoft.com/office/drawing/2014/main" id="{68098DC3-4916-4C20-B88C-2DA6E90DCD4A}"/>
              </a:ext>
            </a:extLst>
          </p:cNvPr>
          <p:cNvSpPr>
            <a:spLocks noGrp="1"/>
          </p:cNvSpPr>
          <p:nvPr/>
        </p:nvSpPr>
        <p:spPr>
          <a:xfrm>
            <a:off x="7219950" y="4267200"/>
            <a:ext cx="819150" cy="66675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2" name="表紙イラスト・腕A">
            <a:extLst>
              <a:ext uri="{FF2B5EF4-FFF2-40B4-BE49-F238E27FC236}">
                <a16:creationId xmlns:a16="http://schemas.microsoft.com/office/drawing/2014/main" id="{8A38A081-6EA7-4AD9-B6CF-72AB4707CF22}"/>
              </a:ext>
            </a:extLst>
          </p:cNvPr>
          <p:cNvSpPr>
            <a:spLocks noGrp="1"/>
          </p:cNvSpPr>
          <p:nvPr/>
        </p:nvSpPr>
        <p:spPr>
          <a:xfrm>
            <a:off x="7038975" y="3781425"/>
            <a:ext cx="33337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3" name="表紙イラスト・腕B">
            <a:extLst>
              <a:ext uri="{FF2B5EF4-FFF2-40B4-BE49-F238E27FC236}">
                <a16:creationId xmlns:a16="http://schemas.microsoft.com/office/drawing/2014/main" id="{C5009891-2F7E-4681-9DDE-CB09AE21BACF}"/>
              </a:ext>
            </a:extLst>
          </p:cNvPr>
          <p:cNvSpPr>
            <a:spLocks noGrp="1"/>
          </p:cNvSpPr>
          <p:nvPr/>
        </p:nvSpPr>
        <p:spPr>
          <a:xfrm>
            <a:off x="7734300" y="3781425"/>
            <a:ext cx="27622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pic>
        <p:nvPicPr>
          <p:cNvPr id="24" name="16版 写真 1ページ" descr="握手している手元の写真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0"/>
            <a:ext cx="3118104" cy="5143500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96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B8602C-5C9C-4CEF-945E-A9A92E40CDD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394996" y="31165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altLang="ja-JP" sz="2800" b="1" dirty="0">
                <a:solidFill>
                  <a:schemeClr val="tx1"/>
                </a:solidFill>
              </a:rPr>
              <a:t>PARK </a:t>
            </a:r>
            <a:r>
              <a:rPr sz="2800" b="1" dirty="0" err="1">
                <a:solidFill>
                  <a:schemeClr val="tx1"/>
                </a:solidFill>
              </a:rPr>
              <a:t>プロジェクトに賭ける私の想い</a:t>
            </a:r>
            <a:endParaRPr sz="2800" dirty="0"/>
          </a:p>
        </p:txBody>
      </p:sp>
      <p:sp>
        <p:nvSpPr>
          <p:cNvPr id="3" name="想い1円">
            <a:extLst>
              <a:ext uri="{FF2B5EF4-FFF2-40B4-BE49-F238E27FC236}">
                <a16:creationId xmlns:a16="http://schemas.microsoft.com/office/drawing/2014/main" id="{DCD30D59-35EC-4BA9-A2D7-BA2C9F9DF24B}"/>
              </a:ext>
            </a:extLst>
          </p:cNvPr>
          <p:cNvSpPr>
            <a:spLocks noGrp="1"/>
          </p:cNvSpPr>
          <p:nvPr/>
        </p:nvSpPr>
        <p:spPr>
          <a:xfrm>
            <a:off x="463421" y="222372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>
              <a:ext uri="{FF2B5EF4-FFF2-40B4-BE49-F238E27FC236}">
                <a16:creationId xmlns:a16="http://schemas.microsoft.com/office/drawing/2014/main" id="{EC5D9AC7-F795-4CF3-ADBE-88A4AE42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39" y="2364539"/>
            <a:ext cx="358445" cy="358445"/>
          </a:xfrm>
          <a:prstGeom prst="rect">
            <a:avLst/>
          </a:prstGeom>
        </p:spPr>
      </p:pic>
      <p:sp>
        <p:nvSpPr>
          <p:cNvPr id="5" name="想い文1">
            <a:extLst>
              <a:ext uri="{FF2B5EF4-FFF2-40B4-BE49-F238E27FC236}">
                <a16:creationId xmlns:a16="http://schemas.microsoft.com/office/drawing/2014/main" id="{3E5E2EEC-CC52-45CF-967C-C559EDF636AD}"/>
              </a:ext>
            </a:extLst>
          </p:cNvPr>
          <p:cNvSpPr>
            <a:spLocks noGrp="1"/>
          </p:cNvSpPr>
          <p:nvPr/>
        </p:nvSpPr>
        <p:spPr>
          <a:xfrm>
            <a:off x="1332071" y="222370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SES企業の横のつながり</a:t>
            </a:r>
            <a:r>
              <a:rPr lang="ja-JP" altLang="en-US"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業務連携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を強くする</a:t>
            </a:r>
            <a:endParaRPr sz="1800" dirty="0"/>
          </a:p>
        </p:txBody>
      </p:sp>
      <p:sp>
        <p:nvSpPr>
          <p:cNvPr id="6" name="想い2円">
            <a:extLst>
              <a:ext uri="{FF2B5EF4-FFF2-40B4-BE49-F238E27FC236}">
                <a16:creationId xmlns:a16="http://schemas.microsoft.com/office/drawing/2014/main" id="{0EDE433A-7F1F-4DA9-A984-B1CDE88BC35F}"/>
              </a:ext>
            </a:extLst>
          </p:cNvPr>
          <p:cNvSpPr>
            <a:spLocks noGrp="1"/>
          </p:cNvSpPr>
          <p:nvPr/>
        </p:nvSpPr>
        <p:spPr>
          <a:xfrm>
            <a:off x="463421" y="309240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>
              <a:ext uri="{FF2B5EF4-FFF2-40B4-BE49-F238E27FC236}">
                <a16:creationId xmlns:a16="http://schemas.microsoft.com/office/drawing/2014/main" id="{704AEC49-8943-42C8-B7CB-01B01D04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39" y="3233219"/>
            <a:ext cx="358445" cy="358445"/>
          </a:xfrm>
          <a:prstGeom prst="rect">
            <a:avLst/>
          </a:prstGeom>
        </p:spPr>
      </p:pic>
      <p:sp>
        <p:nvSpPr>
          <p:cNvPr id="8" name="想い文2">
            <a:extLst>
              <a:ext uri="{FF2B5EF4-FFF2-40B4-BE49-F238E27FC236}">
                <a16:creationId xmlns:a16="http://schemas.microsoft.com/office/drawing/2014/main" id="{F45E24E8-5948-4328-BA4E-9DEF5B9BF10C}"/>
              </a:ext>
            </a:extLst>
          </p:cNvPr>
          <p:cNvSpPr>
            <a:spLocks noGrp="1"/>
          </p:cNvSpPr>
          <p:nvPr/>
        </p:nvSpPr>
        <p:spPr>
          <a:xfrm>
            <a:off x="1332071" y="309238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適切な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エンジニアへすばやく届ける</a:t>
            </a:r>
            <a:endParaRPr sz="1800" dirty="0"/>
          </a:p>
        </p:txBody>
      </p:sp>
      <p:sp>
        <p:nvSpPr>
          <p:cNvPr id="9" name="想い3円">
            <a:extLst>
              <a:ext uri="{FF2B5EF4-FFF2-40B4-BE49-F238E27FC236}">
                <a16:creationId xmlns:a16="http://schemas.microsoft.com/office/drawing/2014/main" id="{AF4EFA29-2B9D-41EB-AF2C-F4255F1CE7E3}"/>
              </a:ext>
            </a:extLst>
          </p:cNvPr>
          <p:cNvSpPr>
            <a:spLocks noGrp="1"/>
          </p:cNvSpPr>
          <p:nvPr/>
        </p:nvSpPr>
        <p:spPr>
          <a:xfrm>
            <a:off x="463421" y="396108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>
              <a:ext uri="{FF2B5EF4-FFF2-40B4-BE49-F238E27FC236}">
                <a16:creationId xmlns:a16="http://schemas.microsoft.com/office/drawing/2014/main" id="{5156A03A-A97B-4CCA-90D4-BD583EA6B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39" y="4101899"/>
            <a:ext cx="358445" cy="358445"/>
          </a:xfrm>
          <a:prstGeom prst="rect">
            <a:avLst/>
          </a:prstGeom>
        </p:spPr>
      </p:pic>
      <p:sp>
        <p:nvSpPr>
          <p:cNvPr id="11" name="想い文3">
            <a:extLst>
              <a:ext uri="{FF2B5EF4-FFF2-40B4-BE49-F238E27FC236}">
                <a16:creationId xmlns:a16="http://schemas.microsoft.com/office/drawing/2014/main" id="{7C50BCB5-FDDC-464F-A5D0-B2974D0E5DFC}"/>
              </a:ext>
            </a:extLst>
          </p:cNvPr>
          <p:cNvSpPr>
            <a:spLocks noGrp="1"/>
          </p:cNvSpPr>
          <p:nvPr/>
        </p:nvSpPr>
        <p:spPr>
          <a:xfrm>
            <a:off x="1332071" y="396106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エンジニアの魅力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を的確に伝え、成約率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アップ！</a:t>
            </a:r>
            <a:endParaRPr sz="1800" dirty="0"/>
          </a:p>
        </p:txBody>
      </p:sp>
      <p:sp>
        <p:nvSpPr>
          <p:cNvPr id="12" name="経験帯">
            <a:extLst>
              <a:ext uri="{FF2B5EF4-FFF2-40B4-BE49-F238E27FC236}">
                <a16:creationId xmlns:a16="http://schemas.microsoft.com/office/drawing/2014/main" id="{851E9AFB-3BBF-46E5-A12E-940AA1CDD93D}"/>
              </a:ext>
            </a:extLst>
          </p:cNvPr>
          <p:cNvSpPr>
            <a:spLocks noGrp="1"/>
          </p:cNvSpPr>
          <p:nvPr/>
        </p:nvSpPr>
        <p:spPr>
          <a:xfrm>
            <a:off x="463421" y="1092926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>
              <a:ext uri="{FF2B5EF4-FFF2-40B4-BE49-F238E27FC236}">
                <a16:creationId xmlns:a16="http://schemas.microsoft.com/office/drawing/2014/main" id="{602E4B15-8E25-4EB3-88D4-51A52E47AC00}"/>
              </a:ext>
            </a:extLst>
          </p:cNvPr>
          <p:cNvSpPr>
            <a:spLocks noGrp="1"/>
          </p:cNvSpPr>
          <p:nvPr/>
        </p:nvSpPr>
        <p:spPr>
          <a:xfrm>
            <a:off x="394996" y="1129945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エンジニアを15年以上続けてきた私だから提案でき</a:t>
            </a:r>
            <a:r>
              <a:rPr lang="ja-JP" altLang="en-US"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ることで</a:t>
            </a:r>
            <a:r>
              <a:rPr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す</a:t>
            </a:r>
            <a:endParaRPr sz="1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E3D2000-613E-41D7-9B36-56699BFD458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26" name="提案する人イラスト・背景">
            <a:extLst>
              <a:ext uri="{FF2B5EF4-FFF2-40B4-BE49-F238E27FC236}">
                <a16:creationId xmlns:a16="http://schemas.microsoft.com/office/drawing/2014/main" id="{FC078D66-5634-4CAA-81CB-AD22CB5E1BDC}"/>
              </a:ext>
            </a:extLst>
          </p:cNvPr>
          <p:cNvSpPr>
            <a:spLocks noGrp="1"/>
          </p:cNvSpPr>
          <p:nvPr/>
        </p:nvSpPr>
        <p:spPr>
          <a:xfrm>
            <a:off x="6819900" y="2143125"/>
            <a:ext cx="1866900" cy="2505075"/>
          </a:xfrm>
          <a:prstGeom prst="roundRect">
            <a:avLst>
              <a:gd name="adj" fmla="val 4082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7" name="提案する人イラスト・椅子">
            <a:extLst>
              <a:ext uri="{FF2B5EF4-FFF2-40B4-BE49-F238E27FC236}">
                <a16:creationId xmlns:a16="http://schemas.microsoft.com/office/drawing/2014/main" id="{4B410AA7-A51A-4487-A92D-50992599ACA1}"/>
              </a:ext>
            </a:extLst>
          </p:cNvPr>
          <p:cNvSpPr>
            <a:spLocks noGrp="1"/>
          </p:cNvSpPr>
          <p:nvPr/>
        </p:nvSpPr>
        <p:spPr>
          <a:xfrm>
            <a:off x="7105650" y="3486150"/>
            <a:ext cx="409575" cy="695325"/>
          </a:xfrm>
          <a:prstGeom prst="roundRect">
            <a:avLst>
              <a:gd name="adj" fmla="val 18605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8" name="提案する人イラスト・頭">
            <a:extLst>
              <a:ext uri="{FF2B5EF4-FFF2-40B4-BE49-F238E27FC236}">
                <a16:creationId xmlns:a16="http://schemas.microsoft.com/office/drawing/2014/main" id="{89986A75-F4A7-4879-A815-50D62B117C1F}"/>
              </a:ext>
            </a:extLst>
          </p:cNvPr>
          <p:cNvSpPr>
            <a:spLocks noGrp="1"/>
          </p:cNvSpPr>
          <p:nvPr/>
        </p:nvSpPr>
        <p:spPr>
          <a:xfrm>
            <a:off x="7143750" y="2505075"/>
            <a:ext cx="323850" cy="323850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9" name="提案する人イラスト・髪">
            <a:extLst>
              <a:ext uri="{FF2B5EF4-FFF2-40B4-BE49-F238E27FC236}">
                <a16:creationId xmlns:a16="http://schemas.microsoft.com/office/drawing/2014/main" id="{1CF1350D-1681-4255-9858-F92DDEF7430F}"/>
              </a:ext>
            </a:extLst>
          </p:cNvPr>
          <p:cNvSpPr>
            <a:spLocks noGrp="1"/>
          </p:cNvSpPr>
          <p:nvPr/>
        </p:nvSpPr>
        <p:spPr>
          <a:xfrm>
            <a:off x="7115175" y="2466975"/>
            <a:ext cx="381000" cy="190500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0" name="提案する人イラスト・胴">
            <a:extLst>
              <a:ext uri="{FF2B5EF4-FFF2-40B4-BE49-F238E27FC236}">
                <a16:creationId xmlns:a16="http://schemas.microsoft.com/office/drawing/2014/main" id="{2E4FEF8A-F47A-4CB7-AD3F-7864CE412CA6}"/>
              </a:ext>
            </a:extLst>
          </p:cNvPr>
          <p:cNvSpPr>
            <a:spLocks noGrp="1"/>
          </p:cNvSpPr>
          <p:nvPr/>
        </p:nvSpPr>
        <p:spPr>
          <a:xfrm>
            <a:off x="7029450" y="2876550"/>
            <a:ext cx="628650" cy="723900"/>
          </a:xfrm>
          <a:prstGeom prst="roundRect">
            <a:avLst>
              <a:gd name="adj" fmla="val 12121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提案する人イラスト・脚1">
            <a:extLst>
              <a:ext uri="{FF2B5EF4-FFF2-40B4-BE49-F238E27FC236}">
                <a16:creationId xmlns:a16="http://schemas.microsoft.com/office/drawing/2014/main" id="{849A3CF3-01ED-4BF9-91C4-DCB51C10C886}"/>
              </a:ext>
            </a:extLst>
          </p:cNvPr>
          <p:cNvSpPr>
            <a:spLocks noGrp="1"/>
          </p:cNvSpPr>
          <p:nvPr/>
        </p:nvSpPr>
        <p:spPr>
          <a:xfrm>
            <a:off x="7105650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2" name="提案する人イラスト・脚2">
            <a:extLst>
              <a:ext uri="{FF2B5EF4-FFF2-40B4-BE49-F238E27FC236}">
                <a16:creationId xmlns:a16="http://schemas.microsoft.com/office/drawing/2014/main" id="{B336C8C1-1D88-41CD-B449-198A05E56022}"/>
              </a:ext>
            </a:extLst>
          </p:cNvPr>
          <p:cNvSpPr>
            <a:spLocks noGrp="1"/>
          </p:cNvSpPr>
          <p:nvPr/>
        </p:nvSpPr>
        <p:spPr>
          <a:xfrm>
            <a:off x="7381875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3" name="提案する人イラスト・机">
            <a:extLst>
              <a:ext uri="{FF2B5EF4-FFF2-40B4-BE49-F238E27FC236}">
                <a16:creationId xmlns:a16="http://schemas.microsoft.com/office/drawing/2014/main" id="{22F08AE6-B5A9-489C-A57F-BD63CF0E019F}"/>
              </a:ext>
            </a:extLst>
          </p:cNvPr>
          <p:cNvSpPr>
            <a:spLocks noGrp="1"/>
          </p:cNvSpPr>
          <p:nvPr/>
        </p:nvSpPr>
        <p:spPr>
          <a:xfrm>
            <a:off x="6962775" y="4010025"/>
            <a:ext cx="1571625" cy="9525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4" name="提案する人イラスト・机脚">
            <a:extLst>
              <a:ext uri="{FF2B5EF4-FFF2-40B4-BE49-F238E27FC236}">
                <a16:creationId xmlns:a16="http://schemas.microsoft.com/office/drawing/2014/main" id="{FCF655F2-69B6-46B3-8A73-71D14863E34B}"/>
              </a:ext>
            </a:extLst>
          </p:cNvPr>
          <p:cNvSpPr>
            <a:spLocks noGrp="1"/>
          </p:cNvSpPr>
          <p:nvPr/>
        </p:nvSpPr>
        <p:spPr>
          <a:xfrm>
            <a:off x="7086600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5" name="提案する人イラスト・机脚">
            <a:extLst>
              <a:ext uri="{FF2B5EF4-FFF2-40B4-BE49-F238E27FC236}">
                <a16:creationId xmlns:a16="http://schemas.microsoft.com/office/drawing/2014/main" id="{A4D21C01-677B-41D3-9B62-965EC007D71E}"/>
              </a:ext>
            </a:extLst>
          </p:cNvPr>
          <p:cNvSpPr>
            <a:spLocks noGrp="1"/>
          </p:cNvSpPr>
          <p:nvPr/>
        </p:nvSpPr>
        <p:spPr>
          <a:xfrm>
            <a:off x="8372475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6" name="提案する人イラスト・PC">
            <a:extLst>
              <a:ext uri="{FF2B5EF4-FFF2-40B4-BE49-F238E27FC236}">
                <a16:creationId xmlns:a16="http://schemas.microsoft.com/office/drawing/2014/main" id="{57E21CEE-65D9-48D5-9576-9AF0A3EAD2B7}"/>
              </a:ext>
            </a:extLst>
          </p:cNvPr>
          <p:cNvSpPr>
            <a:spLocks noGrp="1"/>
          </p:cNvSpPr>
          <p:nvPr/>
        </p:nvSpPr>
        <p:spPr>
          <a:xfrm>
            <a:off x="7696200" y="3190875"/>
            <a:ext cx="723900" cy="581025"/>
          </a:xfrm>
          <a:prstGeom prst="roundRect">
            <a:avLst>
              <a:gd name="adj" fmla="val 1311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7" name="提案する人イラスト・画面">
            <a:extLst>
              <a:ext uri="{FF2B5EF4-FFF2-40B4-BE49-F238E27FC236}">
                <a16:creationId xmlns:a16="http://schemas.microsoft.com/office/drawing/2014/main" id="{4DA99AB9-8792-4166-9305-33846C040F6C}"/>
              </a:ext>
            </a:extLst>
          </p:cNvPr>
          <p:cNvSpPr>
            <a:spLocks noGrp="1"/>
          </p:cNvSpPr>
          <p:nvPr/>
        </p:nvSpPr>
        <p:spPr>
          <a:xfrm>
            <a:off x="7762875" y="3257550"/>
            <a:ext cx="5905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8" name="提案する人イラスト・案件マーク">
            <a:extLst>
              <a:ext uri="{FF2B5EF4-FFF2-40B4-BE49-F238E27FC236}">
                <a16:creationId xmlns:a16="http://schemas.microsoft.com/office/drawing/2014/main" id="{F882982A-2E23-4180-94F6-4B1C95C727B4}"/>
              </a:ext>
            </a:extLst>
          </p:cNvPr>
          <p:cNvSpPr>
            <a:spLocks noGrp="1"/>
          </p:cNvSpPr>
          <p:nvPr/>
        </p:nvSpPr>
        <p:spPr>
          <a:xfrm>
            <a:off x="7839075" y="3333750"/>
            <a:ext cx="171450" cy="1714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9" name="提案する人イラスト・案件行1">
            <a:extLst>
              <a:ext uri="{FF2B5EF4-FFF2-40B4-BE49-F238E27FC236}">
                <a16:creationId xmlns:a16="http://schemas.microsoft.com/office/drawing/2014/main" id="{603A2334-26B6-40A8-B34D-4448C7E640C0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19075" cy="47625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0" name="提案する人イラスト・案件行2">
            <a:extLst>
              <a:ext uri="{FF2B5EF4-FFF2-40B4-BE49-F238E27FC236}">
                <a16:creationId xmlns:a16="http://schemas.microsoft.com/office/drawing/2014/main" id="{689F96EF-1E95-4628-A237-1E2673E5A626}"/>
              </a:ext>
            </a:extLst>
          </p:cNvPr>
          <p:cNvSpPr>
            <a:spLocks noGrp="1"/>
          </p:cNvSpPr>
          <p:nvPr/>
        </p:nvSpPr>
        <p:spPr>
          <a:xfrm>
            <a:off x="8058150" y="3467100"/>
            <a:ext cx="18097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1" name="提案する人イラスト・腕">
            <a:extLst>
              <a:ext uri="{FF2B5EF4-FFF2-40B4-BE49-F238E27FC236}">
                <a16:creationId xmlns:a16="http://schemas.microsoft.com/office/drawing/2014/main" id="{6886D75C-9421-4AD9-93DC-8328F74600EE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266700" cy="114300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2" name="提案する人イラスト・PC台">
            <a:extLst>
              <a:ext uri="{FF2B5EF4-FFF2-40B4-BE49-F238E27FC236}">
                <a16:creationId xmlns:a16="http://schemas.microsoft.com/office/drawing/2014/main" id="{299C710C-F3AC-42D1-8F38-5385968F94D2}"/>
              </a:ext>
            </a:extLst>
          </p:cNvPr>
          <p:cNvSpPr>
            <a:spLocks noGrp="1"/>
          </p:cNvSpPr>
          <p:nvPr/>
        </p:nvSpPr>
        <p:spPr>
          <a:xfrm>
            <a:off x="7629525" y="3771900"/>
            <a:ext cx="866775" cy="76200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pic>
        <p:nvPicPr>
          <p:cNvPr id="43" name="16版 写真 2ページ" descr="A person focused on a laptop at a table. Photo by Clinic Grower on Unsplash. https://unsplash.com/photos/man-working-on-laptop-at-a-white-table-ttnDcsWdQ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2139696"/>
            <a:ext cx="1865376" cy="2505456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937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A794EA-419E-4B4B-A04A-393051C6A64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dirty="0" err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SES各社が結束すれば、仕事は増えます</a:t>
            </a:r>
            <a:endParaRPr sz="28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3802C83-7C96-4C88-8F1E-AE0E672F588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仲間0">
            <a:extLst>
              <a:ext uri="{FF2B5EF4-FFF2-40B4-BE49-F238E27FC236}">
                <a16:creationId xmlns:a16="http://schemas.microsoft.com/office/drawing/2014/main" id="{860F4120-1804-46CE-8829-AFB8F9BF53D2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SES企業A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5" name="仲間1">
            <a:extLst>
              <a:ext uri="{FF2B5EF4-FFF2-40B4-BE49-F238E27FC236}">
                <a16:creationId xmlns:a16="http://schemas.microsoft.com/office/drawing/2014/main" id="{AB319472-C75F-4527-BFAB-7986A9A03520}"/>
              </a:ext>
            </a:extLst>
          </p:cNvPr>
          <p:cNvSpPr>
            <a:spLocks noGrp="1"/>
          </p:cNvSpPr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SES企業B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6" name="仲間2">
            <a:extLst>
              <a:ext uri="{FF2B5EF4-FFF2-40B4-BE49-F238E27FC236}">
                <a16:creationId xmlns:a16="http://schemas.microsoft.com/office/drawing/2014/main" id="{EDAE3164-6977-4E32-9E78-3BB17FC92C4B}"/>
              </a:ext>
            </a:extLst>
          </p:cNvPr>
          <p:cNvSpPr>
            <a:spLocks noGrp="1"/>
          </p:cNvSpPr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SES企業C</a:t>
            </a:r>
            <a:endParaRPr sz="10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7" name="結束矢印1">
            <a:extLst>
              <a:ext uri="{FF2B5EF4-FFF2-40B4-BE49-F238E27FC236}">
                <a16:creationId xmlns:a16="http://schemas.microsoft.com/office/drawing/2014/main" id="{5BC86BAE-8678-4864-9DF8-CCAB421AF9BB}"/>
              </a:ext>
            </a:extLst>
          </p:cNvPr>
          <p:cNvSpPr>
            <a:spLocks noGrp="1"/>
          </p:cNvSpPr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結束帯">
            <a:extLst>
              <a:ext uri="{FF2B5EF4-FFF2-40B4-BE49-F238E27FC236}">
                <a16:creationId xmlns:a16="http://schemas.microsoft.com/office/drawing/2014/main" id="{60B40D7F-8598-46DD-88F1-B7B85D52CBFC}"/>
              </a:ext>
            </a:extLst>
          </p:cNvPr>
          <p:cNvSpPr>
            <a:spLocks noGrp="1"/>
          </p:cNvSpPr>
          <p:nvPr/>
        </p:nvSpPr>
        <p:spPr>
          <a:xfrm>
            <a:off x="3246016" y="1216025"/>
            <a:ext cx="1670050" cy="208915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GP円">
            <a:extLst>
              <a:ext uri="{FF2B5EF4-FFF2-40B4-BE49-F238E27FC236}">
                <a16:creationId xmlns:a16="http://schemas.microsoft.com/office/drawing/2014/main" id="{7F733653-9594-45DE-B302-03833ED21C9F}"/>
              </a:ext>
            </a:extLst>
          </p:cNvPr>
          <p:cNvSpPr>
            <a:spLocks noGrp="1"/>
          </p:cNvSpPr>
          <p:nvPr/>
        </p:nvSpPr>
        <p:spPr>
          <a:xfrm>
            <a:off x="3373016" y="1622424"/>
            <a:ext cx="1435359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多数のエンジニア</a:t>
            </a:r>
          </a:p>
        </p:txBody>
      </p:sp>
      <p:sp>
        <p:nvSpPr>
          <p:cNvPr id="20" name="案件0">
            <a:extLst>
              <a:ext uri="{FF2B5EF4-FFF2-40B4-BE49-F238E27FC236}">
                <a16:creationId xmlns:a16="http://schemas.microsoft.com/office/drawing/2014/main" id="{67A395BD-BD88-467D-994F-14888B9E64C3}"/>
              </a:ext>
            </a:extLst>
          </p:cNvPr>
          <p:cNvSpPr>
            <a:spLocks noGrp="1"/>
          </p:cNvSpPr>
          <p:nvPr/>
        </p:nvSpPr>
        <p:spPr>
          <a:xfrm>
            <a:off x="2148116" y="11747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1" name="案件1">
            <a:extLst>
              <a:ext uri="{FF2B5EF4-FFF2-40B4-BE49-F238E27FC236}">
                <a16:creationId xmlns:a16="http://schemas.microsoft.com/office/drawing/2014/main" id="{22AE6BC0-8D44-46AD-8BC0-55B85C889B41}"/>
              </a:ext>
            </a:extLst>
          </p:cNvPr>
          <p:cNvSpPr>
            <a:spLocks noGrp="1"/>
          </p:cNvSpPr>
          <p:nvPr/>
        </p:nvSpPr>
        <p:spPr>
          <a:xfrm>
            <a:off x="2148116" y="17335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2" name="案件2">
            <a:extLst>
              <a:ext uri="{FF2B5EF4-FFF2-40B4-BE49-F238E27FC236}">
                <a16:creationId xmlns:a16="http://schemas.microsoft.com/office/drawing/2014/main" id="{A9D5D37B-9128-4843-9C63-027BA2A4525E}"/>
              </a:ext>
            </a:extLst>
          </p:cNvPr>
          <p:cNvSpPr>
            <a:spLocks noGrp="1"/>
          </p:cNvSpPr>
          <p:nvPr/>
        </p:nvSpPr>
        <p:spPr>
          <a:xfrm>
            <a:off x="2148116" y="22923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3" name="案件3">
            <a:extLst>
              <a:ext uri="{FF2B5EF4-FFF2-40B4-BE49-F238E27FC236}">
                <a16:creationId xmlns:a16="http://schemas.microsoft.com/office/drawing/2014/main" id="{4747B094-D52D-42CD-8F13-5C6761294D1B}"/>
              </a:ext>
            </a:extLst>
          </p:cNvPr>
          <p:cNvSpPr>
            <a:spLocks noGrp="1"/>
          </p:cNvSpPr>
          <p:nvPr/>
        </p:nvSpPr>
        <p:spPr>
          <a:xfrm>
            <a:off x="2148116" y="28511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4" name="結束説明">
            <a:extLst>
              <a:ext uri="{FF2B5EF4-FFF2-40B4-BE49-F238E27FC236}">
                <a16:creationId xmlns:a16="http://schemas.microsoft.com/office/drawing/2014/main" id="{EBFD9254-859E-4ACB-AC9B-7874B8DDD2B1}"/>
              </a:ext>
            </a:extLst>
          </p:cNvPr>
          <p:cNvSpPr>
            <a:spLocks noGrp="1"/>
          </p:cNvSpPr>
          <p:nvPr/>
        </p:nvSpPr>
        <p:spPr>
          <a:xfrm>
            <a:off x="420916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みなさまの案件とエンジニアを、ひとつのグループに</a:t>
            </a:r>
          </a:p>
        </p:txBody>
      </p:sp>
      <p:sp>
        <p:nvSpPr>
          <p:cNvPr id="26" name="利点0">
            <a:extLst>
              <a:ext uri="{FF2B5EF4-FFF2-40B4-BE49-F238E27FC236}">
                <a16:creationId xmlns:a16="http://schemas.microsoft.com/office/drawing/2014/main" id="{61C6C4C8-F13E-47DF-9833-961D46CD69AE}"/>
              </a:ext>
            </a:extLst>
          </p:cNvPr>
          <p:cNvSpPr>
            <a:spLocks noGrp="1"/>
          </p:cNvSpPr>
          <p:nvPr/>
        </p:nvSpPr>
        <p:spPr>
          <a:xfrm>
            <a:off x="5080000" y="1168400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利点0円">
            <a:extLst>
              <a:ext uri="{FF2B5EF4-FFF2-40B4-BE49-F238E27FC236}">
                <a16:creationId xmlns:a16="http://schemas.microsoft.com/office/drawing/2014/main" id="{6BF8BC6C-6BBE-478B-8F77-94ECEF8A24AA}"/>
              </a:ext>
            </a:extLst>
          </p:cNvPr>
          <p:cNvSpPr>
            <a:spLocks noGrp="1"/>
          </p:cNvSpPr>
          <p:nvPr/>
        </p:nvSpPr>
        <p:spPr>
          <a:xfrm>
            <a:off x="5268976" y="1241488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利点0アイコン">
            <a:extLst>
              <a:ext uri="{FF2B5EF4-FFF2-40B4-BE49-F238E27FC236}">
                <a16:creationId xmlns:a16="http://schemas.microsoft.com/office/drawing/2014/main" id="{4400597D-D59E-4FF2-BE76-2E401B7A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60" y="1342072"/>
            <a:ext cx="182880" cy="182880"/>
          </a:xfrm>
          <a:prstGeom prst="rect">
            <a:avLst/>
          </a:prstGeom>
        </p:spPr>
      </p:pic>
      <p:sp>
        <p:nvSpPr>
          <p:cNvPr id="29" name="利点0文">
            <a:extLst>
              <a:ext uri="{FF2B5EF4-FFF2-40B4-BE49-F238E27FC236}">
                <a16:creationId xmlns:a16="http://schemas.microsoft.com/office/drawing/2014/main" id="{6AD2A901-8854-4482-99BE-1CB21E1B45B9}"/>
              </a:ext>
            </a:extLst>
          </p:cNvPr>
          <p:cNvSpPr>
            <a:spLocks noGrp="1"/>
          </p:cNvSpPr>
          <p:nvPr/>
        </p:nvSpPr>
        <p:spPr>
          <a:xfrm>
            <a:off x="5816600" y="1168400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1社では受けきれない案件も、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みんなで受けられる</a:t>
            </a:r>
          </a:p>
        </p:txBody>
      </p:sp>
      <p:sp>
        <p:nvSpPr>
          <p:cNvPr id="30" name="利点1">
            <a:extLst>
              <a:ext uri="{FF2B5EF4-FFF2-40B4-BE49-F238E27FC236}">
                <a16:creationId xmlns:a16="http://schemas.microsoft.com/office/drawing/2014/main" id="{CA2997ED-E240-4BEE-8F8C-5D800AAF14FB}"/>
              </a:ext>
            </a:extLst>
          </p:cNvPr>
          <p:cNvSpPr>
            <a:spLocks noGrp="1"/>
          </p:cNvSpPr>
          <p:nvPr/>
        </p:nvSpPr>
        <p:spPr>
          <a:xfrm>
            <a:off x="5080000" y="1787525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利点1円">
            <a:extLst>
              <a:ext uri="{FF2B5EF4-FFF2-40B4-BE49-F238E27FC236}">
                <a16:creationId xmlns:a16="http://schemas.microsoft.com/office/drawing/2014/main" id="{32433AA7-60E3-4DC3-8C67-91BE4FF1C760}"/>
              </a:ext>
            </a:extLst>
          </p:cNvPr>
          <p:cNvSpPr>
            <a:spLocks noGrp="1"/>
          </p:cNvSpPr>
          <p:nvPr/>
        </p:nvSpPr>
        <p:spPr>
          <a:xfrm>
            <a:off x="5268976" y="1860613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利点1アイコン">
            <a:extLst>
              <a:ext uri="{FF2B5EF4-FFF2-40B4-BE49-F238E27FC236}">
                <a16:creationId xmlns:a16="http://schemas.microsoft.com/office/drawing/2014/main" id="{06131479-D28D-42BE-B132-669934FB7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560" y="1961197"/>
            <a:ext cx="182880" cy="182880"/>
          </a:xfrm>
          <a:prstGeom prst="rect">
            <a:avLst/>
          </a:prstGeom>
        </p:spPr>
      </p:pic>
      <p:sp>
        <p:nvSpPr>
          <p:cNvPr id="33" name="利点1文">
            <a:extLst>
              <a:ext uri="{FF2B5EF4-FFF2-40B4-BE49-F238E27FC236}">
                <a16:creationId xmlns:a16="http://schemas.microsoft.com/office/drawing/2014/main" id="{3CCC3399-5BCD-444F-9D33-3166A5185912}"/>
              </a:ext>
            </a:extLst>
          </p:cNvPr>
          <p:cNvSpPr>
            <a:spLocks noGrp="1"/>
          </p:cNvSpPr>
          <p:nvPr/>
        </p:nvSpPr>
        <p:spPr>
          <a:xfrm>
            <a:off x="5816600" y="1787525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人が足りない案件も、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仲間のエンジニアで埋められる</a:t>
            </a:r>
          </a:p>
        </p:txBody>
      </p:sp>
      <p:sp>
        <p:nvSpPr>
          <p:cNvPr id="34" name="利点2">
            <a:extLst>
              <a:ext uri="{FF2B5EF4-FFF2-40B4-BE49-F238E27FC236}">
                <a16:creationId xmlns:a16="http://schemas.microsoft.com/office/drawing/2014/main" id="{7C424612-047E-4758-84F4-D8C9A795AC06}"/>
              </a:ext>
            </a:extLst>
          </p:cNvPr>
          <p:cNvSpPr>
            <a:spLocks noGrp="1"/>
          </p:cNvSpPr>
          <p:nvPr/>
        </p:nvSpPr>
        <p:spPr>
          <a:xfrm>
            <a:off x="5080000" y="2406650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利点2円">
            <a:extLst>
              <a:ext uri="{FF2B5EF4-FFF2-40B4-BE49-F238E27FC236}">
                <a16:creationId xmlns:a16="http://schemas.microsoft.com/office/drawing/2014/main" id="{CE62A084-3B28-4777-AB00-E307AC306D14}"/>
              </a:ext>
            </a:extLst>
          </p:cNvPr>
          <p:cNvSpPr>
            <a:spLocks noGrp="1"/>
          </p:cNvSpPr>
          <p:nvPr/>
        </p:nvSpPr>
        <p:spPr>
          <a:xfrm>
            <a:off x="5268976" y="2479738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利点2アイコン">
            <a:extLst>
              <a:ext uri="{FF2B5EF4-FFF2-40B4-BE49-F238E27FC236}">
                <a16:creationId xmlns:a16="http://schemas.microsoft.com/office/drawing/2014/main" id="{B0E042BB-3402-4B2E-ACD9-290F3C6FF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560" y="2580322"/>
            <a:ext cx="182880" cy="182880"/>
          </a:xfrm>
          <a:prstGeom prst="rect">
            <a:avLst/>
          </a:prstGeom>
        </p:spPr>
      </p:pic>
      <p:sp>
        <p:nvSpPr>
          <p:cNvPr id="37" name="利点2文">
            <a:extLst>
              <a:ext uri="{FF2B5EF4-FFF2-40B4-BE49-F238E27FC236}">
                <a16:creationId xmlns:a16="http://schemas.microsoft.com/office/drawing/2014/main" id="{CFF54069-D364-4102-866A-3D952059CD70}"/>
              </a:ext>
            </a:extLst>
          </p:cNvPr>
          <p:cNvSpPr>
            <a:spLocks noGrp="1"/>
          </p:cNvSpPr>
          <p:nvPr/>
        </p:nvSpPr>
        <p:spPr>
          <a:xfrm>
            <a:off x="5816600" y="2406650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決まるほど信頼が増え、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案件が集まってくる</a:t>
            </a:r>
          </a:p>
        </p:txBody>
      </p:sp>
      <p:sp>
        <p:nvSpPr>
          <p:cNvPr id="60" name="利点3"/>
          <p:cNvSpPr>
            <a:spLocks noGrp="1"/>
          </p:cNvSpPr>
          <p:nvPr/>
        </p:nvSpPr>
        <p:spPr>
          <a:xfrm>
            <a:off x="5080000" y="3025775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利点3円"/>
          <p:cNvSpPr>
            <a:spLocks noGrp="1"/>
          </p:cNvSpPr>
          <p:nvPr/>
        </p:nvSpPr>
        <p:spPr>
          <a:xfrm>
            <a:off x="5268976" y="3098863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2" name="利点3アイコ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9560" y="3199447"/>
            <a:ext cx="182880" cy="182880"/>
          </a:xfrm>
          <a:prstGeom prst="rect">
            <a:avLst/>
          </a:prstGeom>
        </p:spPr>
      </p:pic>
      <p:sp>
        <p:nvSpPr>
          <p:cNvPr id="63" name="利点3文"/>
          <p:cNvSpPr>
            <a:spLocks noGrp="1"/>
          </p:cNvSpPr>
          <p:nvPr/>
        </p:nvSpPr>
        <p:spPr>
          <a:xfrm>
            <a:off x="5816600" y="3025775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セットで提供できるので、経験の浅い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エンジニアにも経験を積ませられる</a:t>
            </a:r>
          </a:p>
        </p:txBody>
      </p:sp>
      <p:sp>
        <p:nvSpPr>
          <p:cNvPr id="38" name="結束帯">
            <a:extLst>
              <a:ext uri="{FF2B5EF4-FFF2-40B4-BE49-F238E27FC236}">
                <a16:creationId xmlns:a16="http://schemas.microsoft.com/office/drawing/2014/main" id="{BA11D3BE-C16E-4591-AB35-3976276A4188}"/>
              </a:ext>
            </a:extLst>
          </p:cNvPr>
          <p:cNvSpPr>
            <a:spLocks noGrp="1"/>
          </p:cNvSpPr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ひとりで待つより、みんなで取りにいく</a:t>
            </a:r>
          </a:p>
        </p:txBody>
      </p:sp>
      <p:sp>
        <p:nvSpPr>
          <p:cNvPr id="40" name="GPの人材イラスト・頭1">
            <a:extLst>
              <a:ext uri="{FF2B5EF4-FFF2-40B4-BE49-F238E27FC236}">
                <a16:creationId xmlns:a16="http://schemas.microsoft.com/office/drawing/2014/main" id="{9A20FE57-A8FB-4293-9E89-0BEC8267E9ED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1" name="GPの人材イラスト・髪1">
            <a:extLst>
              <a:ext uri="{FF2B5EF4-FFF2-40B4-BE49-F238E27FC236}">
                <a16:creationId xmlns:a16="http://schemas.microsoft.com/office/drawing/2014/main" id="{66555FC6-7616-4A19-9F17-78958A858E07}"/>
              </a:ext>
            </a:extLst>
          </p:cNvPr>
          <p:cNvSpPr>
            <a:spLocks noGrp="1"/>
          </p:cNvSpPr>
          <p:nvPr/>
        </p:nvSpPr>
        <p:spPr>
          <a:xfrm>
            <a:off x="36195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2" name="GPの人材イラスト・胴1">
            <a:extLst>
              <a:ext uri="{FF2B5EF4-FFF2-40B4-BE49-F238E27FC236}">
                <a16:creationId xmlns:a16="http://schemas.microsoft.com/office/drawing/2014/main" id="{D17BA587-0F04-45CE-AA50-7B2CAFA09D7E}"/>
              </a:ext>
            </a:extLst>
          </p:cNvPr>
          <p:cNvSpPr>
            <a:spLocks noGrp="1"/>
          </p:cNvSpPr>
          <p:nvPr/>
        </p:nvSpPr>
        <p:spPr>
          <a:xfrm>
            <a:off x="35814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GPの人材イラスト・頭2">
            <a:extLst>
              <a:ext uri="{FF2B5EF4-FFF2-40B4-BE49-F238E27FC236}">
                <a16:creationId xmlns:a16="http://schemas.microsoft.com/office/drawing/2014/main" id="{6F5DE8AD-1B24-4435-88F1-7E66DBC08024}"/>
              </a:ext>
            </a:extLst>
          </p:cNvPr>
          <p:cNvSpPr>
            <a:spLocks noGrp="1"/>
          </p:cNvSpPr>
          <p:nvPr/>
        </p:nvSpPr>
        <p:spPr>
          <a:xfrm>
            <a:off x="4038600" y="251460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4" name="GPの人材イラスト・髪2">
            <a:extLst>
              <a:ext uri="{FF2B5EF4-FFF2-40B4-BE49-F238E27FC236}">
                <a16:creationId xmlns:a16="http://schemas.microsoft.com/office/drawing/2014/main" id="{4E7935C0-E294-4669-861B-A863D59EE8B1}"/>
              </a:ext>
            </a:extLst>
          </p:cNvPr>
          <p:cNvSpPr>
            <a:spLocks noGrp="1"/>
          </p:cNvSpPr>
          <p:nvPr/>
        </p:nvSpPr>
        <p:spPr>
          <a:xfrm>
            <a:off x="4019550" y="248602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GPの人材イラスト・胴2">
            <a:extLst>
              <a:ext uri="{FF2B5EF4-FFF2-40B4-BE49-F238E27FC236}">
                <a16:creationId xmlns:a16="http://schemas.microsoft.com/office/drawing/2014/main" id="{E9836373-BA81-4B54-A650-8545F79EEAE8}"/>
              </a:ext>
            </a:extLst>
          </p:cNvPr>
          <p:cNvSpPr>
            <a:spLocks noGrp="1"/>
          </p:cNvSpPr>
          <p:nvPr/>
        </p:nvSpPr>
        <p:spPr>
          <a:xfrm>
            <a:off x="3981450" y="277177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6" name="GPの人材イラスト・頭3">
            <a:extLst>
              <a:ext uri="{FF2B5EF4-FFF2-40B4-BE49-F238E27FC236}">
                <a16:creationId xmlns:a16="http://schemas.microsoft.com/office/drawing/2014/main" id="{349188E5-8C93-4C98-B933-6E7EFF3F4A34}"/>
              </a:ext>
            </a:extLst>
          </p:cNvPr>
          <p:cNvSpPr>
            <a:spLocks noGrp="1"/>
          </p:cNvSpPr>
          <p:nvPr/>
        </p:nvSpPr>
        <p:spPr>
          <a:xfrm>
            <a:off x="44386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7" name="GPの人材イラスト・髪3">
            <a:extLst>
              <a:ext uri="{FF2B5EF4-FFF2-40B4-BE49-F238E27FC236}">
                <a16:creationId xmlns:a16="http://schemas.microsoft.com/office/drawing/2014/main" id="{A1A5B0EF-5EA4-402A-83F3-D6982B4959C7}"/>
              </a:ext>
            </a:extLst>
          </p:cNvPr>
          <p:cNvSpPr>
            <a:spLocks noGrp="1"/>
          </p:cNvSpPr>
          <p:nvPr/>
        </p:nvSpPr>
        <p:spPr>
          <a:xfrm>
            <a:off x="44196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8" name="GPの人材イラスト・胴3">
            <a:extLst>
              <a:ext uri="{FF2B5EF4-FFF2-40B4-BE49-F238E27FC236}">
                <a16:creationId xmlns:a16="http://schemas.microsoft.com/office/drawing/2014/main" id="{04EE8568-7529-4052-B824-C02B8F643506}"/>
              </a:ext>
            </a:extLst>
          </p:cNvPr>
          <p:cNvSpPr>
            <a:spLocks noGrp="1"/>
          </p:cNvSpPr>
          <p:nvPr/>
        </p:nvSpPr>
        <p:spPr>
          <a:xfrm>
            <a:off x="43815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49" name="16版 写真 3ページ" descr="A small software team collaborating around a computer. Photo by Vitaly Gariev on Unsplash. https://unsplash.com/photos/team-collaborating-around-a-computer-in-an-office-UikYLDQj9_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1216152"/>
            <a:ext cx="1673352" cy="2084832"/>
          </a:xfrm>
          <a:prstGeom prst="roundRect">
            <a:avLst/>
          </a:prstGeom>
          <a:ln>
            <a:noFill/>
          </a:ln>
        </p:spPr>
      </p:pic>
      <p:sp>
        <p:nvSpPr>
          <p:cNvPr id="50" name="GP photo title band"/>
          <p:cNvSpPr/>
          <p:nvPr/>
        </p:nvSpPr>
        <p:spPr>
          <a:xfrm>
            <a:off x="3246120" y="1216152"/>
            <a:ext cx="1673352" cy="749808"/>
          </a:xfrm>
          <a:prstGeom prst="rect">
            <a:avLst/>
          </a:prstGeom>
          <a:solidFill>
            <a:srgbClr val="173B62">
              <a:alpha val="62000"/>
            </a:srgbClr>
          </a:solidFill>
          <a:ln>
            <a:noFill/>
          </a:ln>
        </p:spPr>
      </p:sp>
      <p:sp>
        <p:nvSpPr>
          <p:cNvPr id="51" name="GP label"/>
          <p:cNvSpPr txBox="1"/>
          <p:nvPr/>
        </p:nvSpPr>
        <p:spPr>
          <a:xfrm>
            <a:off x="3364992" y="1298448"/>
            <a:ext cx="1435608" cy="347472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</a:t>
            </a:r>
            <a:r>
              <a:rPr lang="en-US" alt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ROU</a:t>
            </a:r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</a:t>
            </a:r>
            <a:endParaRPr lang="ja-JP" sz="2200" dirty="0"/>
          </a:p>
        </p:txBody>
      </p:sp>
      <p:sp>
        <p:nvSpPr>
          <p:cNvPr id="52" name="Group label"/>
          <p:cNvSpPr txBox="1"/>
          <p:nvPr/>
        </p:nvSpPr>
        <p:spPr>
          <a:xfrm>
            <a:off x="3364992" y="1655064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lang="ja-JP" sz="900"/>
          </a:p>
        </p:txBody>
      </p:sp>
      <p:sp>
        <p:nvSpPr>
          <p:cNvPr id="53" name="Engineers label"/>
          <p:cNvSpPr txBox="1"/>
          <p:nvPr/>
        </p:nvSpPr>
        <p:spPr>
          <a:xfrm>
            <a:off x="3364992" y="1865376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1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エンジニア</a:t>
            </a:r>
            <a:r>
              <a:rPr lang="ja-JP" altLang="en-US" sz="1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の集合体</a:t>
            </a:r>
            <a:endParaRPr lang="ja-JP" sz="1000" b="1" dirty="0"/>
          </a:p>
        </p:txBody>
      </p:sp>
      <p:sp>
        <p:nvSpPr>
          <p:cNvPr id="19" name="結束矢印2">
            <a:extLst>
              <a:ext uri="{FF2B5EF4-FFF2-40B4-BE49-F238E27FC236}">
                <a16:creationId xmlns:a16="http://schemas.microsoft.com/office/drawing/2014/main" id="{9E9D89B6-EE44-4868-AD7B-444682CA4A1D}"/>
              </a:ext>
            </a:extLst>
          </p:cNvPr>
          <p:cNvSpPr>
            <a:spLocks noGrp="1"/>
          </p:cNvSpPr>
          <p:nvPr/>
        </p:nvSpPr>
        <p:spPr>
          <a:xfrm>
            <a:off x="3025582" y="2133599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eading-4">
            <a:extLst>
              <a:ext uri="{FF2B5EF4-FFF2-40B4-BE49-F238E27FC236}">
                <a16:creationId xmlns:a16="http://schemas.microsoft.com/office/drawing/2014/main" id="{6CD4B5DE-8F06-4C6D-B878-2C7DD3066A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24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ここが違う（１） </a:t>
            </a:r>
            <a:r>
              <a:rPr lang="ja-JP" altLang="en-US" sz="16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事前準備＋適切な配分</a:t>
            </a:r>
            <a:endParaRPr sz="16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" name="subheading-4">
            <a:extLst>
              <a:ext uri="{FF2B5EF4-FFF2-40B4-BE49-F238E27FC236}">
                <a16:creationId xmlns:a16="http://schemas.microsoft.com/office/drawing/2014/main" id="{992055B7-29F6-468E-81E1-BD8B764AB50A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このシステムの特長（1/2）：書類づくりから案件の配分まで</a:t>
            </a:r>
          </a:p>
        </p:txBody>
      </p:sp>
      <p:sp>
        <p:nvSpPr>
          <p:cNvPr id="3" name="footer-4">
            <a:extLst>
              <a:ext uri="{FF2B5EF4-FFF2-40B4-BE49-F238E27FC236}">
                <a16:creationId xmlns:a16="http://schemas.microsoft.com/office/drawing/2014/main" id="{049ECA1C-CAA1-4F9B-984F-99F8CCFB75F7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4E2C4495-57FC-4EAF-9B72-5C80BCE23659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00" name="ステップ1"/>
          <p:cNvSpPr/>
          <p:nvPr/>
        </p:nvSpPr>
        <p:spPr>
          <a:xfrm>
            <a:off x="45720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1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書類作成</a:t>
            </a:r>
          </a:p>
        </p:txBody>
      </p:sp>
      <p:sp>
        <p:nvSpPr>
          <p:cNvPr id="101" name="ステップ矢印1"/>
          <p:cNvSpPr/>
          <p:nvPr/>
        </p:nvSpPr>
        <p:spPr>
          <a:xfrm>
            <a:off x="242316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2" name="ステップ2"/>
          <p:cNvSpPr/>
          <p:nvPr/>
        </p:nvSpPr>
        <p:spPr>
          <a:xfrm>
            <a:off x="256032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2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案件配分</a:t>
            </a:r>
          </a:p>
        </p:txBody>
      </p:sp>
      <p:sp>
        <p:nvSpPr>
          <p:cNvPr id="103" name="ステップ矢印2"/>
          <p:cNvSpPr/>
          <p:nvPr/>
        </p:nvSpPr>
        <p:spPr>
          <a:xfrm>
            <a:off x="452628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4" name="ステップ3"/>
          <p:cNvSpPr/>
          <p:nvPr/>
        </p:nvSpPr>
        <p:spPr>
          <a:xfrm>
            <a:off x="466344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3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応募チェック</a:t>
            </a:r>
          </a:p>
        </p:txBody>
      </p:sp>
      <p:sp>
        <p:nvSpPr>
          <p:cNvPr id="105" name="ステップ矢印3"/>
          <p:cNvSpPr/>
          <p:nvPr/>
        </p:nvSpPr>
        <p:spPr>
          <a:xfrm>
            <a:off x="662940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6" name="ステップ4"/>
          <p:cNvSpPr/>
          <p:nvPr/>
        </p:nvSpPr>
        <p:spPr>
          <a:xfrm>
            <a:off x="676656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4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面談準備</a:t>
            </a:r>
          </a:p>
        </p:txBody>
      </p:sp>
      <p:sp>
        <p:nvSpPr>
          <p:cNvPr id="107" name="特長1カード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8" name="特長1円"/>
          <p:cNvSpPr/>
          <p:nvPr/>
        </p:nvSpPr>
        <p:spPr>
          <a:xfrm>
            <a:off x="68580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09" name="特長1アイコン" descr="履歴書・スキルシートを作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292608" cy="292608"/>
          </a:xfrm>
          <a:prstGeom prst="rect">
            <a:avLst/>
          </a:prstGeom>
        </p:spPr>
      </p:pic>
      <p:sp>
        <p:nvSpPr>
          <p:cNvPr id="110" name="特長1番号"/>
          <p:cNvSpPr txBox="1"/>
          <p:nvPr/>
        </p:nvSpPr>
        <p:spPr>
          <a:xfrm>
            <a:off x="141732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111" name="特長1見出し"/>
          <p:cNvSpPr txBox="1"/>
          <p:nvPr/>
        </p:nvSpPr>
        <p:spPr>
          <a:xfrm>
            <a:off x="141732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履歴書・スキルシートを作成</a:t>
            </a:r>
          </a:p>
        </p:txBody>
      </p:sp>
      <p:sp>
        <p:nvSpPr>
          <p:cNvPr id="112" name="特長1説明"/>
          <p:cNvSpPr txBox="1"/>
          <p:nvPr/>
        </p:nvSpPr>
        <p:spPr>
          <a:xfrm>
            <a:off x="68580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お客様の目線で、経験とスキルを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書類にまとめ直します</a:t>
            </a:r>
          </a:p>
        </p:txBody>
      </p:sp>
      <p:sp>
        <p:nvSpPr>
          <p:cNvPr id="113" name="特長1効果"/>
          <p:cNvSpPr/>
          <p:nvPr/>
        </p:nvSpPr>
        <p:spPr>
          <a:xfrm>
            <a:off x="68580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お客様にアピールできる書類にブラッシュアップし、面談の確度を高める</a:t>
            </a:r>
          </a:p>
        </p:txBody>
      </p:sp>
      <p:sp>
        <p:nvSpPr>
          <p:cNvPr id="114" name="特長2カード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15" name="特長2円"/>
          <p:cNvSpPr/>
          <p:nvPr/>
        </p:nvSpPr>
        <p:spPr>
          <a:xfrm>
            <a:off x="493776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16" name="特長2アイコン" descr="案件を自動で配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292608" cy="292608"/>
          </a:xfrm>
          <a:prstGeom prst="rect">
            <a:avLst/>
          </a:prstGeom>
        </p:spPr>
      </p:pic>
      <p:sp>
        <p:nvSpPr>
          <p:cNvPr id="117" name="特長2番号"/>
          <p:cNvSpPr txBox="1"/>
          <p:nvPr/>
        </p:nvSpPr>
        <p:spPr>
          <a:xfrm>
            <a:off x="566928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118" name="特長2見出し"/>
          <p:cNvSpPr txBox="1"/>
          <p:nvPr/>
        </p:nvSpPr>
        <p:spPr>
          <a:xfrm>
            <a:off x="566928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案件を自動で配分</a:t>
            </a:r>
          </a:p>
        </p:txBody>
      </p:sp>
      <p:sp>
        <p:nvSpPr>
          <p:cNvPr id="119" name="特長2説明"/>
          <p:cNvSpPr txBox="1"/>
          <p:nvPr/>
        </p:nvSpPr>
        <p:spPr>
          <a:xfrm>
            <a:off x="493776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案件が届くと、システムが自動で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エンジニアを探して割り振ります</a:t>
            </a:r>
          </a:p>
        </p:txBody>
      </p:sp>
      <p:sp>
        <p:nvSpPr>
          <p:cNvPr id="120" name="特長2効果"/>
          <p:cNvSpPr/>
          <p:nvPr/>
        </p:nvSpPr>
        <p:spPr>
          <a:xfrm>
            <a:off x="493776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すぐに適材を判断、エンジニアへメールを配信する。加えて</a:t>
            </a:r>
            <a:r>
              <a:rPr lang="en-US" altLang="ja-JP" sz="11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</a:t>
            </a:r>
            <a:r>
              <a:rPr lang="ja-JP" altLang="en-US" sz="11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企業様から個別対応も可能</a:t>
            </a:r>
          </a:p>
        </p:txBody>
      </p:sp>
      <p:sp>
        <p:nvSpPr>
          <p:cNvPr id="121" name="まとめ帯-4"/>
          <p:cNvSpPr/>
          <p:nvPr/>
        </p:nvSpPr>
        <p:spPr>
          <a:xfrm>
            <a:off x="457200" y="4041648"/>
            <a:ext cx="8229600" cy="420624"/>
          </a:xfrm>
          <a:prstGeom prst="roundRect">
            <a:avLst>
              <a:gd name="adj" fmla="val 18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書類の質と配分の速さで、面談のチャンスを増やす</a:t>
            </a:r>
          </a:p>
        </p:txBody>
      </p:sp>
    </p:spTree>
    <p:extLst>
      <p:ext uri="{BB962C8B-B14F-4D97-AF65-F5344CB8AC3E}">
        <p14:creationId xmlns:p14="http://schemas.microsoft.com/office/powerpoint/2010/main" val="53805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ing-5">
            <a:extLst>
              <a:ext uri="{FF2B5EF4-FFF2-40B4-BE49-F238E27FC236}">
                <a16:creationId xmlns:a16="http://schemas.microsoft.com/office/drawing/2014/main" id="{D922E320-4CE7-40C7-9F59-D0BDC0A2F55F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24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ここが違う（２） </a:t>
            </a:r>
            <a:r>
              <a:rPr lang="ja-JP" altLang="en-US" sz="16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面談サポート</a:t>
            </a:r>
            <a:endParaRPr sz="16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" name="subheading-5">
            <a:extLst>
              <a:ext uri="{FF2B5EF4-FFF2-40B4-BE49-F238E27FC236}">
                <a16:creationId xmlns:a16="http://schemas.microsoft.com/office/drawing/2014/main" id="{4BF15C8D-9BD5-4C58-9D1F-1DD98853B8B7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このシステムの特長（2/2）：応募のチェックから面談の準備まで</a:t>
            </a:r>
          </a:p>
        </p:txBody>
      </p:sp>
      <p:sp>
        <p:nvSpPr>
          <p:cNvPr id="3" name="footer-5">
            <a:extLst>
              <a:ext uri="{FF2B5EF4-FFF2-40B4-BE49-F238E27FC236}">
                <a16:creationId xmlns:a16="http://schemas.microsoft.com/office/drawing/2014/main" id="{0D69A03E-2FD3-4F8B-A598-14F850AF70E3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2026D63A-77AF-4FA9-BA51-0372187EC3A2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00" name="ステップ1"/>
          <p:cNvSpPr/>
          <p:nvPr/>
        </p:nvSpPr>
        <p:spPr>
          <a:xfrm>
            <a:off x="45720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1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書類作成</a:t>
            </a:r>
          </a:p>
        </p:txBody>
      </p:sp>
      <p:sp>
        <p:nvSpPr>
          <p:cNvPr id="101" name="ステップ矢印1"/>
          <p:cNvSpPr/>
          <p:nvPr/>
        </p:nvSpPr>
        <p:spPr>
          <a:xfrm>
            <a:off x="242316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2" name="ステップ2"/>
          <p:cNvSpPr/>
          <p:nvPr/>
        </p:nvSpPr>
        <p:spPr>
          <a:xfrm>
            <a:off x="256032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2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案件配分</a:t>
            </a:r>
          </a:p>
        </p:txBody>
      </p:sp>
      <p:sp>
        <p:nvSpPr>
          <p:cNvPr id="103" name="ステップ矢印2"/>
          <p:cNvSpPr/>
          <p:nvPr/>
        </p:nvSpPr>
        <p:spPr>
          <a:xfrm>
            <a:off x="452628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4" name="ステップ3"/>
          <p:cNvSpPr/>
          <p:nvPr/>
        </p:nvSpPr>
        <p:spPr>
          <a:xfrm>
            <a:off x="466344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3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応募チェック</a:t>
            </a:r>
          </a:p>
        </p:txBody>
      </p:sp>
      <p:sp>
        <p:nvSpPr>
          <p:cNvPr id="105" name="ステップ矢印3"/>
          <p:cNvSpPr/>
          <p:nvPr/>
        </p:nvSpPr>
        <p:spPr>
          <a:xfrm>
            <a:off x="662940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6" name="ステップ4"/>
          <p:cNvSpPr/>
          <p:nvPr/>
        </p:nvSpPr>
        <p:spPr>
          <a:xfrm>
            <a:off x="676656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4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面談準備</a:t>
            </a:r>
          </a:p>
        </p:txBody>
      </p:sp>
      <p:sp>
        <p:nvSpPr>
          <p:cNvPr id="107" name="特長3カード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8" name="特長3円"/>
          <p:cNvSpPr/>
          <p:nvPr/>
        </p:nvSpPr>
        <p:spPr>
          <a:xfrm>
            <a:off x="68580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09" name="特長3アイコン" descr="応募内容をチェッ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292608" cy="292608"/>
          </a:xfrm>
          <a:prstGeom prst="rect">
            <a:avLst/>
          </a:prstGeom>
        </p:spPr>
      </p:pic>
      <p:sp>
        <p:nvSpPr>
          <p:cNvPr id="110" name="特長3番号"/>
          <p:cNvSpPr txBox="1"/>
          <p:nvPr/>
        </p:nvSpPr>
        <p:spPr>
          <a:xfrm>
            <a:off x="141732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111" name="特長3見出し"/>
          <p:cNvSpPr txBox="1"/>
          <p:nvPr/>
        </p:nvSpPr>
        <p:spPr>
          <a:xfrm>
            <a:off x="141732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応募内容をチェック</a:t>
            </a:r>
          </a:p>
        </p:txBody>
      </p:sp>
      <p:sp>
        <p:nvSpPr>
          <p:cNvPr id="112" name="特長3説明"/>
          <p:cNvSpPr txBox="1"/>
          <p:nvPr/>
        </p:nvSpPr>
        <p:spPr>
          <a:xfrm>
            <a:off x="68580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エンジニアが案件へ応募する際、</a:t>
            </a:r>
          </a:p>
          <a:p>
            <a:pPr algn="l">
              <a:buNone/>
            </a:pPr>
            <a:r>
              <a:rPr lang="ja-JP" altLang="en-US" sz="1100" b="0" dirty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書類と応募文の内容を確認します</a:t>
            </a:r>
          </a:p>
        </p:txBody>
      </p:sp>
      <p:sp>
        <p:nvSpPr>
          <p:cNvPr id="113" name="特長3効果"/>
          <p:cNvSpPr/>
          <p:nvPr/>
        </p:nvSpPr>
        <p:spPr>
          <a:xfrm>
            <a:off x="68580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誤字脱字や内容の抜け・食い違いを出す前に直し、書類の質をそろえる</a:t>
            </a:r>
          </a:p>
        </p:txBody>
      </p:sp>
      <p:sp>
        <p:nvSpPr>
          <p:cNvPr id="114" name="特長4カード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15" name="特長4円"/>
          <p:cNvSpPr/>
          <p:nvPr/>
        </p:nvSpPr>
        <p:spPr>
          <a:xfrm>
            <a:off x="493776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16" name="特長4アイコン" descr="面談の準備をサポー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292608" cy="292608"/>
          </a:xfrm>
          <a:prstGeom prst="rect">
            <a:avLst/>
          </a:prstGeom>
        </p:spPr>
      </p:pic>
      <p:sp>
        <p:nvSpPr>
          <p:cNvPr id="117" name="特長4番号"/>
          <p:cNvSpPr txBox="1"/>
          <p:nvPr/>
        </p:nvSpPr>
        <p:spPr>
          <a:xfrm>
            <a:off x="566928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4</a:t>
            </a:r>
          </a:p>
        </p:txBody>
      </p:sp>
      <p:sp>
        <p:nvSpPr>
          <p:cNvPr id="118" name="特長4見出し"/>
          <p:cNvSpPr txBox="1"/>
          <p:nvPr/>
        </p:nvSpPr>
        <p:spPr>
          <a:xfrm>
            <a:off x="566928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面談の準備をサポート</a:t>
            </a:r>
          </a:p>
        </p:txBody>
      </p:sp>
      <p:sp>
        <p:nvSpPr>
          <p:cNvPr id="119" name="特長4説明"/>
          <p:cNvSpPr txBox="1"/>
          <p:nvPr/>
        </p:nvSpPr>
        <p:spPr>
          <a:xfrm>
            <a:off x="493776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面談の予定が入ると、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面談の主眼点・注意点を提案します</a:t>
            </a:r>
          </a:p>
        </p:txBody>
      </p:sp>
      <p:sp>
        <p:nvSpPr>
          <p:cNvPr id="120" name="特長4効果"/>
          <p:cNvSpPr/>
          <p:nvPr/>
        </p:nvSpPr>
        <p:spPr>
          <a:xfrm>
            <a:off x="493776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案件メールからお客様の要求を分析し、的確に受け答えできる想定問答を作成</a:t>
            </a:r>
          </a:p>
        </p:txBody>
      </p:sp>
      <p:sp>
        <p:nvSpPr>
          <p:cNvPr id="121" name="まとめ帯-5"/>
          <p:cNvSpPr/>
          <p:nvPr/>
        </p:nvSpPr>
        <p:spPr>
          <a:xfrm>
            <a:off x="457200" y="4041648"/>
            <a:ext cx="8229600" cy="420624"/>
          </a:xfrm>
          <a:prstGeom prst="roundRect">
            <a:avLst>
              <a:gd name="adj" fmla="val 18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応募と面談をしっかり支えて、成約率アップへ</a:t>
            </a:r>
          </a:p>
        </p:txBody>
      </p:sp>
    </p:spTree>
    <p:extLst>
      <p:ext uri="{BB962C8B-B14F-4D97-AF65-F5344CB8AC3E}">
        <p14:creationId xmlns:p14="http://schemas.microsoft.com/office/powerpoint/2010/main" val="144530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eading-6">
            <a:extLst>
              <a:ext uri="{FF2B5EF4-FFF2-40B4-BE49-F238E27FC236}">
                <a16:creationId xmlns:a16="http://schemas.microsoft.com/office/drawing/2014/main" id="{DFA6A55B-1998-4464-9873-35174E8E95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成約時のみの料金案と、安心して進めるための約束</a:t>
            </a:r>
          </a:p>
        </p:txBody>
      </p:sp>
      <p:sp>
        <p:nvSpPr>
          <p:cNvPr id="2" name="subheading-6">
            <a:extLst>
              <a:ext uri="{FF2B5EF4-FFF2-40B4-BE49-F238E27FC236}">
                <a16:creationId xmlns:a16="http://schemas.microsoft.com/office/drawing/2014/main" id="{3941A12D-BAA3-4E40-BC7C-BB414706007A}"/>
              </a:ext>
            </a:extLst>
          </p:cNvPr>
          <p:cNvSpPr>
            <a:spLocks noGrp="1"/>
          </p:cNvSpPr>
          <p:nvPr/>
        </p:nvSpPr>
        <p:spPr>
          <a:xfrm>
            <a:off x="1600200" y="923925"/>
            <a:ext cx="7086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料金・運用のルールは現時点の案です。みなさまとご相談のうえで決めていきます</a:t>
            </a:r>
          </a:p>
        </p:txBody>
      </p:sp>
      <p:sp>
        <p:nvSpPr>
          <p:cNvPr id="3" name="footer-6">
            <a:extLst>
              <a:ext uri="{FF2B5EF4-FFF2-40B4-BE49-F238E27FC236}">
                <a16:creationId xmlns:a16="http://schemas.microsoft.com/office/drawing/2014/main" id="{08D651C4-E96D-44F9-81ED-EF6CE79F896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A15C0832-3E18-4510-8E71-9606E9CEC5A4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費用イラスト・背景">
            <a:extLst>
              <a:ext uri="{FF2B5EF4-FFF2-40B4-BE49-F238E27FC236}">
                <a16:creationId xmlns:a16="http://schemas.microsoft.com/office/drawing/2014/main" id="{432CFCE7-7028-40E5-84A0-79BA8D36398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048000" cy="2705100"/>
          </a:xfrm>
          <a:prstGeom prst="roundRect">
            <a:avLst>
              <a:gd name="adj" fmla="val 2817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pic>
        <p:nvPicPr>
          <p:cNvPr id="43" name="16版 写真 6ページ" descr="Two people greeting across a desk beside a laptop. Photo by Mina Rad on Unsplash. https://unsplash.com/photos/a-man-and-a-woman-shaking-hands-in-front-of-a-laptop-qFSQFSmfZk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6464"/>
            <a:ext cx="3044952" cy="2706624"/>
          </a:xfrm>
          <a:prstGeom prst="roundRect">
            <a:avLst/>
          </a:prstGeom>
          <a:ln>
            <a:noFill/>
          </a:ln>
        </p:spPr>
      </p:pic>
      <p:sp>
        <p:nvSpPr>
          <p:cNvPr id="50001" name="成約時のみのラベル背景"/>
          <p:cNvSpPr/>
          <p:nvPr/>
        </p:nvSpPr>
        <p:spPr>
          <a:xfrm>
            <a:off x="457200" y="3785616"/>
            <a:ext cx="3044952" cy="347472"/>
          </a:xfrm>
          <a:prstGeom prst="rect">
            <a:avLst/>
          </a:prstGeom>
          <a:solidFill>
            <a:srgbClr val="DCEAF6"/>
          </a:solidFill>
          <a:ln>
            <a:noFill/>
          </a:ln>
        </p:spPr>
      </p:sp>
      <p:sp>
        <p:nvSpPr>
          <p:cNvPr id="6" name="費用イラスト・契約書">
            <a:extLst>
              <a:ext uri="{FF2B5EF4-FFF2-40B4-BE49-F238E27FC236}">
                <a16:creationId xmlns:a16="http://schemas.microsoft.com/office/drawing/2014/main" id="{E75671D5-2B79-4AF7-B728-A54FEB20934A}"/>
              </a:ext>
            </a:extLst>
          </p:cNvPr>
          <p:cNvSpPr>
            <a:spLocks noGrp="1"/>
          </p:cNvSpPr>
          <p:nvPr/>
        </p:nvSpPr>
        <p:spPr>
          <a:xfrm>
            <a:off x="1800225" y="1695450"/>
            <a:ext cx="1438275" cy="18097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7" name="費用イラスト・契約書見出し">
            <a:extLst>
              <a:ext uri="{FF2B5EF4-FFF2-40B4-BE49-F238E27FC236}">
                <a16:creationId xmlns:a16="http://schemas.microsoft.com/office/drawing/2014/main" id="{841B290A-68D2-4159-B0F5-400535D5F0E2}"/>
              </a:ext>
            </a:extLst>
          </p:cNvPr>
          <p:cNvSpPr>
            <a:spLocks noGrp="1"/>
          </p:cNvSpPr>
          <p:nvPr/>
        </p:nvSpPr>
        <p:spPr>
          <a:xfrm>
            <a:off x="1905000" y="1828800"/>
            <a:ext cx="1228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月額のご利用料</a:t>
            </a:r>
          </a:p>
        </p:txBody>
      </p:sp>
      <p:sp>
        <p:nvSpPr>
          <p:cNvPr id="8" name="費用イラスト・7％">
            <a:extLst>
              <a:ext uri="{FF2B5EF4-FFF2-40B4-BE49-F238E27FC236}">
                <a16:creationId xmlns:a16="http://schemas.microsoft.com/office/drawing/2014/main" id="{5E59749B-E53C-44B9-839D-0149E8570002}"/>
              </a:ext>
            </a:extLst>
          </p:cNvPr>
          <p:cNvSpPr>
            <a:spLocks noGrp="1"/>
          </p:cNvSpPr>
          <p:nvPr/>
        </p:nvSpPr>
        <p:spPr>
          <a:xfrm>
            <a:off x="1952625" y="2152650"/>
            <a:ext cx="1133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3%</a:t>
            </a:r>
          </a:p>
        </p:txBody>
      </p:sp>
      <p:sp>
        <p:nvSpPr>
          <p:cNvPr id="9" name="費用イラスト・書類行1">
            <a:extLst>
              <a:ext uri="{FF2B5EF4-FFF2-40B4-BE49-F238E27FC236}">
                <a16:creationId xmlns:a16="http://schemas.microsoft.com/office/drawing/2014/main" id="{8CF4C6AC-3323-4C8D-80C4-09DEC990C509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1038225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0" name="費用イラスト・書類行2">
            <a:extLst>
              <a:ext uri="{FF2B5EF4-FFF2-40B4-BE49-F238E27FC236}">
                <a16:creationId xmlns:a16="http://schemas.microsoft.com/office/drawing/2014/main" id="{08FA43F2-90C2-4987-AB04-55B4C09AAA6D}"/>
              </a:ext>
            </a:extLst>
          </p:cNvPr>
          <p:cNvSpPr>
            <a:spLocks noGrp="1"/>
          </p:cNvSpPr>
          <p:nvPr/>
        </p:nvSpPr>
        <p:spPr>
          <a:xfrm>
            <a:off x="1990725" y="2867025"/>
            <a:ext cx="8953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1" name="費用イラスト・書類行3">
            <a:extLst>
              <a:ext uri="{FF2B5EF4-FFF2-40B4-BE49-F238E27FC236}">
                <a16:creationId xmlns:a16="http://schemas.microsoft.com/office/drawing/2014/main" id="{568112EF-1E3A-496E-91ED-3D16C1155B74}"/>
              </a:ext>
            </a:extLst>
          </p:cNvPr>
          <p:cNvSpPr>
            <a:spLocks noGrp="1"/>
          </p:cNvSpPr>
          <p:nvPr/>
        </p:nvSpPr>
        <p:spPr>
          <a:xfrm>
            <a:off x="1990725" y="3019425"/>
            <a:ext cx="9715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2" name="費用イラスト・成功マーク">
            <a:extLst>
              <a:ext uri="{FF2B5EF4-FFF2-40B4-BE49-F238E27FC236}">
                <a16:creationId xmlns:a16="http://schemas.microsoft.com/office/drawing/2014/main" id="{931325D3-DF80-45E4-A9F7-D57CDB8CF6A9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13" name="費用イラスト・チェック">
            <a:extLst>
              <a:ext uri="{FF2B5EF4-FFF2-40B4-BE49-F238E27FC236}">
                <a16:creationId xmlns:a16="http://schemas.microsoft.com/office/drawing/2014/main" id="{47274D63-8695-416F-8AAA-2F2A1C2E69E4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0" name="費用イラスト・説明">
            <a:extLst>
              <a:ext uri="{FF2B5EF4-FFF2-40B4-BE49-F238E27FC236}">
                <a16:creationId xmlns:a16="http://schemas.microsoft.com/office/drawing/2014/main" id="{F3AC53B3-AAA9-4BE3-A318-B3E933A9088F}"/>
              </a:ext>
            </a:extLst>
          </p:cNvPr>
          <p:cNvSpPr>
            <a:spLocks noGrp="1"/>
          </p:cNvSpPr>
          <p:nvPr/>
        </p:nvSpPr>
        <p:spPr>
          <a:xfrm>
            <a:off x="695325" y="3804666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成約した場合だけ</a:t>
            </a:r>
            <a:endParaRPr sz="12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料金案パネル">
            <a:extLst>
              <a:ext uri="{FF2B5EF4-FFF2-40B4-BE49-F238E27FC236}">
                <a16:creationId xmlns:a16="http://schemas.microsoft.com/office/drawing/2014/main" id="{9221207D-DA14-49B8-89F6-DBA93F7B57D3}"/>
              </a:ext>
            </a:extLst>
          </p:cNvPr>
          <p:cNvSpPr>
            <a:spLocks noGrp="1"/>
          </p:cNvSpPr>
          <p:nvPr/>
        </p:nvSpPr>
        <p:spPr>
          <a:xfrm>
            <a:off x="3743325" y="1428750"/>
            <a:ext cx="2266950" cy="27051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2" name="料金案見出し">
            <a:extLst>
              <a:ext uri="{FF2B5EF4-FFF2-40B4-BE49-F238E27FC236}">
                <a16:creationId xmlns:a16="http://schemas.microsoft.com/office/drawing/2014/main" id="{14FFC236-B3C1-42BF-AA58-7B38BA7FBB74}"/>
              </a:ext>
            </a:extLst>
          </p:cNvPr>
          <p:cNvSpPr>
            <a:spLocks noGrp="1"/>
          </p:cNvSpPr>
          <p:nvPr/>
        </p:nvSpPr>
        <p:spPr>
          <a:xfrm>
            <a:off x="3886200" y="1552575"/>
            <a:ext cx="1971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料金案（現状の案）</a:t>
            </a:r>
          </a:p>
        </p:txBody>
      </p:sp>
      <p:sp>
        <p:nvSpPr>
          <p:cNvPr id="23" name="料金案成約時">
            <a:extLst>
              <a:ext uri="{FF2B5EF4-FFF2-40B4-BE49-F238E27FC236}">
                <a16:creationId xmlns:a16="http://schemas.microsoft.com/office/drawing/2014/main" id="{9C75B956-FE39-49D4-8CDC-1B658438B21A}"/>
              </a:ext>
            </a:extLst>
          </p:cNvPr>
          <p:cNvSpPr>
            <a:spLocks noGrp="1"/>
          </p:cNvSpPr>
          <p:nvPr/>
        </p:nvSpPr>
        <p:spPr>
          <a:xfrm>
            <a:off x="3886200" y="19240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成約時のみ発生</a:t>
            </a:r>
          </a:p>
        </p:txBody>
      </p:sp>
      <p:sp>
        <p:nvSpPr>
          <p:cNvPr id="24" name="料金案初期">
            <a:extLst>
              <a:ext uri="{FF2B5EF4-FFF2-40B4-BE49-F238E27FC236}">
                <a16:creationId xmlns:a16="http://schemas.microsoft.com/office/drawing/2014/main" id="{B906C84B-C345-4FEA-8B15-FF38CD9CBEEA}"/>
              </a:ext>
            </a:extLst>
          </p:cNvPr>
          <p:cNvSpPr>
            <a:spLocks noGrp="1"/>
          </p:cNvSpPr>
          <p:nvPr/>
        </p:nvSpPr>
        <p:spPr>
          <a:xfrm>
            <a:off x="3886200" y="23431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初期費用 7%（案）</a:t>
            </a:r>
          </a:p>
        </p:txBody>
      </p:sp>
      <p:sp>
        <p:nvSpPr>
          <p:cNvPr id="25" name="料金案月額">
            <a:extLst>
              <a:ext uri="{FF2B5EF4-FFF2-40B4-BE49-F238E27FC236}">
                <a16:creationId xmlns:a16="http://schemas.microsoft.com/office/drawing/2014/main" id="{3DDF9227-3ABD-4A0C-A16C-97E97BE44567}"/>
              </a:ext>
            </a:extLst>
          </p:cNvPr>
          <p:cNvSpPr>
            <a:spLocks noGrp="1"/>
          </p:cNvSpPr>
          <p:nvPr/>
        </p:nvSpPr>
        <p:spPr>
          <a:xfrm>
            <a:off x="3886200" y="2762250"/>
            <a:ext cx="1971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 3%（契約継続中・案）</a:t>
            </a:r>
          </a:p>
        </p:txBody>
      </p:sp>
      <p:sp>
        <p:nvSpPr>
          <p:cNvPr id="26" name="料金案基準">
            <a:extLst>
              <a:ext uri="{FF2B5EF4-FFF2-40B4-BE49-F238E27FC236}">
                <a16:creationId xmlns:a16="http://schemas.microsoft.com/office/drawing/2014/main" id="{DF15C794-5095-45A4-B617-44448D56F17A}"/>
              </a:ext>
            </a:extLst>
          </p:cNvPr>
          <p:cNvSpPr>
            <a:spLocks noGrp="1"/>
          </p:cNvSpPr>
          <p:nvPr/>
        </p:nvSpPr>
        <p:spPr>
          <a:xfrm>
            <a:off x="3886200" y="3305175"/>
            <a:ext cx="1971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基準：SESさまが受け取る案件金額</a:t>
            </a:r>
          </a:p>
        </p:txBody>
      </p:sp>
      <p:sp>
        <p:nvSpPr>
          <p:cNvPr id="27" name="料金案補足">
            <a:extLst>
              <a:ext uri="{FF2B5EF4-FFF2-40B4-BE49-F238E27FC236}">
                <a16:creationId xmlns:a16="http://schemas.microsoft.com/office/drawing/2014/main" id="{E689C80E-9A4A-4F5D-9EA6-F047F90BD4A0}"/>
              </a:ext>
            </a:extLst>
          </p:cNvPr>
          <p:cNvSpPr>
            <a:spLocks noGrp="1"/>
          </p:cNvSpPr>
          <p:nvPr/>
        </p:nvSpPr>
        <p:spPr>
          <a:xfrm>
            <a:off x="3886200" y="3752850"/>
            <a:ext cx="1971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825" b="0" dirty="0" err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先払いなし。条件はご相談のうえ決定</a:t>
            </a:r>
            <a:endParaRPr sz="825" b="0" dirty="0">
              <a:solidFill>
                <a:srgbClr val="6F8198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8" name="安心方針パネル">
            <a:extLst>
              <a:ext uri="{FF2B5EF4-FFF2-40B4-BE49-F238E27FC236}">
                <a16:creationId xmlns:a16="http://schemas.microsoft.com/office/drawing/2014/main" id="{9FA169B1-1440-4A1B-B1D4-704047257115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2514600" cy="2705100"/>
          </a:xfrm>
          <a:prstGeom prst="roundRect">
            <a:avLst>
              <a:gd name="adj" fmla="val 3030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9" name="安心方針見出し">
            <a:extLst>
              <a:ext uri="{FF2B5EF4-FFF2-40B4-BE49-F238E27FC236}">
                <a16:creationId xmlns:a16="http://schemas.microsoft.com/office/drawing/2014/main" id="{D3946D61-4821-429E-BE1A-974FA16FFA09}"/>
              </a:ext>
            </a:extLst>
          </p:cNvPr>
          <p:cNvSpPr>
            <a:spLocks noGrp="1"/>
          </p:cNvSpPr>
          <p:nvPr/>
        </p:nvSpPr>
        <p:spPr>
          <a:xfrm>
            <a:off x="6334125" y="155257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運用の約束</a:t>
            </a:r>
          </a:p>
        </p:txBody>
      </p:sp>
      <p:sp>
        <p:nvSpPr>
          <p:cNvPr id="30" name="安心方針マーク1">
            <a:extLst>
              <a:ext uri="{FF2B5EF4-FFF2-40B4-BE49-F238E27FC236}">
                <a16:creationId xmlns:a16="http://schemas.microsoft.com/office/drawing/2014/main" id="{F6A0ADDD-09DA-4E0F-82F7-D4DBFFAB330E}"/>
              </a:ext>
            </a:extLst>
          </p:cNvPr>
          <p:cNvSpPr>
            <a:spLocks noGrp="1"/>
          </p:cNvSpPr>
          <p:nvPr/>
        </p:nvSpPr>
        <p:spPr>
          <a:xfrm>
            <a:off x="6334125" y="2377440"/>
            <a:ext cx="295275" cy="295275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安心方針番号1">
            <a:extLst>
              <a:ext uri="{FF2B5EF4-FFF2-40B4-BE49-F238E27FC236}">
                <a16:creationId xmlns:a16="http://schemas.microsoft.com/office/drawing/2014/main" id="{9FD32DC2-6724-47B6-AC8A-0AE3326EE711}"/>
              </a:ext>
            </a:extLst>
          </p:cNvPr>
          <p:cNvSpPr>
            <a:spLocks noGrp="1"/>
          </p:cNvSpPr>
          <p:nvPr/>
        </p:nvSpPr>
        <p:spPr>
          <a:xfrm>
            <a:off x="6334125" y="237744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2" name="安心方針項目1">
            <a:extLst>
              <a:ext uri="{FF2B5EF4-FFF2-40B4-BE49-F238E27FC236}">
                <a16:creationId xmlns:a16="http://schemas.microsoft.com/office/drawing/2014/main" id="{0D7B262E-C1B5-4961-8A7C-C4BE88DC770A}"/>
              </a:ext>
            </a:extLst>
          </p:cNvPr>
          <p:cNvSpPr>
            <a:spLocks noGrp="1"/>
          </p:cNvSpPr>
          <p:nvPr/>
        </p:nvSpPr>
        <p:spPr>
          <a:xfrm>
            <a:off x="6734175" y="2358390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本人の同意</a:t>
            </a:r>
          </a:p>
        </p:txBody>
      </p:sp>
      <p:sp>
        <p:nvSpPr>
          <p:cNvPr id="33" name="安心方針説明1">
            <a:extLst>
              <a:ext uri="{FF2B5EF4-FFF2-40B4-BE49-F238E27FC236}">
                <a16:creationId xmlns:a16="http://schemas.microsoft.com/office/drawing/2014/main" id="{AD6C08A1-21DD-49CF-AC87-C344CB810394}"/>
              </a:ext>
            </a:extLst>
          </p:cNvPr>
          <p:cNvSpPr>
            <a:spLocks noGrp="1"/>
          </p:cNvSpPr>
          <p:nvPr/>
        </p:nvSpPr>
        <p:spPr>
          <a:xfrm>
            <a:off x="6734175" y="2567940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個人情報は本人の同意を得て扱い、事実を盛らない</a:t>
            </a:r>
          </a:p>
        </p:txBody>
      </p:sp>
      <p:sp>
        <p:nvSpPr>
          <p:cNvPr id="34" name="安心方針マーク2">
            <a:extLst>
              <a:ext uri="{FF2B5EF4-FFF2-40B4-BE49-F238E27FC236}">
                <a16:creationId xmlns:a16="http://schemas.microsoft.com/office/drawing/2014/main" id="{3133FE58-5D68-476A-9309-64C379D7CAB0}"/>
              </a:ext>
            </a:extLst>
          </p:cNvPr>
          <p:cNvSpPr>
            <a:spLocks noGrp="1"/>
          </p:cNvSpPr>
          <p:nvPr/>
        </p:nvSpPr>
        <p:spPr>
          <a:xfrm>
            <a:off x="6334125" y="2907792"/>
            <a:ext cx="295275" cy="29527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5" name="安心方針番号2">
            <a:extLst>
              <a:ext uri="{FF2B5EF4-FFF2-40B4-BE49-F238E27FC236}">
                <a16:creationId xmlns:a16="http://schemas.microsoft.com/office/drawing/2014/main" id="{44791F5A-33E1-4135-A152-00C1EA459B4F}"/>
              </a:ext>
            </a:extLst>
          </p:cNvPr>
          <p:cNvSpPr>
            <a:spLocks noGrp="1"/>
          </p:cNvSpPr>
          <p:nvPr/>
        </p:nvSpPr>
        <p:spPr>
          <a:xfrm>
            <a:off x="6334125" y="2907792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36" name="安心方針項目2">
            <a:extLst>
              <a:ext uri="{FF2B5EF4-FFF2-40B4-BE49-F238E27FC236}">
                <a16:creationId xmlns:a16="http://schemas.microsoft.com/office/drawing/2014/main" id="{70103E95-C17C-4CF6-9E0F-E5060D6021D2}"/>
              </a:ext>
            </a:extLst>
          </p:cNvPr>
          <p:cNvSpPr>
            <a:spLocks noGrp="1"/>
          </p:cNvSpPr>
          <p:nvPr/>
        </p:nvSpPr>
        <p:spPr>
          <a:xfrm>
            <a:off x="6734175" y="2888742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情報を守る</a:t>
            </a:r>
          </a:p>
        </p:txBody>
      </p:sp>
      <p:sp>
        <p:nvSpPr>
          <p:cNvPr id="37" name="安心方針説明2">
            <a:extLst>
              <a:ext uri="{FF2B5EF4-FFF2-40B4-BE49-F238E27FC236}">
                <a16:creationId xmlns:a16="http://schemas.microsoft.com/office/drawing/2014/main" id="{6B4DE9CF-9098-4079-BDA6-AAC882BCB041}"/>
              </a:ext>
            </a:extLst>
          </p:cNvPr>
          <p:cNvSpPr>
            <a:spLocks noGrp="1"/>
          </p:cNvSpPr>
          <p:nvPr/>
        </p:nvSpPr>
        <p:spPr>
          <a:xfrm>
            <a:off x="6734175" y="3098292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案件内容・会社名を外部サービスへ渡さない</a:t>
            </a:r>
          </a:p>
        </p:txBody>
      </p:sp>
      <p:sp>
        <p:nvSpPr>
          <p:cNvPr id="38" name="安心方針マーク3">
            <a:extLst>
              <a:ext uri="{FF2B5EF4-FFF2-40B4-BE49-F238E27FC236}">
                <a16:creationId xmlns:a16="http://schemas.microsoft.com/office/drawing/2014/main" id="{F7669848-36E2-4B0C-A9A9-0EFDD3BBB508}"/>
              </a:ext>
            </a:extLst>
          </p:cNvPr>
          <p:cNvSpPr>
            <a:spLocks noGrp="1"/>
          </p:cNvSpPr>
          <p:nvPr/>
        </p:nvSpPr>
        <p:spPr>
          <a:xfrm>
            <a:off x="6334125" y="3438144"/>
            <a:ext cx="295275" cy="2952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39" name="安心方針番号3">
            <a:extLst>
              <a:ext uri="{FF2B5EF4-FFF2-40B4-BE49-F238E27FC236}">
                <a16:creationId xmlns:a16="http://schemas.microsoft.com/office/drawing/2014/main" id="{86A8F083-200D-4D54-BBF8-01FABDE1214B}"/>
              </a:ext>
            </a:extLst>
          </p:cNvPr>
          <p:cNvSpPr>
            <a:spLocks noGrp="1"/>
          </p:cNvSpPr>
          <p:nvPr/>
        </p:nvSpPr>
        <p:spPr>
          <a:xfrm>
            <a:off x="6334125" y="3438144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0" name="安心方針項目3">
            <a:extLst>
              <a:ext uri="{FF2B5EF4-FFF2-40B4-BE49-F238E27FC236}">
                <a16:creationId xmlns:a16="http://schemas.microsoft.com/office/drawing/2014/main" id="{5A2173BE-324F-4785-A463-C741747289C9}"/>
              </a:ext>
            </a:extLst>
          </p:cNvPr>
          <p:cNvSpPr>
            <a:spLocks noGrp="1"/>
          </p:cNvSpPr>
          <p:nvPr/>
        </p:nvSpPr>
        <p:spPr>
          <a:xfrm>
            <a:off x="6734175" y="3419094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公平性を保つ</a:t>
            </a:r>
          </a:p>
        </p:txBody>
      </p:sp>
      <p:sp>
        <p:nvSpPr>
          <p:cNvPr id="41" name="安心方針説明3">
            <a:extLst>
              <a:ext uri="{FF2B5EF4-FFF2-40B4-BE49-F238E27FC236}">
                <a16:creationId xmlns:a16="http://schemas.microsoft.com/office/drawing/2014/main" id="{8A018467-2F64-48FD-847A-268C40EB742A}"/>
              </a:ext>
            </a:extLst>
          </p:cNvPr>
          <p:cNvSpPr>
            <a:spLocks noGrp="1"/>
          </p:cNvSpPr>
          <p:nvPr/>
        </p:nvSpPr>
        <p:spPr>
          <a:xfrm>
            <a:off x="6734175" y="3628644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運営と自分の稼働を分け、ルールを整える</a:t>
            </a:r>
          </a:p>
        </p:txBody>
      </p:sp>
      <p:sp>
        <p:nvSpPr>
          <p:cNvPr id="210" name="安心方針マーク4"/>
          <p:cNvSpPr>
            <a:spLocks noGrp="1"/>
          </p:cNvSpPr>
          <p:nvPr/>
        </p:nvSpPr>
        <p:spPr>
          <a:xfrm>
            <a:off x="6334125" y="1847088"/>
            <a:ext cx="295275" cy="295275"/>
          </a:xfrm>
          <a:prstGeom prst="ellipse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11" name="安心方針番号4"/>
          <p:cNvSpPr>
            <a:spLocks noGrp="1"/>
          </p:cNvSpPr>
          <p:nvPr/>
        </p:nvSpPr>
        <p:spPr>
          <a:xfrm>
            <a:off x="6334125" y="1847088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12" name="安心方針項目4"/>
          <p:cNvSpPr>
            <a:spLocks noGrp="1"/>
          </p:cNvSpPr>
          <p:nvPr/>
        </p:nvSpPr>
        <p:spPr>
          <a:xfrm>
            <a:off x="6734175" y="1828038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守秘義務を守る</a:t>
            </a:r>
          </a:p>
        </p:txBody>
      </p:sp>
      <p:sp>
        <p:nvSpPr>
          <p:cNvPr id="213" name="安心方針説明4"/>
          <p:cNvSpPr>
            <a:spLocks noGrp="1"/>
          </p:cNvSpPr>
          <p:nvPr/>
        </p:nvSpPr>
        <p:spPr>
          <a:xfrm>
            <a:off x="6734175" y="2037588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知り得た案件・会社・個人の情報を、契約終了後も口外しない</a:t>
            </a:r>
          </a:p>
        </p:txBody>
      </p:sp>
      <p:sp>
        <p:nvSpPr>
          <p:cNvPr id="200" name="現状（案）ラベル"/>
          <p:cNvSpPr/>
          <p:nvPr/>
        </p:nvSpPr>
        <p:spPr>
          <a:xfrm>
            <a:off x="457200" y="914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現状（案）</a:t>
            </a:r>
          </a:p>
        </p:txBody>
      </p:sp>
    </p:spTree>
    <p:extLst>
      <p:ext uri="{BB962C8B-B14F-4D97-AF65-F5344CB8AC3E}">
        <p14:creationId xmlns:p14="http://schemas.microsoft.com/office/powerpoint/2010/main" val="1245398647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466</Words>
  <Application>Microsoft Office PowerPoint</Application>
  <DocSecurity>0</DocSecurity>
  <PresentationFormat>画面に合わせる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Meiryo</vt:lpstr>
      <vt:lpstr>Arial</vt:lpstr>
      <vt:lpstr>Parks Blue</vt:lpstr>
      <vt:lpstr>PARK プロジェクト</vt:lpstr>
      <vt:lpstr>PARK プロジェクトに賭ける私の想い</vt:lpstr>
      <vt:lpstr>SES各社が結束すれば、仕事は増えます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哲郎 中西</cp:lastModifiedBy>
  <cp:revision>19</cp:revision>
  <dcterms:created xsi:type="dcterms:W3CDTF">2026-10-14T07:36:26Z</dcterms:created>
  <dcterms:modified xsi:type="dcterms:W3CDTF">2026-10-14T13:56:41Z</dcterms:modified>
</cp:coreProperties>
</file>