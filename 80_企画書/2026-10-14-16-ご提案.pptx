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-1944" y="-8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510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締め：みなさまで結束（グループ化）すれば、受けられる案件が増え、人が足りない案件も埋められ、決まるほど案件が集まる。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3B6E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xmlns="" id="{1239FF0B-54CE-4728-A088-CBA73DF2FB34}"/>
              </a:ext>
            </a:extLst>
          </p:cNvPr>
          <p:cNvSpPr>
            <a:spLocks noGrp="1"/>
          </p:cNvSpPr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chemeClr val="accent3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xmlns="" id="{EE05703E-438F-4D79-96EC-9D68963DFCB6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sz="40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xmlns="" id="{2D649693-62BB-4CD9-A87B-FBF3F338A78A}"/>
              </a:ext>
            </a:extLst>
          </p:cNvPr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160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sz="16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3B9C844A-121C-4E64-9845-41F327C80197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sz="28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xmlns="" id="{A52EE027-0985-490A-90F2-2F828C91B510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  <a:endParaRPr sz="1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xmlns="" id="{58BAE9C7-A860-4CB8-B123-FC6E29B3983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xmlns="" id="{FE6E297E-55D3-495F-9F92-E294FB0C78F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ns2:creationId xmlns:ns4="http://schemas.microsoft.com/office/powerpoint/2010/main" xmlns:ns2="http://schemas.microsoft.com/office/drawing/2014/main" xmlns="" id="{CA03124A-9DB6-4D0F-A358-2EC8B3AD9CC1}"/>
              </a:ext>
            </a:extLst>
          </p:cNvPr>
          <p:cNvSpPr>
            <a:spLocks noGrp="1"/>
          </p:cNvSpPr>
          <p:nvPr>
            <p:ph type="title" idx="10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4000" b="1">
                <a:solidFill>
                  <a:schemeClr val="bg1"/>
                </a:solidFill>
              </a:rPr>
              <a:t>PARKS</a:t>
            </a:r>
            <a:endParaRPr sz="4000"/>
          </a:p>
        </p:txBody>
      </p:sp>
      <p:sp>
        <p:nvSpPr>
          <p:cNvPr id="3" name="Text 1">
            <a:extLst>
              <a:ext uri="{FF2B5EF4-FFF2-40B4-BE49-F238E27FC236}">
                <ns2:creationId xmlns:ns4="http://schemas.microsoft.com/office/powerpoint/2010/main" xmlns:ns2="http://schemas.microsoft.com/office/drawing/2014/main" xmlns="" id="{35E1F597-DA0B-4FE6-A963-4322C7D5446E}"/>
              </a:ext>
            </a:extLst>
          </p:cNvPr>
          <p:cNvSpPr>
            <a:spLocks noGrp="1"/>
          </p:cNvSpPr>
          <p:nvPr>
            <p:ph type="body" idx="102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SES企業とエンジニアが、気楽に参加できる場</a:t>
            </a:r>
            <a:endParaRPr sz="1600"/>
          </a:p>
          <a:p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案件と人材をつなぎ、成約率向上をめざす仕組み</a:t>
            </a:r>
            <a:endParaRPr sz="1600"/>
          </a:p>
          <a:p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SES企業のみなさまへのご提案です</a:t>
            </a:r>
          </a:p>
          <a:p>
            <a:pPr marL="0" indent="0" algn="l">
              <a:buNone/>
            </a:pPr>
            <a:endParaRPr sz="1600">
              <a:solidFill>
                <a:schemeClr val="accent4"/>
              </a:solidFill>
            </a:endParaRPr>
          </a:p>
          <a:p>
            <a:pPr marL="0" indent="0" algn="l">
              <a:buNone/>
            </a:pPr>
            <a:r>
              <a:rPr sz="1200">
                <a:solidFill>
                  <a:schemeClr val="accent4"/>
                </a:solidFill>
              </a:rPr>
              <a:t>2026年10月14日</a:t>
            </a:r>
            <a:endParaRPr sz="1600"/>
          </a:p>
        </p:txBody>
      </p:sp>
      <p:sp>
        <p:nvSpPr>
          <p:cNvPr id="4" name="表紙円">
            <a:extLst>
              <a:ext uri="{FF2B5EF4-FFF2-40B4-BE49-F238E27FC236}">
                <ns2:creationId xmlns:ns4="http://schemas.microsoft.com/office/powerpoint/2010/main" xmlns:ns2="http://schemas.microsoft.com/office/drawing/2014/main" xmlns="" id="{534AB8E4-6002-46F7-96CB-F43A3D03E2E9}"/>
              </a:ext>
            </a:extLst>
          </p:cNvPr>
          <p:cNvSpPr>
            <a:spLocks noGrp="1"/>
          </p:cNvSpPr>
          <p:nvPr/>
        </p:nvSpPr>
        <p:spPr>
          <a:xfrm>
            <a:off x="6903720" y="192024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表紙アイコン">
            <a:extLst>
              <a:ext uri="{FF2B5EF4-FFF2-40B4-BE49-F238E27FC236}">
                <ns2:creationId xmlns:ns4="http://schemas.microsoft.com/office/powerpoint/2010/main" xmlns:ns2="http://schemas.microsoft.com/office/drawing/2014/main" xmlns="" id="{A20DFDC4-977B-4B8B-AE7F-6BBF4BACC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55" y="2201875"/>
            <a:ext cx="716890" cy="716890"/>
          </a:xfrm>
          <a:prstGeom prst="rect">
            <a:avLst/>
          </a:prstGeom>
        </p:spPr>
      </p:pic>
      <p:sp>
        <p:nvSpPr>
          <p:cNvPr id="6" name="表紙イラスト・机">
            <a:extLst>
              <a:ext uri="{FF2B5EF4-FFF2-40B4-BE49-F238E27FC236}">
                <ns2:creationId xmlns:ns4="http://schemas.microsoft.com/office/powerpoint/2010/main" xmlns:ns2="http://schemas.microsoft.com/office/drawing/2014/main" xmlns="" id="{820FA163-9CC6-42DC-A900-F90CA962A337}"/>
              </a:ext>
            </a:extLst>
          </p:cNvPr>
          <p:cNvSpPr>
            <a:spLocks noGrp="1"/>
          </p:cNvSpPr>
          <p:nvPr/>
        </p:nvSpPr>
        <p:spPr>
          <a:xfrm>
            <a:off x="6448425" y="4333875"/>
            <a:ext cx="2286000" cy="11430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7" name="表紙イラスト・机脚1">
            <a:extLst>
              <a:ext uri="{FF2B5EF4-FFF2-40B4-BE49-F238E27FC236}">
                <ns2:creationId xmlns:ns4="http://schemas.microsoft.com/office/powerpoint/2010/main" xmlns:ns2="http://schemas.microsoft.com/office/drawing/2014/main" xmlns="" id="{CFFF6332-B535-4C52-8E47-C312A3F2D992}"/>
              </a:ext>
            </a:extLst>
          </p:cNvPr>
          <p:cNvSpPr>
            <a:spLocks noGrp="1"/>
          </p:cNvSpPr>
          <p:nvPr/>
        </p:nvSpPr>
        <p:spPr>
          <a:xfrm>
            <a:off x="6629400" y="4448175"/>
            <a:ext cx="76200" cy="257175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8" name="表紙イラスト・机脚2">
            <a:extLst>
              <a:ext uri="{FF2B5EF4-FFF2-40B4-BE49-F238E27FC236}">
                <ns2:creationId xmlns:ns4="http://schemas.microsoft.com/office/powerpoint/2010/main" xmlns:ns2="http://schemas.microsoft.com/office/drawing/2014/main" xmlns="" id="{9AFCA771-6A42-411B-91B1-5E9EC197B116}"/>
              </a:ext>
            </a:extLst>
          </p:cNvPr>
          <p:cNvSpPr>
            <a:spLocks noGrp="1"/>
          </p:cNvSpPr>
          <p:nvPr/>
        </p:nvSpPr>
        <p:spPr>
          <a:xfrm>
            <a:off x="8496300" y="4448175"/>
            <a:ext cx="76200" cy="257175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9" name="表紙イラスト・参加者A・頭">
            <a:extLst>
              <a:ext uri="{FF2B5EF4-FFF2-40B4-BE49-F238E27FC236}">
                <ns2:creationId xmlns:ns4="http://schemas.microsoft.com/office/powerpoint/2010/main" xmlns:ns2="http://schemas.microsoft.com/office/drawing/2014/main" xmlns="" id="{77B52754-DFF3-45D7-B06B-0F0EBDE28907}"/>
              </a:ext>
            </a:extLst>
          </p:cNvPr>
          <p:cNvSpPr>
            <a:spLocks noGrp="1"/>
          </p:cNvSpPr>
          <p:nvPr/>
        </p:nvSpPr>
        <p:spPr>
          <a:xfrm>
            <a:off x="6845618" y="3381375"/>
            <a:ext cx="284798" cy="284798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10" name="表紙イラスト・参加者A・髪">
            <a:extLst>
              <a:ext uri="{FF2B5EF4-FFF2-40B4-BE49-F238E27FC236}">
                <ns2:creationId xmlns:ns4="http://schemas.microsoft.com/office/powerpoint/2010/main" xmlns:ns2="http://schemas.microsoft.com/office/drawing/2014/main" xmlns="" id="{39BB2835-EBD3-48D7-AA0C-4F314C3A737D}"/>
              </a:ext>
            </a:extLst>
          </p:cNvPr>
          <p:cNvSpPr>
            <a:spLocks noGrp="1"/>
          </p:cNvSpPr>
          <p:nvPr/>
        </p:nvSpPr>
        <p:spPr>
          <a:xfrm>
            <a:off x="6823710" y="3348514"/>
            <a:ext cx="328613" cy="164306"/>
          </a:xfrm>
          <a:prstGeom prst="arc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1" name="表紙イラスト・参加者A・胴">
            <a:extLst>
              <a:ext uri="{FF2B5EF4-FFF2-40B4-BE49-F238E27FC236}">
                <ns2:creationId xmlns:ns4="http://schemas.microsoft.com/office/powerpoint/2010/main" xmlns:ns2="http://schemas.microsoft.com/office/drawing/2014/main" xmlns="" id="{BFB3B67F-A451-4F05-A097-425AEC0193F4}"/>
              </a:ext>
            </a:extLst>
          </p:cNvPr>
          <p:cNvSpPr>
            <a:spLocks noGrp="1"/>
          </p:cNvSpPr>
          <p:nvPr/>
        </p:nvSpPr>
        <p:spPr>
          <a:xfrm>
            <a:off x="6747034" y="3709988"/>
            <a:ext cx="481965" cy="591503"/>
          </a:xfrm>
          <a:prstGeom prst="roundRect">
            <a:avLst>
              <a:gd name="adj" fmla="val 15810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12" name="表紙イラスト・参加者A・脚1">
            <a:extLst>
              <a:ext uri="{FF2B5EF4-FFF2-40B4-BE49-F238E27FC236}">
                <ns2:creationId xmlns:ns4="http://schemas.microsoft.com/office/powerpoint/2010/main" xmlns:ns2="http://schemas.microsoft.com/office/drawing/2014/main" xmlns="" id="{29E55881-6D69-472E-B4D5-554A19E4ECE4}"/>
              </a:ext>
            </a:extLst>
          </p:cNvPr>
          <p:cNvSpPr>
            <a:spLocks noGrp="1"/>
          </p:cNvSpPr>
          <p:nvPr/>
        </p:nvSpPr>
        <p:spPr>
          <a:xfrm>
            <a:off x="6790849" y="4246721"/>
            <a:ext cx="142399" cy="35052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3" name="表紙イラスト・参加者A・脚2">
            <a:extLst>
              <a:ext uri="{FF2B5EF4-FFF2-40B4-BE49-F238E27FC236}">
                <ns2:creationId xmlns:ns4="http://schemas.microsoft.com/office/powerpoint/2010/main" xmlns:ns2="http://schemas.microsoft.com/office/drawing/2014/main" xmlns="" id="{0796754B-0D5E-4FC4-8AE9-6219A99E0A3D}"/>
              </a:ext>
            </a:extLst>
          </p:cNvPr>
          <p:cNvSpPr>
            <a:spLocks noGrp="1"/>
          </p:cNvSpPr>
          <p:nvPr/>
        </p:nvSpPr>
        <p:spPr>
          <a:xfrm>
            <a:off x="7042785" y="4246721"/>
            <a:ext cx="142399" cy="35052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4" name="表紙イラスト・参加者B・頭">
            <a:extLst>
              <a:ext uri="{FF2B5EF4-FFF2-40B4-BE49-F238E27FC236}">
                <ns2:creationId xmlns:ns4="http://schemas.microsoft.com/office/powerpoint/2010/main" xmlns:ns2="http://schemas.microsoft.com/office/drawing/2014/main" xmlns="" id="{A0D77145-C973-4C91-920A-5EF0D451E706}"/>
              </a:ext>
            </a:extLst>
          </p:cNvPr>
          <p:cNvSpPr>
            <a:spLocks noGrp="1"/>
          </p:cNvSpPr>
          <p:nvPr/>
        </p:nvSpPr>
        <p:spPr>
          <a:xfrm>
            <a:off x="8007668" y="3381375"/>
            <a:ext cx="284798" cy="284798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15" name="表紙イラスト・参加者B・髪">
            <a:extLst>
              <a:ext uri="{FF2B5EF4-FFF2-40B4-BE49-F238E27FC236}">
                <ns2:creationId xmlns:ns4="http://schemas.microsoft.com/office/powerpoint/2010/main" xmlns:ns2="http://schemas.microsoft.com/office/drawing/2014/main" xmlns="" id="{D845F178-023E-4EB4-81B3-6FEF0DA73879}"/>
              </a:ext>
            </a:extLst>
          </p:cNvPr>
          <p:cNvSpPr>
            <a:spLocks noGrp="1"/>
          </p:cNvSpPr>
          <p:nvPr/>
        </p:nvSpPr>
        <p:spPr>
          <a:xfrm>
            <a:off x="7985760" y="3348514"/>
            <a:ext cx="328613" cy="164306"/>
          </a:xfrm>
          <a:prstGeom prst="arc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6" name="表紙イラスト・参加者B・胴">
            <a:extLst>
              <a:ext uri="{FF2B5EF4-FFF2-40B4-BE49-F238E27FC236}">
                <ns2:creationId xmlns:ns4="http://schemas.microsoft.com/office/powerpoint/2010/main" xmlns:ns2="http://schemas.microsoft.com/office/drawing/2014/main" xmlns="" id="{1F425D05-9FDF-4FB6-881D-3833880406D6}"/>
              </a:ext>
            </a:extLst>
          </p:cNvPr>
          <p:cNvSpPr>
            <a:spLocks noGrp="1"/>
          </p:cNvSpPr>
          <p:nvPr/>
        </p:nvSpPr>
        <p:spPr>
          <a:xfrm>
            <a:off x="7909084" y="3709988"/>
            <a:ext cx="481965" cy="591503"/>
          </a:xfrm>
          <a:prstGeom prst="roundRect">
            <a:avLst>
              <a:gd name="adj" fmla="val 15810"/>
            </a:avLst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17" name="表紙イラスト・参加者B・脚1">
            <a:extLst>
              <a:ext uri="{FF2B5EF4-FFF2-40B4-BE49-F238E27FC236}">
                <ns2:creationId xmlns:ns4="http://schemas.microsoft.com/office/powerpoint/2010/main" xmlns:ns2="http://schemas.microsoft.com/office/drawing/2014/main" xmlns="" id="{2E2E9F38-78A8-42E0-AB58-DEAF04818EBB}"/>
              </a:ext>
            </a:extLst>
          </p:cNvPr>
          <p:cNvSpPr>
            <a:spLocks noGrp="1"/>
          </p:cNvSpPr>
          <p:nvPr/>
        </p:nvSpPr>
        <p:spPr>
          <a:xfrm>
            <a:off x="7952899" y="4246721"/>
            <a:ext cx="142399" cy="35052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8" name="表紙イラスト・参加者B・脚2">
            <a:extLst>
              <a:ext uri="{FF2B5EF4-FFF2-40B4-BE49-F238E27FC236}">
                <ns2:creationId xmlns:ns4="http://schemas.microsoft.com/office/powerpoint/2010/main" xmlns:ns2="http://schemas.microsoft.com/office/drawing/2014/main" xmlns="" id="{9CBFFAF5-B5C3-4DF5-8932-03BBCD532098}"/>
              </a:ext>
            </a:extLst>
          </p:cNvPr>
          <p:cNvSpPr>
            <a:spLocks noGrp="1"/>
          </p:cNvSpPr>
          <p:nvPr/>
        </p:nvSpPr>
        <p:spPr>
          <a:xfrm>
            <a:off x="8204835" y="4246721"/>
            <a:ext cx="142399" cy="35052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9" name="表紙イラスト・PC画面">
            <a:extLst>
              <a:ext uri="{FF2B5EF4-FFF2-40B4-BE49-F238E27FC236}">
                <ns2:creationId xmlns:ns4="http://schemas.microsoft.com/office/powerpoint/2010/main" xmlns:ns2="http://schemas.microsoft.com/office/drawing/2014/main" xmlns="" id="{70099F48-E67E-4C84-93DC-DC4DA404E0ED}"/>
              </a:ext>
            </a:extLst>
          </p:cNvPr>
          <p:cNvSpPr>
            <a:spLocks noGrp="1"/>
          </p:cNvSpPr>
          <p:nvPr/>
        </p:nvSpPr>
        <p:spPr>
          <a:xfrm>
            <a:off x="7296150" y="3810000"/>
            <a:ext cx="666750" cy="457200"/>
          </a:xfrm>
          <a:prstGeom prst="roundRect">
            <a:avLst>
              <a:gd name="adj" fmla="val 16667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20" name="表紙イラスト・PC画面内">
            <a:extLst>
              <a:ext uri="{FF2B5EF4-FFF2-40B4-BE49-F238E27FC236}">
                <ns2:creationId xmlns:ns4="http://schemas.microsoft.com/office/powerpoint/2010/main" xmlns:ns2="http://schemas.microsoft.com/office/drawing/2014/main" xmlns="" id="{99F7B1B0-AC12-469B-882F-D72EA3DBF51D}"/>
              </a:ext>
            </a:extLst>
          </p:cNvPr>
          <p:cNvSpPr>
            <a:spLocks noGrp="1"/>
          </p:cNvSpPr>
          <p:nvPr/>
        </p:nvSpPr>
        <p:spPr>
          <a:xfrm>
            <a:off x="7353300" y="3867150"/>
            <a:ext cx="552450" cy="333375"/>
          </a:xfrm>
          <a:prstGeom prst="roundRect">
            <a:avLst>
              <a:gd name="adj" fmla="val 22857"/>
            </a:avLst>
          </a:prstGeom>
          <a:solidFill>
            <a:srgbClr val="F0F5FA"/>
          </a:solidFill>
          <a:ln w="0">
            <a:noFill/>
            <a:prstDash val="solid"/>
          </a:ln>
        </p:spPr>
      </p:sp>
      <p:sp>
        <p:nvSpPr>
          <p:cNvPr id="21" name="表紙イラスト・PC台">
            <a:extLst>
              <a:ext uri="{FF2B5EF4-FFF2-40B4-BE49-F238E27FC236}">
                <ns2:creationId xmlns:ns4="http://schemas.microsoft.com/office/powerpoint/2010/main" xmlns:ns2="http://schemas.microsoft.com/office/drawing/2014/main" xmlns="" id="{68098DC3-4916-4C20-B88C-2DA6E90DCD4A}"/>
              </a:ext>
            </a:extLst>
          </p:cNvPr>
          <p:cNvSpPr>
            <a:spLocks noGrp="1"/>
          </p:cNvSpPr>
          <p:nvPr/>
        </p:nvSpPr>
        <p:spPr>
          <a:xfrm>
            <a:off x="7219950" y="4267200"/>
            <a:ext cx="819150" cy="66675"/>
          </a:xfrm>
          <a:prstGeom prst="trapezoid">
            <a:avLst/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22" name="表紙イラスト・腕A">
            <a:extLst>
              <a:ext uri="{FF2B5EF4-FFF2-40B4-BE49-F238E27FC236}">
                <ns2:creationId xmlns:ns4="http://schemas.microsoft.com/office/powerpoint/2010/main" xmlns:ns2="http://schemas.microsoft.com/office/drawing/2014/main" xmlns="" id="{8A38A081-6EA7-4AD9-B6CF-72AB4707CF22}"/>
              </a:ext>
            </a:extLst>
          </p:cNvPr>
          <p:cNvSpPr>
            <a:spLocks noGrp="1"/>
          </p:cNvSpPr>
          <p:nvPr/>
        </p:nvSpPr>
        <p:spPr>
          <a:xfrm>
            <a:off x="7038975" y="3781425"/>
            <a:ext cx="333375" cy="85725"/>
          </a:xfrm>
          <a:prstGeom prst="roundRect">
            <a:avLst>
              <a:gd name="adj" fmla="val 50000"/>
            </a:avLst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23" name="表紙イラスト・腕B">
            <a:extLst>
              <a:ext uri="{FF2B5EF4-FFF2-40B4-BE49-F238E27FC236}">
                <ns2:creationId xmlns:ns4="http://schemas.microsoft.com/office/powerpoint/2010/main" xmlns:ns2="http://schemas.microsoft.com/office/drawing/2014/main" xmlns="" id="{C5009891-2F7E-4681-9DDE-CB09AE21BACF}"/>
              </a:ext>
            </a:extLst>
          </p:cNvPr>
          <p:cNvSpPr>
            <a:spLocks noGrp="1"/>
          </p:cNvSpPr>
          <p:nvPr/>
        </p:nvSpPr>
        <p:spPr>
          <a:xfrm>
            <a:off x="7734300" y="3781425"/>
            <a:ext cx="276225" cy="85725"/>
          </a:xfrm>
          <a:prstGeom prst="roundRect">
            <a:avLst>
              <a:gd name="adj" fmla="val 50000"/>
            </a:avLst>
          </a:prstGeom>
          <a:solidFill>
            <a:srgbClr val="F1C7A7"/>
          </a:solidFill>
          <a:ln w="0">
            <a:noFill/>
            <a:prstDash val="solid"/>
          </a:ln>
        </p:spPr>
      </p:sp>
      <p:pic>
        <p:nvPicPr>
          <p:cNvPr id="24" name="16版 写真 1ページ" descr="A professional working at a laptop in a modern office. Photo by blue sky on Unsplash. https://unsplash.com/photos/two-colleagues-discussing-work-at-a-table-XJ0afa1D6ZU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0"/>
            <a:ext cx="3118104" cy="5143500"/>
          </a:xfrm>
          <a:prstGeom prst="round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5968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ns2:creationId xmlns:ns4="http://schemas.microsoft.com/office/powerpoint/2010/main" xmlns:ns2="http://schemas.microsoft.com/office/drawing/2014/main" xmlns="" id="{5CB8602C-5C9C-4CEF-945E-A9A92E40CDD0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394996" y="311658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800" b="1">
                <a:solidFill>
                  <a:schemeClr val="tx1"/>
                </a:solidFill>
              </a:rPr>
              <a:t>プロジェクトに賭ける私の想い</a:t>
            </a:r>
            <a:endParaRPr sz="2800"/>
          </a:p>
        </p:txBody>
      </p:sp>
      <p:sp>
        <p:nvSpPr>
          <p:cNvPr id="3" name="想い1円">
            <a:extLst>
              <a:ext uri="{FF2B5EF4-FFF2-40B4-BE49-F238E27FC236}">
                <ns2:creationId xmlns:ns4="http://schemas.microsoft.com/office/powerpoint/2010/main" xmlns:ns2="http://schemas.microsoft.com/office/drawing/2014/main" xmlns="" id="{DCD30D59-35EC-4BA9-A2D7-BA2C9F9DF24B}"/>
              </a:ext>
            </a:extLst>
          </p:cNvPr>
          <p:cNvSpPr>
            <a:spLocks noGrp="1"/>
          </p:cNvSpPr>
          <p:nvPr/>
        </p:nvSpPr>
        <p:spPr>
          <a:xfrm>
            <a:off x="463421" y="2223721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想い1アイコン">
            <a:extLst>
              <a:ext uri="{FF2B5EF4-FFF2-40B4-BE49-F238E27FC236}">
                <ns2:creationId xmlns:ns4="http://schemas.microsoft.com/office/powerpoint/2010/main" xmlns:ns2="http://schemas.microsoft.com/office/drawing/2014/main" xmlns="" id="{EC5D9AC7-F795-4CF3-ADBE-88A4AE424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39" y="2364539"/>
            <a:ext cx="358445" cy="358445"/>
          </a:xfrm>
          <a:prstGeom prst="rect">
            <a:avLst/>
          </a:prstGeom>
        </p:spPr>
      </p:pic>
      <p:sp>
        <p:nvSpPr>
          <p:cNvPr id="5" name="想い文1">
            <a:extLst>
              <a:ext uri="{FF2B5EF4-FFF2-40B4-BE49-F238E27FC236}">
                <ns2:creationId xmlns:ns4="http://schemas.microsoft.com/office/powerpoint/2010/main" xmlns:ns2="http://schemas.microsoft.com/office/drawing/2014/main" xmlns="" id="{3E5E2EEC-CC52-45CF-967C-C559EDF636AD}"/>
              </a:ext>
            </a:extLst>
          </p:cNvPr>
          <p:cNvSpPr>
            <a:spLocks noGrp="1"/>
          </p:cNvSpPr>
          <p:nvPr/>
        </p:nvSpPr>
        <p:spPr>
          <a:xfrm>
            <a:off x="1332071" y="2223707"/>
            <a:ext cx="53340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marL="0" indent="0" algn="l">
              <a:buNone/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5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SES</a:t>
            </a:r>
            <a:r>
              <a:rPr sz="15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企業の横のつながり</a:t>
            </a:r>
            <a:r>
              <a:rPr lang="ja-JP" altLang="en-US" sz="15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、</a:t>
            </a:r>
            <a:r>
              <a:rPr lang="ja-JP" altLang="en-US" sz="1500" b="1" dirty="0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業務連携</a:t>
            </a:r>
            <a:r>
              <a:rPr sz="15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を強くする</a:t>
            </a:r>
            <a:endParaRPr sz="1800" dirty="0"/>
          </a:p>
        </p:txBody>
      </p:sp>
      <p:sp>
        <p:nvSpPr>
          <p:cNvPr id="6" name="想い2円">
            <a:extLst>
              <a:ext uri="{FF2B5EF4-FFF2-40B4-BE49-F238E27FC236}">
                <ns2:creationId xmlns:ns4="http://schemas.microsoft.com/office/powerpoint/2010/main" xmlns:ns2="http://schemas.microsoft.com/office/drawing/2014/main" xmlns="" id="{0EDE433A-7F1F-4DA9-A984-B1CDE88BC35F}"/>
              </a:ext>
            </a:extLst>
          </p:cNvPr>
          <p:cNvSpPr>
            <a:spLocks noGrp="1"/>
          </p:cNvSpPr>
          <p:nvPr/>
        </p:nvSpPr>
        <p:spPr>
          <a:xfrm>
            <a:off x="463421" y="3092401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想い2アイコン">
            <a:extLst>
              <a:ext uri="{FF2B5EF4-FFF2-40B4-BE49-F238E27FC236}">
                <ns2:creationId xmlns:ns4="http://schemas.microsoft.com/office/powerpoint/2010/main" xmlns:ns2="http://schemas.microsoft.com/office/drawing/2014/main" xmlns="" id="{704AEC49-8943-42C8-B7CB-01B01D04F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239" y="3233219"/>
            <a:ext cx="358445" cy="358445"/>
          </a:xfrm>
          <a:prstGeom prst="rect">
            <a:avLst/>
          </a:prstGeom>
        </p:spPr>
      </p:pic>
      <p:sp>
        <p:nvSpPr>
          <p:cNvPr id="8" name="想い文2">
            <a:extLst>
              <a:ext uri="{FF2B5EF4-FFF2-40B4-BE49-F238E27FC236}">
                <ns2:creationId xmlns:ns4="http://schemas.microsoft.com/office/powerpoint/2010/main" xmlns:ns2="http://schemas.microsoft.com/office/drawing/2014/main" xmlns="" id="{F45E24E8-5948-4328-BA4E-9DEF5B9BF10C}"/>
              </a:ext>
            </a:extLst>
          </p:cNvPr>
          <p:cNvSpPr>
            <a:spLocks noGrp="1"/>
          </p:cNvSpPr>
          <p:nvPr/>
        </p:nvSpPr>
        <p:spPr>
          <a:xfrm>
            <a:off x="1332071" y="3092387"/>
            <a:ext cx="53340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marL="0" indent="0" algn="l">
              <a:buNone/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5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届いた案件を</a:t>
            </a:r>
            <a:r>
              <a:rPr lang="ja-JP" altLang="en-US" sz="15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適切な</a:t>
            </a:r>
            <a:r>
              <a:rPr sz="15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エンジニアへすばやく届ける</a:t>
            </a:r>
            <a:endParaRPr sz="1800" dirty="0"/>
          </a:p>
        </p:txBody>
      </p:sp>
      <p:sp>
        <p:nvSpPr>
          <p:cNvPr id="9" name="想い3円">
            <a:extLst>
              <a:ext uri="{FF2B5EF4-FFF2-40B4-BE49-F238E27FC236}">
                <ns2:creationId xmlns:ns4="http://schemas.microsoft.com/office/powerpoint/2010/main" xmlns:ns2="http://schemas.microsoft.com/office/drawing/2014/main" xmlns="" id="{AF4EFA29-2B9D-41EB-AF2C-F4255F1CE7E3}"/>
              </a:ext>
            </a:extLst>
          </p:cNvPr>
          <p:cNvSpPr>
            <a:spLocks noGrp="1"/>
          </p:cNvSpPr>
          <p:nvPr/>
        </p:nvSpPr>
        <p:spPr>
          <a:xfrm>
            <a:off x="463421" y="3961081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想い3アイコン">
            <a:extLst>
              <a:ext uri="{FF2B5EF4-FFF2-40B4-BE49-F238E27FC236}">
                <ns2:creationId xmlns:ns4="http://schemas.microsoft.com/office/powerpoint/2010/main" xmlns:ns2="http://schemas.microsoft.com/office/drawing/2014/main" xmlns="" id="{5156A03A-A97B-4CCA-90D4-BD583EA6B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39" y="4101899"/>
            <a:ext cx="358445" cy="358445"/>
          </a:xfrm>
          <a:prstGeom prst="rect">
            <a:avLst/>
          </a:prstGeom>
        </p:spPr>
      </p:pic>
      <p:sp>
        <p:nvSpPr>
          <p:cNvPr id="11" name="想い文3">
            <a:extLst>
              <a:ext uri="{FF2B5EF4-FFF2-40B4-BE49-F238E27FC236}">
                <ns2:creationId xmlns:ns4="http://schemas.microsoft.com/office/powerpoint/2010/main" xmlns:ns2="http://schemas.microsoft.com/office/drawing/2014/main" xmlns="" id="{7C50BCB5-FDDC-464F-A5D0-B2974D0E5DFC}"/>
              </a:ext>
            </a:extLst>
          </p:cNvPr>
          <p:cNvSpPr>
            <a:spLocks noGrp="1"/>
          </p:cNvSpPr>
          <p:nvPr/>
        </p:nvSpPr>
        <p:spPr>
          <a:xfrm>
            <a:off x="1332071" y="3961067"/>
            <a:ext cx="53340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marL="0" indent="0" algn="l">
              <a:buNone/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lang="ja-JP" altLang="en-US" sz="1500" b="1" dirty="0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エンジニアの魅力</a:t>
            </a:r>
            <a:r>
              <a:rPr sz="15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を的確に伝え</a:t>
            </a:r>
            <a:r>
              <a:rPr sz="15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、</a:t>
            </a:r>
            <a:r>
              <a:rPr sz="15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成約率</a:t>
            </a:r>
            <a:r>
              <a:rPr lang="ja-JP" altLang="en-US" sz="1500" b="1" dirty="0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アップ！</a:t>
            </a:r>
            <a:endParaRPr sz="1800" dirty="0"/>
          </a:p>
        </p:txBody>
      </p:sp>
      <p:sp>
        <p:nvSpPr>
          <p:cNvPr id="12" name="経験帯">
            <a:extLst>
              <a:ext uri="{FF2B5EF4-FFF2-40B4-BE49-F238E27FC236}">
                <ns2:creationId xmlns:ns4="http://schemas.microsoft.com/office/powerpoint/2010/main" xmlns:ns2="http://schemas.microsoft.com/office/drawing/2014/main" xmlns="" id="{851E9AFB-3BBF-46E5-A12E-940AA1CDD93D}"/>
              </a:ext>
            </a:extLst>
          </p:cNvPr>
          <p:cNvSpPr>
            <a:spLocks noGrp="1"/>
          </p:cNvSpPr>
          <p:nvPr/>
        </p:nvSpPr>
        <p:spPr>
          <a:xfrm>
            <a:off x="463421" y="1092926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経験文">
            <a:extLst>
              <a:ext uri="{FF2B5EF4-FFF2-40B4-BE49-F238E27FC236}">
                <ns2:creationId xmlns:ns4="http://schemas.microsoft.com/office/powerpoint/2010/main" xmlns:ns2="http://schemas.microsoft.com/office/drawing/2014/main" xmlns="" id="{602E4B15-8E25-4EB3-88D4-51A52E47AC00}"/>
              </a:ext>
            </a:extLst>
          </p:cNvPr>
          <p:cNvSpPr>
            <a:spLocks noGrp="1"/>
          </p:cNvSpPr>
          <p:nvPr/>
        </p:nvSpPr>
        <p:spPr>
          <a:xfrm>
            <a:off x="394996" y="1129945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 dirty="0">
                <a:solidFill>
                  <a:schemeClr val="bg1"/>
                </a:solidFill>
                <a:latin typeface="Meiryo"/>
                <a:ea typeface="Meiryo"/>
                <a:cs typeface="Meiryo"/>
              </a:rPr>
              <a:t>エンジニアを15</a:t>
            </a:r>
            <a:r>
              <a:rPr sz="1800" b="1" dirty="0" smtClean="0">
                <a:solidFill>
                  <a:schemeClr val="bg1"/>
                </a:solidFill>
                <a:latin typeface="Meiryo"/>
                <a:ea typeface="Meiryo"/>
                <a:cs typeface="Meiryo"/>
              </a:rPr>
              <a:t>年以上続けてきた私だから提案でき</a:t>
            </a:r>
            <a:r>
              <a:rPr lang="ja-JP" altLang="en-US" sz="1800" b="1" dirty="0" smtClean="0">
                <a:solidFill>
                  <a:schemeClr val="bg1"/>
                </a:solidFill>
                <a:latin typeface="Meiryo"/>
                <a:ea typeface="Meiryo"/>
                <a:cs typeface="Meiryo"/>
              </a:rPr>
              <a:t>ることで</a:t>
            </a:r>
            <a:r>
              <a:rPr sz="1800" b="1" dirty="0" smtClean="0">
                <a:solidFill>
                  <a:schemeClr val="bg1"/>
                </a:solidFill>
                <a:latin typeface="Meiryo"/>
                <a:ea typeface="Meiryo"/>
                <a:cs typeface="Meiryo"/>
              </a:rPr>
              <a:t>す</a:t>
            </a:r>
            <a:endParaRPr sz="1800" dirty="0"/>
          </a:p>
        </p:txBody>
      </p:sp>
      <p:sp>
        <p:nvSpPr>
          <p:cNvPr id="25" name="Slide Number Placeholder 0">
            <a:extLst>
              <a:ext uri="{FF2B5EF4-FFF2-40B4-BE49-F238E27FC236}">
                <ns2:creationId xmlns:ns4="http://schemas.microsoft.com/office/powerpoint/2010/main" xmlns:ns2="http://schemas.microsoft.com/office/drawing/2014/main" xmlns="" id="{BE3D2000-613E-41D7-9B36-56699BFD458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  <p:sp>
        <p:nvSpPr>
          <p:cNvPr id="26" name="提案する人イラスト・背景">
            <a:extLst>
              <a:ext uri="{FF2B5EF4-FFF2-40B4-BE49-F238E27FC236}">
                <ns2:creationId xmlns:ns4="http://schemas.microsoft.com/office/powerpoint/2010/main" xmlns:ns2="http://schemas.microsoft.com/office/drawing/2014/main" xmlns="" id="{FC078D66-5634-4CAA-81CB-AD22CB5E1BDC}"/>
              </a:ext>
            </a:extLst>
          </p:cNvPr>
          <p:cNvSpPr>
            <a:spLocks noGrp="1"/>
          </p:cNvSpPr>
          <p:nvPr/>
        </p:nvSpPr>
        <p:spPr>
          <a:xfrm>
            <a:off x="6819900" y="2143125"/>
            <a:ext cx="1866900" cy="2505075"/>
          </a:xfrm>
          <a:prstGeom prst="roundRect">
            <a:avLst>
              <a:gd name="adj" fmla="val 4082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27" name="提案する人イラスト・椅子">
            <a:extLst>
              <a:ext uri="{FF2B5EF4-FFF2-40B4-BE49-F238E27FC236}">
                <ns2:creationId xmlns:ns4="http://schemas.microsoft.com/office/powerpoint/2010/main" xmlns:ns2="http://schemas.microsoft.com/office/drawing/2014/main" xmlns="" id="{4B410AA7-A51A-4487-A92D-50992599ACA1}"/>
              </a:ext>
            </a:extLst>
          </p:cNvPr>
          <p:cNvSpPr>
            <a:spLocks noGrp="1"/>
          </p:cNvSpPr>
          <p:nvPr/>
        </p:nvSpPr>
        <p:spPr>
          <a:xfrm>
            <a:off x="7105650" y="3486150"/>
            <a:ext cx="409575" cy="695325"/>
          </a:xfrm>
          <a:prstGeom prst="roundRect">
            <a:avLst>
              <a:gd name="adj" fmla="val 18605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28" name="提案する人イラスト・頭">
            <a:extLst>
              <a:ext uri="{FF2B5EF4-FFF2-40B4-BE49-F238E27FC236}">
                <ns2:creationId xmlns:ns4="http://schemas.microsoft.com/office/powerpoint/2010/main" xmlns:ns2="http://schemas.microsoft.com/office/drawing/2014/main" xmlns="" id="{89986A75-F4A7-4879-A815-50D62B117C1F}"/>
              </a:ext>
            </a:extLst>
          </p:cNvPr>
          <p:cNvSpPr>
            <a:spLocks noGrp="1"/>
          </p:cNvSpPr>
          <p:nvPr/>
        </p:nvSpPr>
        <p:spPr>
          <a:xfrm>
            <a:off x="7143750" y="2505075"/>
            <a:ext cx="323850" cy="323850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29" name="提案する人イラスト・髪">
            <a:extLst>
              <a:ext uri="{FF2B5EF4-FFF2-40B4-BE49-F238E27FC236}">
                <ns2:creationId xmlns:ns4="http://schemas.microsoft.com/office/powerpoint/2010/main" xmlns:ns2="http://schemas.microsoft.com/office/drawing/2014/main" xmlns="" id="{1CF1350D-1681-4255-9858-F92DDEF7430F}"/>
              </a:ext>
            </a:extLst>
          </p:cNvPr>
          <p:cNvSpPr>
            <a:spLocks noGrp="1"/>
          </p:cNvSpPr>
          <p:nvPr/>
        </p:nvSpPr>
        <p:spPr>
          <a:xfrm>
            <a:off x="7115175" y="2466975"/>
            <a:ext cx="381000" cy="190500"/>
          </a:xfrm>
          <a:prstGeom prst="arc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0" name="提案する人イラスト・胴">
            <a:extLst>
              <a:ext uri="{FF2B5EF4-FFF2-40B4-BE49-F238E27FC236}">
                <ns2:creationId xmlns:ns4="http://schemas.microsoft.com/office/powerpoint/2010/main" xmlns:ns2="http://schemas.microsoft.com/office/drawing/2014/main" xmlns="" id="{2E4FEF8A-F47A-4CB7-AD3F-7864CE412CA6}"/>
              </a:ext>
            </a:extLst>
          </p:cNvPr>
          <p:cNvSpPr>
            <a:spLocks noGrp="1"/>
          </p:cNvSpPr>
          <p:nvPr/>
        </p:nvSpPr>
        <p:spPr>
          <a:xfrm>
            <a:off x="7029450" y="2876550"/>
            <a:ext cx="628650" cy="723900"/>
          </a:xfrm>
          <a:prstGeom prst="roundRect">
            <a:avLst>
              <a:gd name="adj" fmla="val 12121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31" name="提案する人イラスト・脚1">
            <a:extLst>
              <a:ext uri="{FF2B5EF4-FFF2-40B4-BE49-F238E27FC236}">
                <ns2:creationId xmlns:ns4="http://schemas.microsoft.com/office/powerpoint/2010/main" xmlns:ns2="http://schemas.microsoft.com/office/drawing/2014/main" xmlns="" id="{849A3CF3-01ED-4BF9-91C4-DCB51C10C886}"/>
              </a:ext>
            </a:extLst>
          </p:cNvPr>
          <p:cNvSpPr>
            <a:spLocks noGrp="1"/>
          </p:cNvSpPr>
          <p:nvPr/>
        </p:nvSpPr>
        <p:spPr>
          <a:xfrm>
            <a:off x="7105650" y="3524250"/>
            <a:ext cx="180975" cy="400050"/>
          </a:xfrm>
          <a:prstGeom prst="roundRect">
            <a:avLst>
              <a:gd name="adj" fmla="val 42105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2" name="提案する人イラスト・脚2">
            <a:extLst>
              <a:ext uri="{FF2B5EF4-FFF2-40B4-BE49-F238E27FC236}">
                <ns2:creationId xmlns:ns4="http://schemas.microsoft.com/office/powerpoint/2010/main" xmlns:ns2="http://schemas.microsoft.com/office/drawing/2014/main" xmlns="" id="{B336C8C1-1D88-41CD-B449-198A05E56022}"/>
              </a:ext>
            </a:extLst>
          </p:cNvPr>
          <p:cNvSpPr>
            <a:spLocks noGrp="1"/>
          </p:cNvSpPr>
          <p:nvPr/>
        </p:nvSpPr>
        <p:spPr>
          <a:xfrm>
            <a:off x="7381875" y="3524250"/>
            <a:ext cx="180975" cy="400050"/>
          </a:xfrm>
          <a:prstGeom prst="roundRect">
            <a:avLst>
              <a:gd name="adj" fmla="val 42105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3" name="提案する人イラスト・机">
            <a:extLst>
              <a:ext uri="{FF2B5EF4-FFF2-40B4-BE49-F238E27FC236}">
                <ns2:creationId xmlns:ns4="http://schemas.microsoft.com/office/powerpoint/2010/main" xmlns:ns2="http://schemas.microsoft.com/office/drawing/2014/main" xmlns="" id="{22F08AE6-B5A9-489C-A57F-BD63CF0E019F}"/>
              </a:ext>
            </a:extLst>
          </p:cNvPr>
          <p:cNvSpPr>
            <a:spLocks noGrp="1"/>
          </p:cNvSpPr>
          <p:nvPr/>
        </p:nvSpPr>
        <p:spPr>
          <a:xfrm>
            <a:off x="6962775" y="4010025"/>
            <a:ext cx="1571625" cy="9525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4" name="提案する人イラスト・机脚">
            <a:extLst>
              <a:ext uri="{FF2B5EF4-FFF2-40B4-BE49-F238E27FC236}">
                <ns2:creationId xmlns:ns4="http://schemas.microsoft.com/office/powerpoint/2010/main" xmlns:ns2="http://schemas.microsoft.com/office/drawing/2014/main" xmlns="" id="{FCF655F2-69B6-46B3-8A73-71D14863E34B}"/>
              </a:ext>
            </a:extLst>
          </p:cNvPr>
          <p:cNvSpPr>
            <a:spLocks noGrp="1"/>
          </p:cNvSpPr>
          <p:nvPr/>
        </p:nvSpPr>
        <p:spPr>
          <a:xfrm>
            <a:off x="7086600" y="4105275"/>
            <a:ext cx="66675" cy="381000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5" name="提案する人イラスト・机脚">
            <a:extLst>
              <a:ext uri="{FF2B5EF4-FFF2-40B4-BE49-F238E27FC236}">
                <ns2:creationId xmlns:ns4="http://schemas.microsoft.com/office/powerpoint/2010/main" xmlns:ns2="http://schemas.microsoft.com/office/drawing/2014/main" xmlns="" id="{A4D21C01-677B-41D3-9B62-965EC007D71E}"/>
              </a:ext>
            </a:extLst>
          </p:cNvPr>
          <p:cNvSpPr>
            <a:spLocks noGrp="1"/>
          </p:cNvSpPr>
          <p:nvPr/>
        </p:nvSpPr>
        <p:spPr>
          <a:xfrm>
            <a:off x="8372475" y="4105275"/>
            <a:ext cx="66675" cy="381000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6" name="提案する人イラスト・PC">
            <a:extLst>
              <a:ext uri="{FF2B5EF4-FFF2-40B4-BE49-F238E27FC236}">
                <ns2:creationId xmlns:ns4="http://schemas.microsoft.com/office/powerpoint/2010/main" xmlns:ns2="http://schemas.microsoft.com/office/drawing/2014/main" xmlns="" id="{57E21CEE-65D9-48D5-9576-9AF0A3EAD2B7}"/>
              </a:ext>
            </a:extLst>
          </p:cNvPr>
          <p:cNvSpPr>
            <a:spLocks noGrp="1"/>
          </p:cNvSpPr>
          <p:nvPr/>
        </p:nvSpPr>
        <p:spPr>
          <a:xfrm>
            <a:off x="7696200" y="3190875"/>
            <a:ext cx="723900" cy="581025"/>
          </a:xfrm>
          <a:prstGeom prst="roundRect">
            <a:avLst>
              <a:gd name="adj" fmla="val 13115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7" name="提案する人イラスト・画面">
            <a:extLst>
              <a:ext uri="{FF2B5EF4-FFF2-40B4-BE49-F238E27FC236}">
                <ns2:creationId xmlns:ns4="http://schemas.microsoft.com/office/powerpoint/2010/main" xmlns:ns2="http://schemas.microsoft.com/office/drawing/2014/main" xmlns="" id="{4DA99AB9-8792-4166-9305-33846C040F6C}"/>
              </a:ext>
            </a:extLst>
          </p:cNvPr>
          <p:cNvSpPr>
            <a:spLocks noGrp="1"/>
          </p:cNvSpPr>
          <p:nvPr/>
        </p:nvSpPr>
        <p:spPr>
          <a:xfrm>
            <a:off x="7762875" y="3257550"/>
            <a:ext cx="5905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8" name="提案する人イラスト・案件マーク">
            <a:extLst>
              <a:ext uri="{FF2B5EF4-FFF2-40B4-BE49-F238E27FC236}">
                <ns2:creationId xmlns:ns4="http://schemas.microsoft.com/office/powerpoint/2010/main" xmlns:ns2="http://schemas.microsoft.com/office/drawing/2014/main" xmlns="" id="{F882982A-2E23-4180-94F6-4B1C95C727B4}"/>
              </a:ext>
            </a:extLst>
          </p:cNvPr>
          <p:cNvSpPr>
            <a:spLocks noGrp="1"/>
          </p:cNvSpPr>
          <p:nvPr/>
        </p:nvSpPr>
        <p:spPr>
          <a:xfrm>
            <a:off x="7839075" y="3333750"/>
            <a:ext cx="171450" cy="171450"/>
          </a:xfrm>
          <a:prstGeom prst="ellipse">
            <a:avLst/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39" name="提案する人イラスト・案件行1">
            <a:extLst>
              <a:ext uri="{FF2B5EF4-FFF2-40B4-BE49-F238E27FC236}">
                <ns2:creationId xmlns:ns4="http://schemas.microsoft.com/office/powerpoint/2010/main" xmlns:ns2="http://schemas.microsoft.com/office/drawing/2014/main" xmlns="" id="{603A2334-26B6-40A8-B34D-4448C7E640C0}"/>
              </a:ext>
            </a:extLst>
          </p:cNvPr>
          <p:cNvSpPr>
            <a:spLocks noGrp="1"/>
          </p:cNvSpPr>
          <p:nvPr/>
        </p:nvSpPr>
        <p:spPr>
          <a:xfrm>
            <a:off x="8058150" y="3352800"/>
            <a:ext cx="219075" cy="47625"/>
          </a:xfrm>
          <a:prstGeom prst="roundRect">
            <a:avLst>
              <a:gd name="adj" fmla="val 50000"/>
            </a:avLst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40" name="提案する人イラスト・案件行2">
            <a:extLst>
              <a:ext uri="{FF2B5EF4-FFF2-40B4-BE49-F238E27FC236}">
                <ns2:creationId xmlns:ns4="http://schemas.microsoft.com/office/powerpoint/2010/main" xmlns:ns2="http://schemas.microsoft.com/office/drawing/2014/main" xmlns="" id="{689F96EF-1E95-4628-A237-1E2673E5A626}"/>
              </a:ext>
            </a:extLst>
          </p:cNvPr>
          <p:cNvSpPr>
            <a:spLocks noGrp="1"/>
          </p:cNvSpPr>
          <p:nvPr/>
        </p:nvSpPr>
        <p:spPr>
          <a:xfrm>
            <a:off x="8058150" y="3467100"/>
            <a:ext cx="180975" cy="47625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41" name="提案する人イラスト・腕">
            <a:extLst>
              <a:ext uri="{FF2B5EF4-FFF2-40B4-BE49-F238E27FC236}">
                <ns2:creationId xmlns:ns4="http://schemas.microsoft.com/office/powerpoint/2010/main" xmlns:ns2="http://schemas.microsoft.com/office/drawing/2014/main" xmlns="" id="{6886D75C-9421-4AD9-93DC-8328F74600EE}"/>
              </a:ext>
            </a:extLst>
          </p:cNvPr>
          <p:cNvSpPr>
            <a:spLocks noGrp="1"/>
          </p:cNvSpPr>
          <p:nvPr/>
        </p:nvSpPr>
        <p:spPr>
          <a:xfrm>
            <a:off x="7524750" y="3067050"/>
            <a:ext cx="266700" cy="114300"/>
          </a:xfrm>
          <a:prstGeom prst="roundRect">
            <a:avLst>
              <a:gd name="adj" fmla="val 50000"/>
            </a:avLst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2" name="提案する人イラスト・PC台">
            <a:extLst>
              <a:ext uri="{FF2B5EF4-FFF2-40B4-BE49-F238E27FC236}">
                <ns2:creationId xmlns:ns4="http://schemas.microsoft.com/office/powerpoint/2010/main" xmlns:ns2="http://schemas.microsoft.com/office/drawing/2014/main" xmlns="" id="{299C710C-F3AC-42D1-8F38-5385968F94D2}"/>
              </a:ext>
            </a:extLst>
          </p:cNvPr>
          <p:cNvSpPr>
            <a:spLocks noGrp="1"/>
          </p:cNvSpPr>
          <p:nvPr/>
        </p:nvSpPr>
        <p:spPr>
          <a:xfrm>
            <a:off x="7629525" y="3771900"/>
            <a:ext cx="866775" cy="76200"/>
          </a:xfrm>
          <a:prstGeom prst="trapezoid">
            <a:avLst/>
          </a:prstGeom>
          <a:solidFill>
            <a:srgbClr val="F5B971"/>
          </a:solidFill>
          <a:ln w="0">
            <a:noFill/>
            <a:prstDash val="solid"/>
          </a:ln>
        </p:spPr>
      </p:sp>
      <p:pic>
        <p:nvPicPr>
          <p:cNvPr id="43" name="16版 写真 2ページ" descr="A person focused on a laptop at a table. Photo by Clinic Grower on Unsplash. https://unsplash.com/photos/man-working-on-laptop-at-a-white-table-ttnDcsWdQA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1424" y="2139696"/>
            <a:ext cx="1865376" cy="2505456"/>
          </a:xfrm>
          <a:prstGeom prst="round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9379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ns2:creationId xmlns:ns4="http://schemas.microsoft.com/office/powerpoint/2010/main" xmlns:ns2="http://schemas.microsoft.com/office/drawing/2014/main" xmlns="" id="{DAA794EA-419E-4B4B-A04A-393051C6A644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800">
                <a:solidFill>
                  <a:schemeClr val="tx1"/>
                </a:solidFill>
                <a:latin typeface="Meiryo"/>
                <a:ea typeface="Meiryo"/>
                <a:cs typeface="Meiryo"/>
              </a:rPr>
              <a:t>SES各社が結束すれば、仕事は増えます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ns2:creationId xmlns:ns4="http://schemas.microsoft.com/office/powerpoint/2010/main" xmlns:ns2="http://schemas.microsoft.com/office/drawing/2014/main" xmlns="" id="{03802C83-7C96-4C88-8F1E-AE0E672F588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  <p:sp>
        <p:nvSpPr>
          <p:cNvPr id="14" name="仲間0">
            <a:extLst>
              <a:ext uri="{FF2B5EF4-FFF2-40B4-BE49-F238E27FC236}">
                <ns2:creationId xmlns:ns4="http://schemas.microsoft.com/office/powerpoint/2010/main" xmlns:ns2="http://schemas.microsoft.com/office/drawing/2014/main" xmlns="" id="{860F4120-1804-46CE-8829-AFB8F9BF53D2}"/>
              </a:ext>
            </a:extLst>
          </p:cNvPr>
          <p:cNvSpPr>
            <a:spLocks noGrp="1"/>
          </p:cNvSpPr>
          <p:nvPr/>
        </p:nvSpPr>
        <p:spPr>
          <a:xfrm>
            <a:off x="457200" y="12192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SES企業A</a:t>
            </a:r>
          </a:p>
          <a:p>
            <a:pPr algn="ctr">
              <a:buNone/>
            </a:pPr>
            <a:r>
              <a:rPr sz="9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エンジニア数名</a:t>
            </a:r>
          </a:p>
        </p:txBody>
      </p:sp>
      <p:sp>
        <p:nvSpPr>
          <p:cNvPr id="15" name="仲間1">
            <a:extLst>
              <a:ext uri="{FF2B5EF4-FFF2-40B4-BE49-F238E27FC236}">
                <ns2:creationId xmlns:ns4="http://schemas.microsoft.com/office/powerpoint/2010/main" xmlns:ns2="http://schemas.microsoft.com/office/drawing/2014/main" xmlns="" id="{AB319472-C75F-4527-BFAB-7986A9A03520}"/>
              </a:ext>
            </a:extLst>
          </p:cNvPr>
          <p:cNvSpPr>
            <a:spLocks noGrp="1"/>
          </p:cNvSpPr>
          <p:nvPr/>
        </p:nvSpPr>
        <p:spPr>
          <a:xfrm>
            <a:off x="457200" y="19558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000" b="1">
                <a:solidFill>
                  <a:srgbClr val="2B4A6F"/>
                </a:solidFill>
              </a:rPr>
              <a:t>SES企業B</a:t>
            </a:r>
          </a:p>
          <a:p>
            <a:pPr algn="ctr">
              <a:buNone/>
            </a:pPr>
            <a:r>
              <a:rPr sz="9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エンジニア数名</a:t>
            </a:r>
          </a:p>
        </p:txBody>
      </p:sp>
      <p:sp>
        <p:nvSpPr>
          <p:cNvPr id="16" name="仲間2">
            <a:extLst>
              <a:ext uri="{FF2B5EF4-FFF2-40B4-BE49-F238E27FC236}">
                <ns2:creationId xmlns:ns4="http://schemas.microsoft.com/office/powerpoint/2010/main" xmlns:ns2="http://schemas.microsoft.com/office/drawing/2014/main" xmlns="" id="{EDAE3164-6977-4E32-9E78-3BB17FC92C4B}"/>
              </a:ext>
            </a:extLst>
          </p:cNvPr>
          <p:cNvSpPr>
            <a:spLocks noGrp="1"/>
          </p:cNvSpPr>
          <p:nvPr/>
        </p:nvSpPr>
        <p:spPr>
          <a:xfrm>
            <a:off x="457200" y="26924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000" b="1">
                <a:solidFill>
                  <a:srgbClr val="2B4A6F"/>
                </a:solidFill>
              </a:rPr>
              <a:t>SES企業C</a:t>
            </a:r>
            <a:endParaRPr sz="10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  <a:p>
            <a:pPr algn="ctr">
              <a:buNone/>
            </a:pPr>
            <a:r>
              <a:rPr sz="9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エンジニア数名</a:t>
            </a:r>
          </a:p>
        </p:txBody>
      </p:sp>
      <p:sp>
        <p:nvSpPr>
          <p:cNvPr id="17" name="結束矢印1">
            <a:extLst>
              <a:ext uri="{FF2B5EF4-FFF2-40B4-BE49-F238E27FC236}">
                <ns2:creationId xmlns:ns4="http://schemas.microsoft.com/office/powerpoint/2010/main" xmlns:ns2="http://schemas.microsoft.com/office/drawing/2014/main" xmlns="" id="{5BC86BAE-8678-4864-9DF8-CCAB421AF9BB}"/>
              </a:ext>
            </a:extLst>
          </p:cNvPr>
          <p:cNvSpPr>
            <a:spLocks noGrp="1"/>
          </p:cNvSpPr>
          <p:nvPr/>
        </p:nvSpPr>
        <p:spPr>
          <a:xfrm>
            <a:off x="1955800" y="21209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結束帯">
            <a:extLst>
              <a:ext uri="{FF2B5EF4-FFF2-40B4-BE49-F238E27FC236}">
                <ns2:creationId xmlns:ns4="http://schemas.microsoft.com/office/powerpoint/2010/main" xmlns:ns2="http://schemas.microsoft.com/office/drawing/2014/main" xmlns="" id="{60B40D7F-8598-46DD-88F1-B7B85D52CBFC}"/>
              </a:ext>
            </a:extLst>
          </p:cNvPr>
          <p:cNvSpPr>
            <a:spLocks noGrp="1"/>
          </p:cNvSpPr>
          <p:nvPr/>
        </p:nvSpPr>
        <p:spPr>
          <a:xfrm>
            <a:off x="3246016" y="1216025"/>
            <a:ext cx="1670050" cy="208915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endParaRPr b="1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8" name="GP円">
            <a:extLst>
              <a:ext uri="{FF2B5EF4-FFF2-40B4-BE49-F238E27FC236}">
                <ns2:creationId xmlns:ns4="http://schemas.microsoft.com/office/powerpoint/2010/main" xmlns:ns2="http://schemas.microsoft.com/office/drawing/2014/main" xmlns="" id="{7F733653-9594-45DE-B302-03833ED21C9F}"/>
              </a:ext>
            </a:extLst>
          </p:cNvPr>
          <p:cNvSpPr>
            <a:spLocks noGrp="1"/>
          </p:cNvSpPr>
          <p:nvPr/>
        </p:nvSpPr>
        <p:spPr>
          <a:xfrm>
            <a:off x="3373016" y="1622424"/>
            <a:ext cx="1435359" cy="1219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GP</a:t>
            </a:r>
          </a:p>
          <a:p>
            <a:pPr algn="ctr">
              <a:buNone/>
            </a:pPr>
            <a:r>
              <a:rPr sz="9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（グループ）</a:t>
            </a:r>
          </a:p>
          <a:p>
            <a:pPr algn="ctr">
              <a:buNone/>
            </a:pPr>
            <a:r>
              <a:rPr sz="9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多数のエンジニア</a:t>
            </a:r>
          </a:p>
        </p:txBody>
      </p:sp>
      <p:sp>
        <p:nvSpPr>
          <p:cNvPr id="19" name="結束矢印2">
            <a:extLst>
              <a:ext uri="{FF2B5EF4-FFF2-40B4-BE49-F238E27FC236}">
                <ns2:creationId xmlns:ns4="http://schemas.microsoft.com/office/powerpoint/2010/main" xmlns:ns2="http://schemas.microsoft.com/office/drawing/2014/main" xmlns="" id="{9E9D89B6-EE44-4868-AD7B-444682CA4A1D}"/>
              </a:ext>
            </a:extLst>
          </p:cNvPr>
          <p:cNvSpPr>
            <a:spLocks noGrp="1"/>
          </p:cNvSpPr>
          <p:nvPr/>
        </p:nvSpPr>
        <p:spPr>
          <a:xfrm>
            <a:off x="3119016" y="2122973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案件0">
            <a:extLst>
              <a:ext uri="{FF2B5EF4-FFF2-40B4-BE49-F238E27FC236}">
                <ns2:creationId xmlns:ns4="http://schemas.microsoft.com/office/powerpoint/2010/main" xmlns:ns2="http://schemas.microsoft.com/office/drawing/2014/main" xmlns="" id="{67A395BD-BD88-467D-994F-14888B9E64C3}"/>
              </a:ext>
            </a:extLst>
          </p:cNvPr>
          <p:cNvSpPr>
            <a:spLocks noGrp="1"/>
          </p:cNvSpPr>
          <p:nvPr/>
        </p:nvSpPr>
        <p:spPr>
          <a:xfrm>
            <a:off x="2148116" y="117475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1" name="案件1">
            <a:extLst>
              <a:ext uri="{FF2B5EF4-FFF2-40B4-BE49-F238E27FC236}">
                <ns2:creationId xmlns:ns4="http://schemas.microsoft.com/office/powerpoint/2010/main" xmlns:ns2="http://schemas.microsoft.com/office/drawing/2014/main" xmlns="" id="{22AE6BC0-8D44-46AD-8BC0-55B85C889B41}"/>
              </a:ext>
            </a:extLst>
          </p:cNvPr>
          <p:cNvSpPr>
            <a:spLocks noGrp="1"/>
          </p:cNvSpPr>
          <p:nvPr/>
        </p:nvSpPr>
        <p:spPr>
          <a:xfrm>
            <a:off x="2148116" y="173355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2" name="案件2">
            <a:extLst>
              <a:ext uri="{FF2B5EF4-FFF2-40B4-BE49-F238E27FC236}">
                <ns2:creationId xmlns:ns4="http://schemas.microsoft.com/office/powerpoint/2010/main" xmlns:ns2="http://schemas.microsoft.com/office/drawing/2014/main" xmlns="" id="{A9D5D37B-9128-4843-9C63-027BA2A4525E}"/>
              </a:ext>
            </a:extLst>
          </p:cNvPr>
          <p:cNvSpPr>
            <a:spLocks noGrp="1"/>
          </p:cNvSpPr>
          <p:nvPr/>
        </p:nvSpPr>
        <p:spPr>
          <a:xfrm>
            <a:off x="2148116" y="229235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3" name="案件3">
            <a:extLst>
              <a:ext uri="{FF2B5EF4-FFF2-40B4-BE49-F238E27FC236}">
                <ns2:creationId xmlns:ns4="http://schemas.microsoft.com/office/powerpoint/2010/main" xmlns:ns2="http://schemas.microsoft.com/office/drawing/2014/main" xmlns="" id="{4747B094-D52D-42CD-8F13-5C6761294D1B}"/>
              </a:ext>
            </a:extLst>
          </p:cNvPr>
          <p:cNvSpPr>
            <a:spLocks noGrp="1"/>
          </p:cNvSpPr>
          <p:nvPr/>
        </p:nvSpPr>
        <p:spPr>
          <a:xfrm>
            <a:off x="2148116" y="285115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4" name="結束説明">
            <a:extLst>
              <a:ext uri="{FF2B5EF4-FFF2-40B4-BE49-F238E27FC236}">
                <ns2:creationId xmlns:ns4="http://schemas.microsoft.com/office/powerpoint/2010/main" xmlns:ns2="http://schemas.microsoft.com/office/drawing/2014/main" xmlns="" id="{EBFD9254-859E-4ACB-AC9B-7874B8DDD2B1}"/>
              </a:ext>
            </a:extLst>
          </p:cNvPr>
          <p:cNvSpPr>
            <a:spLocks noGrp="1"/>
          </p:cNvSpPr>
          <p:nvPr/>
        </p:nvSpPr>
        <p:spPr>
          <a:xfrm>
            <a:off x="420916" y="3530599"/>
            <a:ext cx="4394200" cy="2794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みなさまの案件とエンジニアを、ひとつのグループに</a:t>
            </a:r>
          </a:p>
        </p:txBody>
      </p:sp>
      <p:sp>
        <p:nvSpPr>
          <p:cNvPr id="26" name="利点0">
            <a:extLst>
              <a:ext uri="{FF2B5EF4-FFF2-40B4-BE49-F238E27FC236}">
                <ns2:creationId xmlns:ns4="http://schemas.microsoft.com/office/powerpoint/2010/main" xmlns:ns2="http://schemas.microsoft.com/office/drawing/2014/main" xmlns="" id="{61C6C4C8-F13E-47DF-9833-961D46CD69AE}"/>
              </a:ext>
            </a:extLst>
          </p:cNvPr>
          <p:cNvSpPr>
            <a:spLocks noGrp="1"/>
          </p:cNvSpPr>
          <p:nvPr/>
        </p:nvSpPr>
        <p:spPr>
          <a:xfrm>
            <a:off x="5080000" y="1168400"/>
            <a:ext cx="3606800" cy="711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利点0円">
            <a:extLst>
              <a:ext uri="{FF2B5EF4-FFF2-40B4-BE49-F238E27FC236}">
                <ns2:creationId xmlns:ns4="http://schemas.microsoft.com/office/powerpoint/2010/main" xmlns:ns2="http://schemas.microsoft.com/office/drawing/2014/main" xmlns="" id="{6BF8BC6C-6BBE-478B-8F77-94ECEF8A24AA}"/>
              </a:ext>
            </a:extLst>
          </p:cNvPr>
          <p:cNvSpPr>
            <a:spLocks noGrp="1"/>
          </p:cNvSpPr>
          <p:nvPr/>
        </p:nvSpPr>
        <p:spPr>
          <a:xfrm>
            <a:off x="5232400" y="129540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8" name="利点0アイコン">
            <a:extLst>
              <a:ext uri="{FF2B5EF4-FFF2-40B4-BE49-F238E27FC236}">
                <ns2:creationId xmlns:ns4="http://schemas.microsoft.com/office/powerpoint/2010/main" xmlns:ns2="http://schemas.microsoft.com/office/drawing/2014/main" xmlns="" id="{4400597D-D59E-4FF2-BE76-2E401B7AD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050" y="1416050"/>
            <a:ext cx="215900" cy="215900"/>
          </a:xfrm>
          <a:prstGeom prst="rect">
            <a:avLst/>
          </a:prstGeom>
        </p:spPr>
      </p:pic>
      <p:sp>
        <p:nvSpPr>
          <p:cNvPr id="29" name="利点0文">
            <a:extLst>
              <a:ext uri="{FF2B5EF4-FFF2-40B4-BE49-F238E27FC236}">
                <ns2:creationId xmlns:ns4="http://schemas.microsoft.com/office/powerpoint/2010/main" xmlns:ns2="http://schemas.microsoft.com/office/drawing/2014/main" xmlns="" id="{6AD2A901-8854-4482-99BE-1CB21E1B45B9}"/>
              </a:ext>
            </a:extLst>
          </p:cNvPr>
          <p:cNvSpPr>
            <a:spLocks noGrp="1"/>
          </p:cNvSpPr>
          <p:nvPr/>
        </p:nvSpPr>
        <p:spPr>
          <a:xfrm>
            <a:off x="5816600" y="1168399"/>
            <a:ext cx="2794000" cy="7112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1社では受けきれない案件も、</a:t>
            </a:r>
          </a:p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みんなで受けられる</a:t>
            </a:r>
          </a:p>
        </p:txBody>
      </p:sp>
      <p:sp>
        <p:nvSpPr>
          <p:cNvPr id="30" name="利点1">
            <a:extLst>
              <a:ext uri="{FF2B5EF4-FFF2-40B4-BE49-F238E27FC236}">
                <ns2:creationId xmlns:ns4="http://schemas.microsoft.com/office/powerpoint/2010/main" xmlns:ns2="http://schemas.microsoft.com/office/drawing/2014/main" xmlns="" id="{CA2997ED-E240-4BEE-8F8C-5D800AAF14FB}"/>
              </a:ext>
            </a:extLst>
          </p:cNvPr>
          <p:cNvSpPr>
            <a:spLocks noGrp="1"/>
          </p:cNvSpPr>
          <p:nvPr/>
        </p:nvSpPr>
        <p:spPr>
          <a:xfrm>
            <a:off x="5080000" y="2006600"/>
            <a:ext cx="3606800" cy="711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利点1円">
            <a:extLst>
              <a:ext uri="{FF2B5EF4-FFF2-40B4-BE49-F238E27FC236}">
                <ns2:creationId xmlns:ns4="http://schemas.microsoft.com/office/powerpoint/2010/main" xmlns:ns2="http://schemas.microsoft.com/office/drawing/2014/main" xmlns="" id="{32433AA7-60E3-4DC3-8C67-91BE4FF1C760}"/>
              </a:ext>
            </a:extLst>
          </p:cNvPr>
          <p:cNvSpPr>
            <a:spLocks noGrp="1"/>
          </p:cNvSpPr>
          <p:nvPr/>
        </p:nvSpPr>
        <p:spPr>
          <a:xfrm>
            <a:off x="5232400" y="213360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2" name="利点1アイコン">
            <a:extLst>
              <a:ext uri="{FF2B5EF4-FFF2-40B4-BE49-F238E27FC236}">
                <ns2:creationId xmlns:ns4="http://schemas.microsoft.com/office/powerpoint/2010/main" xmlns:ns2="http://schemas.microsoft.com/office/drawing/2014/main" xmlns="" id="{06131479-D28D-42BE-B132-669934FB7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050" y="2254250"/>
            <a:ext cx="215900" cy="215900"/>
          </a:xfrm>
          <a:prstGeom prst="rect">
            <a:avLst/>
          </a:prstGeom>
        </p:spPr>
      </p:pic>
      <p:sp>
        <p:nvSpPr>
          <p:cNvPr id="33" name="利点1文">
            <a:extLst>
              <a:ext uri="{FF2B5EF4-FFF2-40B4-BE49-F238E27FC236}">
                <ns2:creationId xmlns:ns4="http://schemas.microsoft.com/office/powerpoint/2010/main" xmlns:ns2="http://schemas.microsoft.com/office/drawing/2014/main" xmlns="" id="{3CCC3399-5BCD-444F-9D33-3166A5185912}"/>
              </a:ext>
            </a:extLst>
          </p:cNvPr>
          <p:cNvSpPr>
            <a:spLocks noGrp="1"/>
          </p:cNvSpPr>
          <p:nvPr/>
        </p:nvSpPr>
        <p:spPr>
          <a:xfrm>
            <a:off x="5816600" y="2006599"/>
            <a:ext cx="2794000" cy="7112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人が足りない案件も、</a:t>
            </a:r>
          </a:p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仲間のエンジニアで埋められる</a:t>
            </a:r>
          </a:p>
        </p:txBody>
      </p:sp>
      <p:sp>
        <p:nvSpPr>
          <p:cNvPr id="34" name="利点2">
            <a:extLst>
              <a:ext uri="{FF2B5EF4-FFF2-40B4-BE49-F238E27FC236}">
                <ns2:creationId xmlns:ns4="http://schemas.microsoft.com/office/powerpoint/2010/main" xmlns:ns2="http://schemas.microsoft.com/office/drawing/2014/main" xmlns="" id="{7C424612-047E-4758-84F4-D8C9A795AC06}"/>
              </a:ext>
            </a:extLst>
          </p:cNvPr>
          <p:cNvSpPr>
            <a:spLocks noGrp="1"/>
          </p:cNvSpPr>
          <p:nvPr/>
        </p:nvSpPr>
        <p:spPr>
          <a:xfrm>
            <a:off x="5080000" y="2844800"/>
            <a:ext cx="3606800" cy="711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利点2円">
            <a:extLst>
              <a:ext uri="{FF2B5EF4-FFF2-40B4-BE49-F238E27FC236}">
                <ns2:creationId xmlns:ns4="http://schemas.microsoft.com/office/powerpoint/2010/main" xmlns:ns2="http://schemas.microsoft.com/office/drawing/2014/main" xmlns="" id="{CE62A084-3B28-4777-AB00-E307AC306D14}"/>
              </a:ext>
            </a:extLst>
          </p:cNvPr>
          <p:cNvSpPr>
            <a:spLocks noGrp="1"/>
          </p:cNvSpPr>
          <p:nvPr/>
        </p:nvSpPr>
        <p:spPr>
          <a:xfrm>
            <a:off x="5232400" y="297180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6" name="利点2アイコン">
            <a:extLst>
              <a:ext uri="{FF2B5EF4-FFF2-40B4-BE49-F238E27FC236}">
                <ns2:creationId xmlns:ns4="http://schemas.microsoft.com/office/powerpoint/2010/main" xmlns:ns2="http://schemas.microsoft.com/office/drawing/2014/main" xmlns="" id="{B0E042BB-3402-4B2E-ACD9-290F3C6FF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3050" y="3092450"/>
            <a:ext cx="215900" cy="215900"/>
          </a:xfrm>
          <a:prstGeom prst="rect">
            <a:avLst/>
          </a:prstGeom>
        </p:spPr>
      </p:pic>
      <p:sp>
        <p:nvSpPr>
          <p:cNvPr id="37" name="利点2文">
            <a:extLst>
              <a:ext uri="{FF2B5EF4-FFF2-40B4-BE49-F238E27FC236}">
                <ns2:creationId xmlns:ns4="http://schemas.microsoft.com/office/powerpoint/2010/main" xmlns:ns2="http://schemas.microsoft.com/office/drawing/2014/main" xmlns="" id="{CFF54069-D364-4102-866A-3D952059CD70}"/>
              </a:ext>
            </a:extLst>
          </p:cNvPr>
          <p:cNvSpPr>
            <a:spLocks noGrp="1"/>
          </p:cNvSpPr>
          <p:nvPr/>
        </p:nvSpPr>
        <p:spPr>
          <a:xfrm>
            <a:off x="5816600" y="2844799"/>
            <a:ext cx="2794000" cy="7112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決まるほど信頼が増え、</a:t>
            </a:r>
          </a:p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案件が集まってくる</a:t>
            </a:r>
          </a:p>
        </p:txBody>
      </p:sp>
      <p:sp>
        <p:nvSpPr>
          <p:cNvPr id="38" name="結束帯">
            <a:extLst>
              <a:ext uri="{FF2B5EF4-FFF2-40B4-BE49-F238E27FC236}">
                <ns2:creationId xmlns:ns4="http://schemas.microsoft.com/office/powerpoint/2010/main" xmlns:ns2="http://schemas.microsoft.com/office/drawing/2014/main" xmlns="" id="{BA11D3BE-C16E-4591-AB35-3976276A4188}"/>
              </a:ext>
            </a:extLst>
          </p:cNvPr>
          <p:cNvSpPr>
            <a:spLocks noGrp="1"/>
          </p:cNvSpPr>
          <p:nvPr/>
        </p:nvSpPr>
        <p:spPr>
          <a:xfrm>
            <a:off x="457200" y="3937000"/>
            <a:ext cx="8229600" cy="5842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ひとりで待つより、みんなで取りにいく</a:t>
            </a:r>
          </a:p>
        </p:txBody>
      </p:sp>
      <p:sp>
        <p:nvSpPr>
          <p:cNvPr id="40" name="GPの人材イラスト・頭1">
            <a:extLst>
              <a:ext uri="{FF2B5EF4-FFF2-40B4-BE49-F238E27FC236}">
                <ns2:creationId xmlns:ns4="http://schemas.microsoft.com/office/powerpoint/2010/main" xmlns:ns2="http://schemas.microsoft.com/office/drawing/2014/main" xmlns="" id="{9A20FE57-A8FB-4293-9E89-0BEC8267E9ED}"/>
              </a:ext>
            </a:extLst>
          </p:cNvPr>
          <p:cNvSpPr>
            <a:spLocks noGrp="1"/>
          </p:cNvSpPr>
          <p:nvPr/>
        </p:nvSpPr>
        <p:spPr>
          <a:xfrm>
            <a:off x="3638550" y="2571750"/>
            <a:ext cx="238125" cy="238125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1" name="GPの人材イラスト・髪1">
            <a:extLst>
              <a:ext uri="{FF2B5EF4-FFF2-40B4-BE49-F238E27FC236}">
                <ns2:creationId xmlns:ns4="http://schemas.microsoft.com/office/powerpoint/2010/main" xmlns:ns2="http://schemas.microsoft.com/office/drawing/2014/main" xmlns="" id="{66555FC6-7616-4A19-9F17-78958A858E07}"/>
              </a:ext>
            </a:extLst>
          </p:cNvPr>
          <p:cNvSpPr>
            <a:spLocks noGrp="1"/>
          </p:cNvSpPr>
          <p:nvPr/>
        </p:nvSpPr>
        <p:spPr>
          <a:xfrm>
            <a:off x="3619500" y="2543175"/>
            <a:ext cx="276225" cy="133350"/>
          </a:xfrm>
          <a:prstGeom prst="arc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2" name="GPの人材イラスト・胴1">
            <a:extLst>
              <a:ext uri="{FF2B5EF4-FFF2-40B4-BE49-F238E27FC236}">
                <ns2:creationId xmlns:ns4="http://schemas.microsoft.com/office/powerpoint/2010/main" xmlns:ns2="http://schemas.microsoft.com/office/drawing/2014/main" xmlns="" id="{D17BA587-0F04-45CE-AA50-7B2CAFA09D7E}"/>
              </a:ext>
            </a:extLst>
          </p:cNvPr>
          <p:cNvSpPr>
            <a:spLocks noGrp="1"/>
          </p:cNvSpPr>
          <p:nvPr/>
        </p:nvSpPr>
        <p:spPr>
          <a:xfrm>
            <a:off x="3581400" y="2828925"/>
            <a:ext cx="352425" cy="371475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3" name="GPの人材イラスト・頭2">
            <a:extLst>
              <a:ext uri="{FF2B5EF4-FFF2-40B4-BE49-F238E27FC236}">
                <ns2:creationId xmlns:ns4="http://schemas.microsoft.com/office/powerpoint/2010/main" xmlns:ns2="http://schemas.microsoft.com/office/drawing/2014/main" xmlns="" id="{6F5DE8AD-1B24-4435-88F1-7E66DBC08024}"/>
              </a:ext>
            </a:extLst>
          </p:cNvPr>
          <p:cNvSpPr>
            <a:spLocks noGrp="1"/>
          </p:cNvSpPr>
          <p:nvPr/>
        </p:nvSpPr>
        <p:spPr>
          <a:xfrm>
            <a:off x="4038600" y="2514600"/>
            <a:ext cx="238125" cy="238125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4" name="GPの人材イラスト・髪2">
            <a:extLst>
              <a:ext uri="{FF2B5EF4-FFF2-40B4-BE49-F238E27FC236}">
                <ns2:creationId xmlns:ns4="http://schemas.microsoft.com/office/powerpoint/2010/main" xmlns:ns2="http://schemas.microsoft.com/office/drawing/2014/main" xmlns="" id="{4E7935C0-E294-4669-861B-A863D59EE8B1}"/>
              </a:ext>
            </a:extLst>
          </p:cNvPr>
          <p:cNvSpPr>
            <a:spLocks noGrp="1"/>
          </p:cNvSpPr>
          <p:nvPr/>
        </p:nvSpPr>
        <p:spPr>
          <a:xfrm>
            <a:off x="4019550" y="2486025"/>
            <a:ext cx="276225" cy="133350"/>
          </a:xfrm>
          <a:prstGeom prst="arc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5" name="GPの人材イラスト・胴2">
            <a:extLst>
              <a:ext uri="{FF2B5EF4-FFF2-40B4-BE49-F238E27FC236}">
                <ns2:creationId xmlns:ns4="http://schemas.microsoft.com/office/powerpoint/2010/main" xmlns:ns2="http://schemas.microsoft.com/office/drawing/2014/main" xmlns="" id="{E9836373-BA81-4B54-A650-8545F79EEAE8}"/>
              </a:ext>
            </a:extLst>
          </p:cNvPr>
          <p:cNvSpPr>
            <a:spLocks noGrp="1"/>
          </p:cNvSpPr>
          <p:nvPr/>
        </p:nvSpPr>
        <p:spPr>
          <a:xfrm>
            <a:off x="3981450" y="2771775"/>
            <a:ext cx="352425" cy="371475"/>
          </a:xfrm>
          <a:prstGeom prst="roundRect">
            <a:avLst>
              <a:gd name="adj" fmla="val 21622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46" name="GPの人材イラスト・頭3">
            <a:extLst>
              <a:ext uri="{FF2B5EF4-FFF2-40B4-BE49-F238E27FC236}">
                <ns2:creationId xmlns:ns4="http://schemas.microsoft.com/office/powerpoint/2010/main" xmlns:ns2="http://schemas.microsoft.com/office/drawing/2014/main" xmlns="" id="{349188E5-8C93-4C98-B933-6E7EFF3F4A34}"/>
              </a:ext>
            </a:extLst>
          </p:cNvPr>
          <p:cNvSpPr>
            <a:spLocks noGrp="1"/>
          </p:cNvSpPr>
          <p:nvPr/>
        </p:nvSpPr>
        <p:spPr>
          <a:xfrm>
            <a:off x="4438650" y="2571750"/>
            <a:ext cx="238125" cy="238125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7" name="GPの人材イラスト・髪3">
            <a:extLst>
              <a:ext uri="{FF2B5EF4-FFF2-40B4-BE49-F238E27FC236}">
                <ns2:creationId xmlns:ns4="http://schemas.microsoft.com/office/powerpoint/2010/main" xmlns:ns2="http://schemas.microsoft.com/office/drawing/2014/main" xmlns="" id="{A1A5B0EF-5EA4-402A-83F3-D6982B4959C7}"/>
              </a:ext>
            </a:extLst>
          </p:cNvPr>
          <p:cNvSpPr>
            <a:spLocks noGrp="1"/>
          </p:cNvSpPr>
          <p:nvPr/>
        </p:nvSpPr>
        <p:spPr>
          <a:xfrm>
            <a:off x="4419600" y="2543175"/>
            <a:ext cx="276225" cy="133350"/>
          </a:xfrm>
          <a:prstGeom prst="arc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8" name="GPの人材イラスト・胴3">
            <a:extLst>
              <a:ext uri="{FF2B5EF4-FFF2-40B4-BE49-F238E27FC236}">
                <ns2:creationId xmlns:ns4="http://schemas.microsoft.com/office/powerpoint/2010/main" xmlns:ns2="http://schemas.microsoft.com/office/drawing/2014/main" xmlns="" id="{04EE8568-7529-4052-B824-C02B8F643506}"/>
              </a:ext>
            </a:extLst>
          </p:cNvPr>
          <p:cNvSpPr>
            <a:spLocks noGrp="1"/>
          </p:cNvSpPr>
          <p:nvPr/>
        </p:nvSpPr>
        <p:spPr>
          <a:xfrm>
            <a:off x="4381500" y="2828925"/>
            <a:ext cx="352425" cy="371475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49" name="16版 写真 3ページ" descr="A small software team collaborating around a computer. Photo by Vitaly Gariev on Unsplash. https://unsplash.com/photos/team-collaborating-around-a-computer-in-an-office-UikYLDQj9_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1216152"/>
            <a:ext cx="1673352" cy="2084832"/>
          </a:xfrm>
          <a:prstGeom prst="roundRect">
            <a:avLst/>
          </a:prstGeom>
          <a:ln>
            <a:noFill/>
          </a:ln>
        </p:spPr>
      </p:pic>
      <p:sp>
        <p:nvSpPr>
          <p:cNvPr id="50" name="GP photo title band"/>
          <p:cNvSpPr/>
          <p:nvPr/>
        </p:nvSpPr>
        <p:spPr>
          <a:xfrm>
            <a:off x="3246120" y="1216152"/>
            <a:ext cx="1673352" cy="749808"/>
          </a:xfrm>
          <a:prstGeom prst="rect">
            <a:avLst/>
          </a:prstGeom>
          <a:solidFill>
            <a:srgbClr val="173B62">
              <a:alpha val="62000"/>
            </a:srgbClr>
          </a:solidFill>
          <a:ln>
            <a:noFill/>
          </a:ln>
        </p:spPr>
      </p:sp>
      <p:sp>
        <p:nvSpPr>
          <p:cNvPr id="51" name="GP label"/>
          <p:cNvSpPr txBox="1"/>
          <p:nvPr/>
        </p:nvSpPr>
        <p:spPr>
          <a:xfrm>
            <a:off x="3364992" y="1298448"/>
            <a:ext cx="1435608" cy="347472"/>
          </a:xfrm>
          <a:prstGeom prst="rect">
            <a:avLst/>
          </a:prstGeom>
          <a:solidFill>
            <a:srgbClr val="173B62">
              <a:alpha val="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ja-JP"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GP</a:t>
            </a:r>
            <a:endParaRPr lang="ja-JP" sz="2200"/>
          </a:p>
        </p:txBody>
      </p:sp>
      <p:sp>
        <p:nvSpPr>
          <p:cNvPr id="52" name="Group label"/>
          <p:cNvSpPr txBox="1"/>
          <p:nvPr/>
        </p:nvSpPr>
        <p:spPr>
          <a:xfrm>
            <a:off x="3364992" y="1655064"/>
            <a:ext cx="1435608" cy="201168"/>
          </a:xfrm>
          <a:prstGeom prst="rect">
            <a:avLst/>
          </a:prstGeom>
          <a:solidFill>
            <a:srgbClr val="173B62">
              <a:alpha val="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ja-JP" sz="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（グループ）</a:t>
            </a:r>
            <a:endParaRPr lang="ja-JP" sz="900"/>
          </a:p>
        </p:txBody>
      </p:sp>
      <p:sp>
        <p:nvSpPr>
          <p:cNvPr id="53" name="Engineers label"/>
          <p:cNvSpPr txBox="1"/>
          <p:nvPr/>
        </p:nvSpPr>
        <p:spPr>
          <a:xfrm>
            <a:off x="3364992" y="1865376"/>
            <a:ext cx="1435608" cy="201168"/>
          </a:xfrm>
          <a:prstGeom prst="rect">
            <a:avLst/>
          </a:prstGeom>
          <a:solidFill>
            <a:srgbClr val="173B62">
              <a:alpha val="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ja-JP" sz="8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多くのエンジニア</a:t>
            </a:r>
            <a:endParaRPr lang="ja-JP" sz="850"/>
          </a:p>
        </p:txBody>
      </p:sp>
    </p:spTree>
    <p:extLst>
      <p:ext uri="{BB962C8B-B14F-4D97-AF65-F5344CB8AC3E}">
        <p14:creationId xmlns:p14="http://schemas.microsoft.com/office/powerpoint/2010/main" val="203063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heading-4">
            <a:extLst>
              <a:ext uri="{FF2B5EF4-FFF2-40B4-BE49-F238E27FC236}">
                <ns2:creationId xmlns:ns4="http://schemas.microsoft.com/office/powerpoint/2010/main" xmlns:ns2="http://schemas.microsoft.com/office/drawing/2014/main" xmlns="" id="{6CD4B5DE-8F06-4C6D-B878-2C7DD3066AC5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82296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届いた案件を、合うエンジニアへすばやく届ける</a:t>
            </a:r>
          </a:p>
        </p:txBody>
      </p:sp>
      <p:sp>
        <p:nvSpPr>
          <p:cNvPr id="2" name="subheading-4">
            <a:extLst>
              <a:ext uri="{FF2B5EF4-FFF2-40B4-BE49-F238E27FC236}">
                <ns2:creationId xmlns:ns4="http://schemas.microsoft.com/office/powerpoint/2010/main" xmlns:ns2="http://schemas.microsoft.com/office/drawing/2014/main" xmlns="" id="{992055B7-29F6-468E-81E1-BD8B764AB50A}"/>
              </a:ext>
            </a:extLst>
          </p:cNvPr>
          <p:cNvSpPr>
            <a:spLocks noGrp="1"/>
          </p:cNvSpPr>
          <p:nvPr/>
        </p:nvSpPr>
        <p:spPr>
          <a:xfrm>
            <a:off x="457200" y="923925"/>
            <a:ext cx="8229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条件を整理し、グループ全体から候補を選んでみなさまと本人へ共有</a:t>
            </a:r>
          </a:p>
        </p:txBody>
      </p:sp>
      <p:sp>
        <p:nvSpPr>
          <p:cNvPr id="3" name="footer-4">
            <a:extLst>
              <a:ext uri="{FF2B5EF4-FFF2-40B4-BE49-F238E27FC236}">
                <ns2:creationId xmlns:ns4="http://schemas.microsoft.com/office/powerpoint/2010/main" xmlns:ns2="http://schemas.microsoft.com/office/drawing/2014/main" xmlns="" id="{049ECA1C-CAA1-4F9B-984F-99F8CCFB75F7}"/>
              </a:ext>
            </a:extLst>
          </p:cNvPr>
          <p:cNvSpPr>
            <a:spLocks noGrp="1"/>
          </p:cNvSpPr>
          <p:nvPr/>
        </p:nvSpPr>
        <p:spPr>
          <a:xfrm>
            <a:off x="457200" y="48196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</a:p>
        </p:txBody>
      </p:sp>
      <p:sp>
        <p:nvSpPr>
          <p:cNvPr id="4" name="page-4">
            <a:extLst>
              <a:ext uri="{FF2B5EF4-FFF2-40B4-BE49-F238E27FC236}">
                <ns2:creationId xmlns:ns4="http://schemas.microsoft.com/office/powerpoint/2010/main" xmlns:ns2="http://schemas.microsoft.com/office/drawing/2014/main" xmlns="" id="{4E2C4495-57FC-4EAF-9B72-5C80BCE23659}"/>
              </a:ext>
            </a:extLst>
          </p:cNvPr>
          <p:cNvSpPr>
            <a:spLocks noGrp="1"/>
          </p:cNvSpPr>
          <p:nvPr/>
        </p:nvSpPr>
        <p:spPr>
          <a:xfrm>
            <a:off x="8229600" y="4819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r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5" name="案件フロー1背景">
            <a:extLst>
              <a:ext uri="{FF2B5EF4-FFF2-40B4-BE49-F238E27FC236}">
                <ns2:creationId xmlns:ns4="http://schemas.microsoft.com/office/powerpoint/2010/main" xmlns:ns2="http://schemas.microsoft.com/office/drawing/2014/main" xmlns="" id="{C9B03D96-8CDD-42BE-B0D6-CF2F04D15620}"/>
              </a:ext>
            </a:extLst>
          </p:cNvPr>
          <p:cNvSpPr>
            <a:spLocks noGrp="1"/>
          </p:cNvSpPr>
          <p:nvPr/>
        </p:nvSpPr>
        <p:spPr>
          <a:xfrm>
            <a:off x="457200" y="1533525"/>
            <a:ext cx="1581150" cy="1762125"/>
          </a:xfrm>
          <a:prstGeom prst="roundRect">
            <a:avLst>
              <a:gd name="adj" fmla="val 4819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6" name="案件フロー・案件票">
            <a:extLst>
              <a:ext uri="{FF2B5EF4-FFF2-40B4-BE49-F238E27FC236}">
                <ns2:creationId xmlns:ns4="http://schemas.microsoft.com/office/powerpoint/2010/main" xmlns:ns2="http://schemas.microsoft.com/office/drawing/2014/main" xmlns="" id="{E0B0958C-761A-4851-8B45-711DA84B03F5}"/>
              </a:ext>
            </a:extLst>
          </p:cNvPr>
          <p:cNvSpPr>
            <a:spLocks noGrp="1"/>
          </p:cNvSpPr>
          <p:nvPr/>
        </p:nvSpPr>
        <p:spPr>
          <a:xfrm>
            <a:off x="942975" y="1714500"/>
            <a:ext cx="609600" cy="62865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8DB8DE"/>
            </a:solidFill>
            <a:prstDash val="solid"/>
          </a:ln>
        </p:spPr>
      </p:sp>
      <p:sp>
        <p:nvSpPr>
          <p:cNvPr id="7" name="案件フロー・案件票行1">
            <a:extLst>
              <a:ext uri="{FF2B5EF4-FFF2-40B4-BE49-F238E27FC236}">
                <ns2:creationId xmlns:ns4="http://schemas.microsoft.com/office/powerpoint/2010/main" xmlns:ns2="http://schemas.microsoft.com/office/drawing/2014/main" xmlns="" id="{B650535F-BFC5-47EF-BB10-9D661BDF8B7F}"/>
              </a:ext>
            </a:extLst>
          </p:cNvPr>
          <p:cNvSpPr>
            <a:spLocks noGrp="1"/>
          </p:cNvSpPr>
          <p:nvPr/>
        </p:nvSpPr>
        <p:spPr>
          <a:xfrm>
            <a:off x="1047750" y="1847850"/>
            <a:ext cx="390525" cy="57150"/>
          </a:xfrm>
          <a:prstGeom prst="roundRect">
            <a:avLst>
              <a:gd name="adj" fmla="val 50000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8" name="案件フロー・案件票行2">
            <a:extLst>
              <a:ext uri="{FF2B5EF4-FFF2-40B4-BE49-F238E27FC236}">
                <ns2:creationId xmlns:ns4="http://schemas.microsoft.com/office/powerpoint/2010/main" xmlns:ns2="http://schemas.microsoft.com/office/drawing/2014/main" xmlns="" id="{DA62DC08-2934-4F2D-AD1E-2FD9F427FAC5}"/>
              </a:ext>
            </a:extLst>
          </p:cNvPr>
          <p:cNvSpPr>
            <a:spLocks noGrp="1"/>
          </p:cNvSpPr>
          <p:nvPr/>
        </p:nvSpPr>
        <p:spPr>
          <a:xfrm>
            <a:off x="1047750" y="1981200"/>
            <a:ext cx="390525" cy="47625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9" name="案件フロー・案件票行3">
            <a:extLst>
              <a:ext uri="{FF2B5EF4-FFF2-40B4-BE49-F238E27FC236}">
                <ns2:creationId xmlns:ns4="http://schemas.microsoft.com/office/powerpoint/2010/main" xmlns:ns2="http://schemas.microsoft.com/office/drawing/2014/main" xmlns="" id="{A8B63604-0C99-437C-99E6-AEF505BA3C81}"/>
              </a:ext>
            </a:extLst>
          </p:cNvPr>
          <p:cNvSpPr>
            <a:spLocks noGrp="1"/>
          </p:cNvSpPr>
          <p:nvPr/>
        </p:nvSpPr>
        <p:spPr>
          <a:xfrm>
            <a:off x="1047750" y="2114550"/>
            <a:ext cx="295275" cy="47625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10" name="案件フロー1見出し">
            <a:extLst>
              <a:ext uri="{FF2B5EF4-FFF2-40B4-BE49-F238E27FC236}">
                <ns2:creationId xmlns:ns4="http://schemas.microsoft.com/office/powerpoint/2010/main" xmlns:ns2="http://schemas.microsoft.com/office/drawing/2014/main" xmlns="" id="{D5041377-084C-4626-9DB4-4CA4B24782EF}"/>
              </a:ext>
            </a:extLst>
          </p:cNvPr>
          <p:cNvSpPr>
            <a:spLocks noGrp="1"/>
          </p:cNvSpPr>
          <p:nvPr/>
        </p:nvSpPr>
        <p:spPr>
          <a:xfrm>
            <a:off x="533400" y="2524125"/>
            <a:ext cx="1428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案件が届く</a:t>
            </a:r>
          </a:p>
        </p:txBody>
      </p:sp>
      <p:sp>
        <p:nvSpPr>
          <p:cNvPr id="11" name="案件フロー1説明">
            <a:extLst>
              <a:ext uri="{FF2B5EF4-FFF2-40B4-BE49-F238E27FC236}">
                <ns2:creationId xmlns:ns4="http://schemas.microsoft.com/office/powerpoint/2010/main" xmlns:ns2="http://schemas.microsoft.com/office/drawing/2014/main" xmlns="" id="{CC6FE51C-034B-4FFD-9AC7-FD5434F6FE7F}"/>
              </a:ext>
            </a:extLst>
          </p:cNvPr>
          <p:cNvSpPr>
            <a:spLocks noGrp="1"/>
          </p:cNvSpPr>
          <p:nvPr/>
        </p:nvSpPr>
        <p:spPr>
          <a:xfrm>
            <a:off x="533400" y="28575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内容・必須条件を確認</a:t>
            </a:r>
          </a:p>
        </p:txBody>
      </p:sp>
      <p:sp>
        <p:nvSpPr>
          <p:cNvPr id="12" name="案件フロー矢印1">
            <a:extLst>
              <a:ext uri="{FF2B5EF4-FFF2-40B4-BE49-F238E27FC236}">
                <ns2:creationId xmlns:ns4="http://schemas.microsoft.com/office/powerpoint/2010/main" xmlns:ns2="http://schemas.microsoft.com/office/drawing/2014/main" xmlns="" id="{FFB1FBBB-457A-4A97-B70D-8E4873AAF7E1}"/>
              </a:ext>
            </a:extLst>
          </p:cNvPr>
          <p:cNvSpPr>
            <a:spLocks noGrp="1"/>
          </p:cNvSpPr>
          <p:nvPr/>
        </p:nvSpPr>
        <p:spPr>
          <a:xfrm>
            <a:off x="2076450" y="2190750"/>
            <a:ext cx="161925" cy="190500"/>
          </a:xfrm>
          <a:prstGeom prst="rightArrow">
            <a:avLst/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13" name="案件フロー2背景">
            <a:extLst>
              <a:ext uri="{FF2B5EF4-FFF2-40B4-BE49-F238E27FC236}">
                <ns2:creationId xmlns:ns4="http://schemas.microsoft.com/office/powerpoint/2010/main" xmlns:ns2="http://schemas.microsoft.com/office/drawing/2014/main" xmlns="" id="{DB24E85B-49B3-46CA-A657-8AE4C8134984}"/>
              </a:ext>
            </a:extLst>
          </p:cNvPr>
          <p:cNvSpPr>
            <a:spLocks noGrp="1"/>
          </p:cNvSpPr>
          <p:nvPr/>
        </p:nvSpPr>
        <p:spPr>
          <a:xfrm>
            <a:off x="2238375" y="1533525"/>
            <a:ext cx="1581150" cy="1762125"/>
          </a:xfrm>
          <a:prstGeom prst="roundRect">
            <a:avLst>
              <a:gd name="adj" fmla="val 4819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14" name="案件フロー・検索円">
            <a:extLst>
              <a:ext uri="{FF2B5EF4-FFF2-40B4-BE49-F238E27FC236}">
                <ns2:creationId xmlns:ns4="http://schemas.microsoft.com/office/powerpoint/2010/main" xmlns:ns2="http://schemas.microsoft.com/office/drawing/2014/main" xmlns="" id="{CE77B8F2-BB1E-4766-A583-19DEA0E4CEEE}"/>
              </a:ext>
            </a:extLst>
          </p:cNvPr>
          <p:cNvSpPr>
            <a:spLocks noGrp="1"/>
          </p:cNvSpPr>
          <p:nvPr/>
        </p:nvSpPr>
        <p:spPr>
          <a:xfrm>
            <a:off x="2800350" y="1752600"/>
            <a:ext cx="447675" cy="4476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15" name="案件フロー・検索穴">
            <a:extLst>
              <a:ext uri="{FF2B5EF4-FFF2-40B4-BE49-F238E27FC236}">
                <ns2:creationId xmlns:ns4="http://schemas.microsoft.com/office/powerpoint/2010/main" xmlns:ns2="http://schemas.microsoft.com/office/drawing/2014/main" xmlns="" id="{6B1F5F3E-EE72-45EA-8747-DF88E783447F}"/>
              </a:ext>
            </a:extLst>
          </p:cNvPr>
          <p:cNvSpPr>
            <a:spLocks noGrp="1"/>
          </p:cNvSpPr>
          <p:nvPr/>
        </p:nvSpPr>
        <p:spPr>
          <a:xfrm>
            <a:off x="2924175" y="1876425"/>
            <a:ext cx="200025" cy="200025"/>
          </a:xfrm>
          <a:prstGeom prst="ellipse">
            <a:avLst/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16" name="案件フロー・検索柄">
            <a:extLst>
              <a:ext uri="{FF2B5EF4-FFF2-40B4-BE49-F238E27FC236}">
                <ns2:creationId xmlns:ns4="http://schemas.microsoft.com/office/powerpoint/2010/main" xmlns:ns2="http://schemas.microsoft.com/office/drawing/2014/main" xmlns="" id="{FCCA9CB5-30FA-444B-A3F1-874A2F94E3F9}"/>
              </a:ext>
            </a:extLst>
          </p:cNvPr>
          <p:cNvSpPr>
            <a:spLocks noGrp="1"/>
          </p:cNvSpPr>
          <p:nvPr/>
        </p:nvSpPr>
        <p:spPr>
          <a:xfrm rot="2700000">
            <a:off x="3152775" y="2114550"/>
            <a:ext cx="209550" cy="76200"/>
          </a:xfrm>
          <a:prstGeom prst="roundRect">
            <a:avLst>
              <a:gd name="adj" fmla="val 50000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17" name="案件フロー2見出し">
            <a:extLst>
              <a:ext uri="{FF2B5EF4-FFF2-40B4-BE49-F238E27FC236}">
                <ns2:creationId xmlns:ns4="http://schemas.microsoft.com/office/powerpoint/2010/main" xmlns:ns2="http://schemas.microsoft.com/office/drawing/2014/main" xmlns="" id="{3FF4C2A1-A485-44FD-BD21-C6046C7055AA}"/>
              </a:ext>
            </a:extLst>
          </p:cNvPr>
          <p:cNvSpPr>
            <a:spLocks noGrp="1"/>
          </p:cNvSpPr>
          <p:nvPr/>
        </p:nvSpPr>
        <p:spPr>
          <a:xfrm>
            <a:off x="2314575" y="2524125"/>
            <a:ext cx="1428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候補を選ぶ</a:t>
            </a:r>
          </a:p>
        </p:txBody>
      </p:sp>
      <p:sp>
        <p:nvSpPr>
          <p:cNvPr id="18" name="案件フロー2説明">
            <a:extLst>
              <a:ext uri="{FF2B5EF4-FFF2-40B4-BE49-F238E27FC236}">
                <ns2:creationId xmlns:ns4="http://schemas.microsoft.com/office/powerpoint/2010/main" xmlns:ns2="http://schemas.microsoft.com/office/drawing/2014/main" xmlns="" id="{FA4742C5-D07E-4CB5-842B-91B9597BB210}"/>
              </a:ext>
            </a:extLst>
          </p:cNvPr>
          <p:cNvSpPr>
            <a:spLocks noGrp="1"/>
          </p:cNvSpPr>
          <p:nvPr/>
        </p:nvSpPr>
        <p:spPr>
          <a:xfrm>
            <a:off x="2314575" y="28575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スキルと希望を照合</a:t>
            </a:r>
          </a:p>
        </p:txBody>
      </p:sp>
      <p:sp>
        <p:nvSpPr>
          <p:cNvPr id="19" name="案件フロー矢印2">
            <a:extLst>
              <a:ext uri="{FF2B5EF4-FFF2-40B4-BE49-F238E27FC236}">
                <ns2:creationId xmlns:ns4="http://schemas.microsoft.com/office/powerpoint/2010/main" xmlns:ns2="http://schemas.microsoft.com/office/drawing/2014/main" xmlns="" id="{4A78302A-9FFA-4F87-9549-ACA7C2CC6EA8}"/>
              </a:ext>
            </a:extLst>
          </p:cNvPr>
          <p:cNvSpPr>
            <a:spLocks noGrp="1"/>
          </p:cNvSpPr>
          <p:nvPr/>
        </p:nvSpPr>
        <p:spPr>
          <a:xfrm>
            <a:off x="3857625" y="2190750"/>
            <a:ext cx="161925" cy="190500"/>
          </a:xfrm>
          <a:prstGeom prst="rightArrow">
            <a:avLst/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20" name="案件フロー3背景">
            <a:extLst>
              <a:ext uri="{FF2B5EF4-FFF2-40B4-BE49-F238E27FC236}">
                <ns2:creationId xmlns:ns4="http://schemas.microsoft.com/office/powerpoint/2010/main" xmlns:ns2="http://schemas.microsoft.com/office/drawing/2014/main" xmlns="" id="{C34EE3BF-27B8-48F1-8D63-2D750B31F3C8}"/>
              </a:ext>
            </a:extLst>
          </p:cNvPr>
          <p:cNvSpPr>
            <a:spLocks noGrp="1"/>
          </p:cNvSpPr>
          <p:nvPr/>
        </p:nvSpPr>
        <p:spPr>
          <a:xfrm>
            <a:off x="4019550" y="1533525"/>
            <a:ext cx="1581150" cy="1762125"/>
          </a:xfrm>
          <a:prstGeom prst="roundRect">
            <a:avLst>
              <a:gd name="adj" fmla="val 4819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21" name="案件フロー・人物頭">
            <a:extLst>
              <a:ext uri="{FF2B5EF4-FFF2-40B4-BE49-F238E27FC236}">
                <ns2:creationId xmlns:ns4="http://schemas.microsoft.com/office/powerpoint/2010/main" xmlns:ns2="http://schemas.microsoft.com/office/drawing/2014/main" xmlns="" id="{815345EB-FC9B-446C-B56C-3770036E29B7}"/>
              </a:ext>
            </a:extLst>
          </p:cNvPr>
          <p:cNvSpPr>
            <a:spLocks noGrp="1"/>
          </p:cNvSpPr>
          <p:nvPr/>
        </p:nvSpPr>
        <p:spPr>
          <a:xfrm>
            <a:off x="4686300" y="1733550"/>
            <a:ext cx="238125" cy="238125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22" name="案件フロー・人物髪">
            <a:extLst>
              <a:ext uri="{FF2B5EF4-FFF2-40B4-BE49-F238E27FC236}">
                <ns2:creationId xmlns:ns4="http://schemas.microsoft.com/office/powerpoint/2010/main" xmlns:ns2="http://schemas.microsoft.com/office/drawing/2014/main" xmlns="" id="{E8E5D0C1-4620-45BD-91DA-7334780A0044}"/>
              </a:ext>
            </a:extLst>
          </p:cNvPr>
          <p:cNvSpPr>
            <a:spLocks noGrp="1"/>
          </p:cNvSpPr>
          <p:nvPr/>
        </p:nvSpPr>
        <p:spPr>
          <a:xfrm>
            <a:off x="4667250" y="1714500"/>
            <a:ext cx="276225" cy="142875"/>
          </a:xfrm>
          <a:prstGeom prst="arc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23" name="案件フロー・人物胴">
            <a:extLst>
              <a:ext uri="{FF2B5EF4-FFF2-40B4-BE49-F238E27FC236}">
                <ns2:creationId xmlns:ns4="http://schemas.microsoft.com/office/powerpoint/2010/main" xmlns:ns2="http://schemas.microsoft.com/office/drawing/2014/main" xmlns="" id="{E3B31B26-EFF7-49BC-AE0A-C70606DED006}"/>
              </a:ext>
            </a:extLst>
          </p:cNvPr>
          <p:cNvSpPr>
            <a:spLocks noGrp="1"/>
          </p:cNvSpPr>
          <p:nvPr/>
        </p:nvSpPr>
        <p:spPr>
          <a:xfrm>
            <a:off x="4600575" y="2009775"/>
            <a:ext cx="419100" cy="409575"/>
          </a:xfrm>
          <a:prstGeom prst="roundRect">
            <a:avLst>
              <a:gd name="adj" fmla="val 18605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24" name="案件フロー・通知札">
            <a:extLst>
              <a:ext uri="{FF2B5EF4-FFF2-40B4-BE49-F238E27FC236}">
                <ns2:creationId xmlns:ns4="http://schemas.microsoft.com/office/powerpoint/2010/main" xmlns:ns2="http://schemas.microsoft.com/office/drawing/2014/main" xmlns="" id="{5C9E75DC-CE02-4AAE-883A-FE379BDBEFE0}"/>
              </a:ext>
            </a:extLst>
          </p:cNvPr>
          <p:cNvSpPr>
            <a:spLocks noGrp="1"/>
          </p:cNvSpPr>
          <p:nvPr/>
        </p:nvSpPr>
        <p:spPr>
          <a:xfrm>
            <a:off x="4953000" y="1800225"/>
            <a:ext cx="40005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8DB8DE"/>
            </a:solidFill>
            <a:prstDash val="solid"/>
          </a:ln>
        </p:spPr>
      </p:sp>
      <p:sp>
        <p:nvSpPr>
          <p:cNvPr id="25" name="案件フロー・通知文字">
            <a:extLst>
              <a:ext uri="{FF2B5EF4-FFF2-40B4-BE49-F238E27FC236}">
                <ns2:creationId xmlns:ns4="http://schemas.microsoft.com/office/powerpoint/2010/main" xmlns:ns2="http://schemas.microsoft.com/office/drawing/2014/main" xmlns="" id="{39D5442C-C597-4BD5-A116-F59217EBD517}"/>
              </a:ext>
            </a:extLst>
          </p:cNvPr>
          <p:cNvSpPr>
            <a:spLocks noGrp="1"/>
          </p:cNvSpPr>
          <p:nvPr/>
        </p:nvSpPr>
        <p:spPr>
          <a:xfrm>
            <a:off x="5029200" y="1895475"/>
            <a:ext cx="247650" cy="47625"/>
          </a:xfrm>
          <a:prstGeom prst="roundRect">
            <a:avLst>
              <a:gd name="adj" fmla="val 50000"/>
            </a:avLst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26" name="案件フロー3見出し">
            <a:extLst>
              <a:ext uri="{FF2B5EF4-FFF2-40B4-BE49-F238E27FC236}">
                <ns2:creationId xmlns:ns4="http://schemas.microsoft.com/office/powerpoint/2010/main" xmlns:ns2="http://schemas.microsoft.com/office/drawing/2014/main" xmlns="" id="{B2DF5F54-0D23-4378-9429-B4DEF7ACC291}"/>
              </a:ext>
            </a:extLst>
          </p:cNvPr>
          <p:cNvSpPr>
            <a:spLocks noGrp="1"/>
          </p:cNvSpPr>
          <p:nvPr/>
        </p:nvSpPr>
        <p:spPr>
          <a:xfrm>
            <a:off x="4095750" y="2524125"/>
            <a:ext cx="1428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みなさまへ共有</a:t>
            </a:r>
          </a:p>
        </p:txBody>
      </p:sp>
      <p:sp>
        <p:nvSpPr>
          <p:cNvPr id="27" name="案件フロー3説明">
            <a:extLst>
              <a:ext uri="{FF2B5EF4-FFF2-40B4-BE49-F238E27FC236}">
                <ns2:creationId xmlns:ns4="http://schemas.microsoft.com/office/powerpoint/2010/main" xmlns:ns2="http://schemas.microsoft.com/office/drawing/2014/main" xmlns="" id="{6F7830FA-C48A-4A88-B38A-3E6D9911506F}"/>
              </a:ext>
            </a:extLst>
          </p:cNvPr>
          <p:cNvSpPr>
            <a:spLocks noGrp="1"/>
          </p:cNvSpPr>
          <p:nvPr/>
        </p:nvSpPr>
        <p:spPr>
          <a:xfrm>
            <a:off x="4095750" y="28575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候補者に応募を案内</a:t>
            </a:r>
          </a:p>
        </p:txBody>
      </p:sp>
      <p:sp>
        <p:nvSpPr>
          <p:cNvPr id="28" name="マッチング・背景">
            <a:extLst>
              <a:ext uri="{FF2B5EF4-FFF2-40B4-BE49-F238E27FC236}">
                <ns2:creationId xmlns:ns4="http://schemas.microsoft.com/office/powerpoint/2010/main" xmlns:ns2="http://schemas.microsoft.com/office/drawing/2014/main" xmlns="" id="{4537B631-CC1E-4168-A118-B12FE41DCE94}"/>
              </a:ext>
            </a:extLst>
          </p:cNvPr>
          <p:cNvSpPr>
            <a:spLocks noGrp="1"/>
          </p:cNvSpPr>
          <p:nvPr/>
        </p:nvSpPr>
        <p:spPr>
          <a:xfrm>
            <a:off x="6029325" y="1438275"/>
            <a:ext cx="2657475" cy="2419350"/>
          </a:xfrm>
          <a:prstGeom prst="roundRect">
            <a:avLst>
              <a:gd name="adj" fmla="val 3150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29" name="マッチング・モニター">
            <a:extLst>
              <a:ext uri="{FF2B5EF4-FFF2-40B4-BE49-F238E27FC236}">
                <ns2:creationId xmlns:ns4="http://schemas.microsoft.com/office/powerpoint/2010/main" xmlns:ns2="http://schemas.microsoft.com/office/drawing/2014/main" xmlns="" id="{256E9368-2E2E-48BA-97D1-A855D3BBFD21}"/>
              </a:ext>
            </a:extLst>
          </p:cNvPr>
          <p:cNvSpPr>
            <a:spLocks noGrp="1"/>
          </p:cNvSpPr>
          <p:nvPr/>
        </p:nvSpPr>
        <p:spPr>
          <a:xfrm>
            <a:off x="6486525" y="1685925"/>
            <a:ext cx="1743075" cy="1133475"/>
          </a:xfrm>
          <a:prstGeom prst="roundRect">
            <a:avLst>
              <a:gd name="adj" fmla="val 6723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0" name="マッチング・画面">
            <a:extLst>
              <a:ext uri="{FF2B5EF4-FFF2-40B4-BE49-F238E27FC236}">
                <ns2:creationId xmlns:ns4="http://schemas.microsoft.com/office/powerpoint/2010/main" xmlns:ns2="http://schemas.microsoft.com/office/drawing/2014/main" xmlns="" id="{5CDB7DE2-5321-43B1-9041-A0EC661E5664}"/>
              </a:ext>
            </a:extLst>
          </p:cNvPr>
          <p:cNvSpPr>
            <a:spLocks noGrp="1"/>
          </p:cNvSpPr>
          <p:nvPr/>
        </p:nvSpPr>
        <p:spPr>
          <a:xfrm>
            <a:off x="6572250" y="1771650"/>
            <a:ext cx="1571625" cy="962025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1" name="マッチング・画面見出し">
            <a:extLst>
              <a:ext uri="{FF2B5EF4-FFF2-40B4-BE49-F238E27FC236}">
                <ns2:creationId xmlns:ns4="http://schemas.microsoft.com/office/powerpoint/2010/main" xmlns:ns2="http://schemas.microsoft.com/office/drawing/2014/main" xmlns="" id="{957ACE3F-897F-4D89-8D5B-1F7302A78A51}"/>
              </a:ext>
            </a:extLst>
          </p:cNvPr>
          <p:cNvSpPr>
            <a:spLocks noGrp="1"/>
          </p:cNvSpPr>
          <p:nvPr/>
        </p:nvSpPr>
        <p:spPr>
          <a:xfrm>
            <a:off x="6686550" y="1828800"/>
            <a:ext cx="1352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候補者リスト</a:t>
            </a:r>
          </a:p>
        </p:txBody>
      </p:sp>
      <p:sp>
        <p:nvSpPr>
          <p:cNvPr id="32" name="マッチング・候補1">
            <a:extLst>
              <a:ext uri="{FF2B5EF4-FFF2-40B4-BE49-F238E27FC236}">
                <ns2:creationId xmlns:ns4="http://schemas.microsoft.com/office/powerpoint/2010/main" xmlns:ns2="http://schemas.microsoft.com/office/drawing/2014/main" xmlns="" id="{ECE3E21E-818E-45B5-9C1D-69C68C1CCD9F}"/>
              </a:ext>
            </a:extLst>
          </p:cNvPr>
          <p:cNvSpPr>
            <a:spLocks noGrp="1"/>
          </p:cNvSpPr>
          <p:nvPr/>
        </p:nvSpPr>
        <p:spPr>
          <a:xfrm>
            <a:off x="6686550" y="2095500"/>
            <a:ext cx="1323975" cy="142875"/>
          </a:xfrm>
          <a:prstGeom prst="roundRect">
            <a:avLst>
              <a:gd name="adj" fmla="val 50000"/>
            </a:avLst>
          </a:prstGeom>
          <a:solidFill>
            <a:srgbClr val="F0F5FA"/>
          </a:solidFill>
          <a:ln w="0">
            <a:noFill/>
            <a:prstDash val="solid"/>
          </a:ln>
        </p:spPr>
      </p:sp>
      <p:sp>
        <p:nvSpPr>
          <p:cNvPr id="33" name="マッチング・チェック1">
            <a:extLst>
              <a:ext uri="{FF2B5EF4-FFF2-40B4-BE49-F238E27FC236}">
                <ns2:creationId xmlns:ns4="http://schemas.microsoft.com/office/powerpoint/2010/main" xmlns:ns2="http://schemas.microsoft.com/office/drawing/2014/main" xmlns="" id="{7FD5EA39-9C37-4050-952A-9C72D6D0D9C7}"/>
              </a:ext>
            </a:extLst>
          </p:cNvPr>
          <p:cNvSpPr>
            <a:spLocks noGrp="1"/>
          </p:cNvSpPr>
          <p:nvPr/>
        </p:nvSpPr>
        <p:spPr>
          <a:xfrm>
            <a:off x="6753225" y="2124075"/>
            <a:ext cx="85725" cy="85725"/>
          </a:xfrm>
          <a:prstGeom prst="ellipse">
            <a:avLst/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34" name="マッチング・候補テキスト1">
            <a:extLst>
              <a:ext uri="{FF2B5EF4-FFF2-40B4-BE49-F238E27FC236}">
                <ns2:creationId xmlns:ns4="http://schemas.microsoft.com/office/powerpoint/2010/main" xmlns:ns2="http://schemas.microsoft.com/office/drawing/2014/main" xmlns="" id="{1512DF84-C6D6-4968-87F8-51154BCCA622}"/>
              </a:ext>
            </a:extLst>
          </p:cNvPr>
          <p:cNvSpPr>
            <a:spLocks noGrp="1"/>
          </p:cNvSpPr>
          <p:nvPr/>
        </p:nvSpPr>
        <p:spPr>
          <a:xfrm>
            <a:off x="6896100" y="2143125"/>
            <a:ext cx="638175" cy="38100"/>
          </a:xfrm>
          <a:prstGeom prst="roundRect">
            <a:avLst>
              <a:gd name="adj" fmla="val 50000"/>
            </a:avLst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35" name="マッチング・候補2">
            <a:extLst>
              <a:ext uri="{FF2B5EF4-FFF2-40B4-BE49-F238E27FC236}">
                <ns2:creationId xmlns:ns4="http://schemas.microsoft.com/office/powerpoint/2010/main" xmlns:ns2="http://schemas.microsoft.com/office/drawing/2014/main" xmlns="" id="{0A218729-94BB-4902-83D0-7E58B763A112}"/>
              </a:ext>
            </a:extLst>
          </p:cNvPr>
          <p:cNvSpPr>
            <a:spLocks noGrp="1"/>
          </p:cNvSpPr>
          <p:nvPr/>
        </p:nvSpPr>
        <p:spPr>
          <a:xfrm>
            <a:off x="6686550" y="2286000"/>
            <a:ext cx="1323975" cy="142875"/>
          </a:xfrm>
          <a:prstGeom prst="roundRect">
            <a:avLst>
              <a:gd name="adj" fmla="val 50000"/>
            </a:avLst>
          </a:prstGeom>
          <a:solidFill>
            <a:srgbClr val="E7F2FB"/>
          </a:solidFill>
          <a:ln w="0">
            <a:noFill/>
            <a:prstDash val="solid"/>
          </a:ln>
        </p:spPr>
      </p:sp>
      <p:sp>
        <p:nvSpPr>
          <p:cNvPr id="36" name="マッチング・チェック2">
            <a:extLst>
              <a:ext uri="{FF2B5EF4-FFF2-40B4-BE49-F238E27FC236}">
                <ns2:creationId xmlns:ns4="http://schemas.microsoft.com/office/powerpoint/2010/main" xmlns:ns2="http://schemas.microsoft.com/office/drawing/2014/main" xmlns="" id="{9B6BEF3C-C041-441F-9CFF-7E6C022486AB}"/>
              </a:ext>
            </a:extLst>
          </p:cNvPr>
          <p:cNvSpPr>
            <a:spLocks noGrp="1"/>
          </p:cNvSpPr>
          <p:nvPr/>
        </p:nvSpPr>
        <p:spPr>
          <a:xfrm>
            <a:off x="6753225" y="2314575"/>
            <a:ext cx="85725" cy="85725"/>
          </a:xfrm>
          <a:prstGeom prst="ellipse">
            <a:avLst/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37" name="マッチング・候補テキスト2">
            <a:extLst>
              <a:ext uri="{FF2B5EF4-FFF2-40B4-BE49-F238E27FC236}">
                <ns2:creationId xmlns:ns4="http://schemas.microsoft.com/office/powerpoint/2010/main" xmlns:ns2="http://schemas.microsoft.com/office/drawing/2014/main" xmlns="" id="{861EB132-C111-455E-803E-F8ACECB4AF5E}"/>
              </a:ext>
            </a:extLst>
          </p:cNvPr>
          <p:cNvSpPr>
            <a:spLocks noGrp="1"/>
          </p:cNvSpPr>
          <p:nvPr/>
        </p:nvSpPr>
        <p:spPr>
          <a:xfrm>
            <a:off x="6896100" y="2333625"/>
            <a:ext cx="638175" cy="38100"/>
          </a:xfrm>
          <a:prstGeom prst="roundRect">
            <a:avLst>
              <a:gd name="adj" fmla="val 50000"/>
            </a:avLst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38" name="マッチング・候補3">
            <a:extLst>
              <a:ext uri="{FF2B5EF4-FFF2-40B4-BE49-F238E27FC236}">
                <ns2:creationId xmlns:ns4="http://schemas.microsoft.com/office/powerpoint/2010/main" xmlns:ns2="http://schemas.microsoft.com/office/drawing/2014/main" xmlns="" id="{C9A1C712-7FB9-4EA6-841F-67F237215D54}"/>
              </a:ext>
            </a:extLst>
          </p:cNvPr>
          <p:cNvSpPr>
            <a:spLocks noGrp="1"/>
          </p:cNvSpPr>
          <p:nvPr/>
        </p:nvSpPr>
        <p:spPr>
          <a:xfrm>
            <a:off x="6686550" y="2476500"/>
            <a:ext cx="1323975" cy="142875"/>
          </a:xfrm>
          <a:prstGeom prst="roundRect">
            <a:avLst>
              <a:gd name="adj" fmla="val 50000"/>
            </a:avLst>
          </a:prstGeom>
          <a:solidFill>
            <a:srgbClr val="F0F5FA"/>
          </a:solidFill>
          <a:ln w="0">
            <a:noFill/>
            <a:prstDash val="solid"/>
          </a:ln>
        </p:spPr>
      </p:sp>
      <p:sp>
        <p:nvSpPr>
          <p:cNvPr id="39" name="マッチング・チェック3">
            <a:extLst>
              <a:ext uri="{FF2B5EF4-FFF2-40B4-BE49-F238E27FC236}">
                <ns2:creationId xmlns:ns4="http://schemas.microsoft.com/office/powerpoint/2010/main" xmlns:ns2="http://schemas.microsoft.com/office/drawing/2014/main" xmlns="" id="{752DB7FD-101B-4D5A-BE9A-4ADB2D3E7981}"/>
              </a:ext>
            </a:extLst>
          </p:cNvPr>
          <p:cNvSpPr>
            <a:spLocks noGrp="1"/>
          </p:cNvSpPr>
          <p:nvPr/>
        </p:nvSpPr>
        <p:spPr>
          <a:xfrm>
            <a:off x="6753225" y="2505075"/>
            <a:ext cx="85725" cy="85725"/>
          </a:xfrm>
          <a:prstGeom prst="ellipse">
            <a:avLst/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40" name="マッチング・候補テキスト3">
            <a:extLst>
              <a:ext uri="{FF2B5EF4-FFF2-40B4-BE49-F238E27FC236}">
                <ns2:creationId xmlns:ns4="http://schemas.microsoft.com/office/powerpoint/2010/main" xmlns:ns2="http://schemas.microsoft.com/office/drawing/2014/main" xmlns="" id="{6891C89A-9362-489D-ABB8-04BB667A35DE}"/>
              </a:ext>
            </a:extLst>
          </p:cNvPr>
          <p:cNvSpPr>
            <a:spLocks noGrp="1"/>
          </p:cNvSpPr>
          <p:nvPr/>
        </p:nvSpPr>
        <p:spPr>
          <a:xfrm>
            <a:off x="6896100" y="2524125"/>
            <a:ext cx="638175" cy="38100"/>
          </a:xfrm>
          <a:prstGeom prst="roundRect">
            <a:avLst>
              <a:gd name="adj" fmla="val 50000"/>
            </a:avLst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41" name="マッチング・モニター台">
            <a:extLst>
              <a:ext uri="{FF2B5EF4-FFF2-40B4-BE49-F238E27FC236}">
                <ns2:creationId xmlns:ns4="http://schemas.microsoft.com/office/powerpoint/2010/main" xmlns:ns2="http://schemas.microsoft.com/office/drawing/2014/main" xmlns="" id="{DB201862-8EEB-4213-B8EE-92AB7EBB2F81}"/>
              </a:ext>
            </a:extLst>
          </p:cNvPr>
          <p:cNvSpPr>
            <a:spLocks noGrp="1"/>
          </p:cNvSpPr>
          <p:nvPr/>
        </p:nvSpPr>
        <p:spPr>
          <a:xfrm>
            <a:off x="7229475" y="2819400"/>
            <a:ext cx="247650" cy="200025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42" name="マッチング・モニター脚">
            <a:extLst>
              <a:ext uri="{FF2B5EF4-FFF2-40B4-BE49-F238E27FC236}">
                <ns2:creationId xmlns:ns4="http://schemas.microsoft.com/office/powerpoint/2010/main" xmlns:ns2="http://schemas.microsoft.com/office/drawing/2014/main" xmlns="" id="{0A9E31E3-4BB7-4B28-8182-FB2AFCBFFAD8}"/>
              </a:ext>
            </a:extLst>
          </p:cNvPr>
          <p:cNvSpPr>
            <a:spLocks noGrp="1"/>
          </p:cNvSpPr>
          <p:nvPr/>
        </p:nvSpPr>
        <p:spPr>
          <a:xfrm>
            <a:off x="6962775" y="3000375"/>
            <a:ext cx="781050" cy="66675"/>
          </a:xfrm>
          <a:prstGeom prst="roundRect">
            <a:avLst>
              <a:gd name="adj" fmla="val 50000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43" name="マッチング・利用者・頭">
            <a:extLst>
              <a:ext uri="{FF2B5EF4-FFF2-40B4-BE49-F238E27FC236}">
                <ns2:creationId xmlns:ns4="http://schemas.microsoft.com/office/powerpoint/2010/main" xmlns:ns2="http://schemas.microsoft.com/office/drawing/2014/main" xmlns="" id="{559DAF22-3BD2-4E80-BD79-E756A6A118BC}"/>
              </a:ext>
            </a:extLst>
          </p:cNvPr>
          <p:cNvSpPr>
            <a:spLocks noGrp="1"/>
          </p:cNvSpPr>
          <p:nvPr/>
        </p:nvSpPr>
        <p:spPr>
          <a:xfrm>
            <a:off x="7946708" y="2724150"/>
            <a:ext cx="210502" cy="210502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4" name="マッチング・利用者・髪">
            <a:extLst>
              <a:ext uri="{FF2B5EF4-FFF2-40B4-BE49-F238E27FC236}">
                <ns2:creationId xmlns:ns4="http://schemas.microsoft.com/office/powerpoint/2010/main" xmlns:ns2="http://schemas.microsoft.com/office/drawing/2014/main" xmlns="" id="{28E3FDCB-5701-4478-BD31-1E8D5BD95B5C}"/>
              </a:ext>
            </a:extLst>
          </p:cNvPr>
          <p:cNvSpPr>
            <a:spLocks noGrp="1"/>
          </p:cNvSpPr>
          <p:nvPr/>
        </p:nvSpPr>
        <p:spPr>
          <a:xfrm>
            <a:off x="7930515" y="2699861"/>
            <a:ext cx="242888" cy="121444"/>
          </a:xfrm>
          <a:prstGeom prst="arc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45" name="マッチング・利用者・胴">
            <a:extLst>
              <a:ext uri="{FF2B5EF4-FFF2-40B4-BE49-F238E27FC236}">
                <ns2:creationId xmlns:ns4="http://schemas.microsoft.com/office/powerpoint/2010/main" xmlns:ns2="http://schemas.microsoft.com/office/drawing/2014/main" xmlns="" id="{004DD3D9-0A7C-4ED4-A9CB-17E0F5E0F99D}"/>
              </a:ext>
            </a:extLst>
          </p:cNvPr>
          <p:cNvSpPr>
            <a:spLocks noGrp="1"/>
          </p:cNvSpPr>
          <p:nvPr/>
        </p:nvSpPr>
        <p:spPr>
          <a:xfrm>
            <a:off x="7873841" y="2967038"/>
            <a:ext cx="356235" cy="437198"/>
          </a:xfrm>
          <a:prstGeom prst="roundRect">
            <a:avLst>
              <a:gd name="adj" fmla="val 21390"/>
            </a:avLst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46" name="マッチング・利用者・脚1">
            <a:extLst>
              <a:ext uri="{FF2B5EF4-FFF2-40B4-BE49-F238E27FC236}">
                <ns2:creationId xmlns:ns4="http://schemas.microsoft.com/office/powerpoint/2010/main" xmlns:ns2="http://schemas.microsoft.com/office/drawing/2014/main" xmlns="" id="{2DAA95CE-1A7B-4919-841A-A29BFD83DE55}"/>
              </a:ext>
            </a:extLst>
          </p:cNvPr>
          <p:cNvSpPr>
            <a:spLocks noGrp="1"/>
          </p:cNvSpPr>
          <p:nvPr/>
        </p:nvSpPr>
        <p:spPr>
          <a:xfrm>
            <a:off x="7906226" y="3363754"/>
            <a:ext cx="105251" cy="25908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47" name="マッチング・利用者・脚2">
            <a:extLst>
              <a:ext uri="{FF2B5EF4-FFF2-40B4-BE49-F238E27FC236}">
                <ns2:creationId xmlns:ns4="http://schemas.microsoft.com/office/powerpoint/2010/main" xmlns:ns2="http://schemas.microsoft.com/office/drawing/2014/main" xmlns="" id="{22BC81BA-F7DA-4B4C-AF91-AE5743AFC9AC}"/>
              </a:ext>
            </a:extLst>
          </p:cNvPr>
          <p:cNvSpPr>
            <a:spLocks noGrp="1"/>
          </p:cNvSpPr>
          <p:nvPr/>
        </p:nvSpPr>
        <p:spPr>
          <a:xfrm>
            <a:off x="8092440" y="3363754"/>
            <a:ext cx="105251" cy="25908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48" name="マッチング・まとめ帯">
            <a:extLst>
              <a:ext uri="{FF2B5EF4-FFF2-40B4-BE49-F238E27FC236}">
                <ns2:creationId xmlns:ns4="http://schemas.microsoft.com/office/powerpoint/2010/main" xmlns:ns2="http://schemas.microsoft.com/office/drawing/2014/main" xmlns="" id="{AC53024C-0F70-49B1-836E-D0334DF8D9AA}"/>
              </a:ext>
            </a:extLst>
          </p:cNvPr>
          <p:cNvSpPr>
            <a:spLocks noGrp="1"/>
          </p:cNvSpPr>
          <p:nvPr/>
        </p:nvSpPr>
        <p:spPr>
          <a:xfrm>
            <a:off x="457200" y="4000500"/>
            <a:ext cx="8229600" cy="523875"/>
          </a:xfrm>
          <a:prstGeom prst="roundRect">
            <a:avLst>
              <a:gd name="adj" fmla="val 13559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49" name="マッチング・まとめ">
            <a:extLst>
              <a:ext uri="{FF2B5EF4-FFF2-40B4-BE49-F238E27FC236}">
                <ns2:creationId xmlns:ns4="http://schemas.microsoft.com/office/powerpoint/2010/main" xmlns:ns2="http://schemas.microsoft.com/office/drawing/2014/main" xmlns="" id="{61053CA2-A73E-4015-99ED-26F28C460719}"/>
              </a:ext>
            </a:extLst>
          </p:cNvPr>
          <p:cNvSpPr>
            <a:spLocks noGrp="1"/>
          </p:cNvSpPr>
          <p:nvPr/>
        </p:nvSpPr>
        <p:spPr>
          <a:xfrm>
            <a:off x="628650" y="4057650"/>
            <a:ext cx="7886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条件に合う候補を、みなさまとエンジニアへ迅速に共有</a:t>
            </a:r>
          </a:p>
        </p:txBody>
      </p:sp>
      <p:pic>
        <p:nvPicPr>
          <p:cNvPr id="51" name="16版 写真 4ページ" descr="Two colleagues reviewing a project together at a laptop. Photo by Vitaly Gariev on Unsplash. https://unsplash.com/photos/two-colleagues-collaborating-on-a-project-at-a-laptop-tRvuRPE8cr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1435608"/>
            <a:ext cx="2660904" cy="2423160"/>
          </a:xfrm>
          <a:prstGeom prst="round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8056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ing-5">
            <a:extLst>
              <a:ext uri="{FF2B5EF4-FFF2-40B4-BE49-F238E27FC236}">
                <ns2:creationId xmlns:ns4="http://schemas.microsoft.com/office/powerpoint/2010/main" xmlns:ns2="http://schemas.microsoft.com/office/drawing/2014/main" xmlns="" id="{D922E320-4CE7-40C7-9F59-D0BDC0A2F55F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82296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職務経歴と面談準備を整え、成約率向上をめざす</a:t>
            </a:r>
          </a:p>
        </p:txBody>
      </p:sp>
      <p:sp>
        <p:nvSpPr>
          <p:cNvPr id="2" name="subheading-5">
            <a:extLst>
              <a:ext uri="{FF2B5EF4-FFF2-40B4-BE49-F238E27FC236}">
                <ns2:creationId xmlns:ns4="http://schemas.microsoft.com/office/powerpoint/2010/main" xmlns:ns2="http://schemas.microsoft.com/office/drawing/2014/main" xmlns="" id="{4BF15C8D-9BD5-4C58-9D1F-1DD98853B8B7}"/>
              </a:ext>
            </a:extLst>
          </p:cNvPr>
          <p:cNvSpPr>
            <a:spLocks noGrp="1"/>
          </p:cNvSpPr>
          <p:nvPr/>
        </p:nvSpPr>
        <p:spPr>
          <a:xfrm>
            <a:off x="457200" y="923925"/>
            <a:ext cx="8229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事実に基づき案件ごとに伝え方を整え、結果を次の提案へ</a:t>
            </a:r>
          </a:p>
        </p:txBody>
      </p:sp>
      <p:sp>
        <p:nvSpPr>
          <p:cNvPr id="3" name="footer-5">
            <a:extLst>
              <a:ext uri="{FF2B5EF4-FFF2-40B4-BE49-F238E27FC236}">
                <ns2:creationId xmlns:ns4="http://schemas.microsoft.com/office/powerpoint/2010/main" xmlns:ns2="http://schemas.microsoft.com/office/drawing/2014/main" xmlns="" id="{0D69A03E-2FD3-4F8B-A598-14F850AF70E3}"/>
              </a:ext>
            </a:extLst>
          </p:cNvPr>
          <p:cNvSpPr>
            <a:spLocks noGrp="1"/>
          </p:cNvSpPr>
          <p:nvPr/>
        </p:nvSpPr>
        <p:spPr>
          <a:xfrm>
            <a:off x="457200" y="48196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</a:p>
        </p:txBody>
      </p:sp>
      <p:sp>
        <p:nvSpPr>
          <p:cNvPr id="4" name="page-5">
            <a:extLst>
              <a:ext uri="{FF2B5EF4-FFF2-40B4-BE49-F238E27FC236}">
                <ns2:creationId xmlns:ns4="http://schemas.microsoft.com/office/powerpoint/2010/main" xmlns:ns2="http://schemas.microsoft.com/office/drawing/2014/main" xmlns="" id="{2026D63A-77AF-4FA9-BA51-0372187EC3A2}"/>
              </a:ext>
            </a:extLst>
          </p:cNvPr>
          <p:cNvSpPr>
            <a:spLocks noGrp="1"/>
          </p:cNvSpPr>
          <p:nvPr/>
        </p:nvSpPr>
        <p:spPr>
          <a:xfrm>
            <a:off x="8229600" y="4819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r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5" name="準備イラスト・背景">
            <a:extLst>
              <a:ext uri="{FF2B5EF4-FFF2-40B4-BE49-F238E27FC236}">
                <ns2:creationId xmlns:ns4="http://schemas.microsoft.com/office/powerpoint/2010/main" xmlns:ns2="http://schemas.microsoft.com/office/drawing/2014/main" xmlns="" id="{BBBC2F47-3D25-4483-98BC-6FB917CB0248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3162300" cy="2571750"/>
          </a:xfrm>
          <a:prstGeom prst="roundRect">
            <a:avLst>
              <a:gd name="adj" fmla="val 2963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6" name="準備イラスト・椅子">
            <a:extLst>
              <a:ext uri="{FF2B5EF4-FFF2-40B4-BE49-F238E27FC236}">
                <ns2:creationId xmlns:ns4="http://schemas.microsoft.com/office/powerpoint/2010/main" xmlns:ns2="http://schemas.microsoft.com/office/drawing/2014/main" xmlns="" id="{96E2CCCF-92F0-4266-A10C-0B7653AD59F3}"/>
              </a:ext>
            </a:extLst>
          </p:cNvPr>
          <p:cNvSpPr>
            <a:spLocks noGrp="1"/>
          </p:cNvSpPr>
          <p:nvPr/>
        </p:nvSpPr>
        <p:spPr>
          <a:xfrm>
            <a:off x="838200" y="2867025"/>
            <a:ext cx="514350" cy="733425"/>
          </a:xfrm>
          <a:prstGeom prst="roundRect">
            <a:avLst>
              <a:gd name="adj" fmla="val 14815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7" name="準備イラスト・人物頭">
            <a:extLst>
              <a:ext uri="{FF2B5EF4-FFF2-40B4-BE49-F238E27FC236}">
                <ns2:creationId xmlns:ns4="http://schemas.microsoft.com/office/powerpoint/2010/main" xmlns:ns2="http://schemas.microsoft.com/office/drawing/2014/main" xmlns="" id="{0A9F7B59-4A8D-4122-A62A-EDE04F336C21}"/>
              </a:ext>
            </a:extLst>
          </p:cNvPr>
          <p:cNvSpPr>
            <a:spLocks noGrp="1"/>
          </p:cNvSpPr>
          <p:nvPr/>
        </p:nvSpPr>
        <p:spPr>
          <a:xfrm>
            <a:off x="1295400" y="1933575"/>
            <a:ext cx="371475" cy="371475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8" name="準備イラスト・人物髪">
            <a:extLst>
              <a:ext uri="{FF2B5EF4-FFF2-40B4-BE49-F238E27FC236}">
                <ns2:creationId xmlns:ns4="http://schemas.microsoft.com/office/powerpoint/2010/main" xmlns:ns2="http://schemas.microsoft.com/office/drawing/2014/main" xmlns="" id="{C74363BC-2FA8-45D5-96FF-73ECCF8707DD}"/>
              </a:ext>
            </a:extLst>
          </p:cNvPr>
          <p:cNvSpPr>
            <a:spLocks noGrp="1"/>
          </p:cNvSpPr>
          <p:nvPr/>
        </p:nvSpPr>
        <p:spPr>
          <a:xfrm>
            <a:off x="1266825" y="1895475"/>
            <a:ext cx="428625" cy="219075"/>
          </a:xfrm>
          <a:prstGeom prst="arc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9" name="準備イラスト・人物胴">
            <a:extLst>
              <a:ext uri="{FF2B5EF4-FFF2-40B4-BE49-F238E27FC236}">
                <ns2:creationId xmlns:ns4="http://schemas.microsoft.com/office/powerpoint/2010/main" xmlns:ns2="http://schemas.microsoft.com/office/drawing/2014/main" xmlns="" id="{F7CB7B77-1058-4E3D-8654-73C38446BC4F}"/>
              </a:ext>
            </a:extLst>
          </p:cNvPr>
          <p:cNvSpPr>
            <a:spLocks noGrp="1"/>
          </p:cNvSpPr>
          <p:nvPr/>
        </p:nvSpPr>
        <p:spPr>
          <a:xfrm>
            <a:off x="1171575" y="2333625"/>
            <a:ext cx="714375" cy="704850"/>
          </a:xfrm>
          <a:prstGeom prst="roundRect">
            <a:avLst>
              <a:gd name="adj" fmla="val 10811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10" name="準備イラスト・人物脚1">
            <a:extLst>
              <a:ext uri="{FF2B5EF4-FFF2-40B4-BE49-F238E27FC236}">
                <ns2:creationId xmlns:ns4="http://schemas.microsoft.com/office/powerpoint/2010/main" xmlns:ns2="http://schemas.microsoft.com/office/drawing/2014/main" xmlns="" id="{4ECE48F3-21D3-4D95-99BD-DE9D6F96ECD1}"/>
              </a:ext>
            </a:extLst>
          </p:cNvPr>
          <p:cNvSpPr>
            <a:spLocks noGrp="1"/>
          </p:cNvSpPr>
          <p:nvPr/>
        </p:nvSpPr>
        <p:spPr>
          <a:xfrm>
            <a:off x="1238250" y="2943225"/>
            <a:ext cx="209550" cy="466725"/>
          </a:xfrm>
          <a:prstGeom prst="roundRect">
            <a:avLst>
              <a:gd name="adj" fmla="val 36364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1" name="準備イラスト・人物脚2">
            <a:extLst>
              <a:ext uri="{FF2B5EF4-FFF2-40B4-BE49-F238E27FC236}">
                <ns2:creationId xmlns:ns4="http://schemas.microsoft.com/office/powerpoint/2010/main" xmlns:ns2="http://schemas.microsoft.com/office/drawing/2014/main" xmlns="" id="{605E015B-D18E-41D5-BE72-5A3A289BC125}"/>
              </a:ext>
            </a:extLst>
          </p:cNvPr>
          <p:cNvSpPr>
            <a:spLocks noGrp="1"/>
          </p:cNvSpPr>
          <p:nvPr/>
        </p:nvSpPr>
        <p:spPr>
          <a:xfrm>
            <a:off x="1581150" y="2943225"/>
            <a:ext cx="209550" cy="466725"/>
          </a:xfrm>
          <a:prstGeom prst="roundRect">
            <a:avLst>
              <a:gd name="adj" fmla="val 36364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2" name="準備イラスト・机">
            <a:extLst>
              <a:ext uri="{FF2B5EF4-FFF2-40B4-BE49-F238E27FC236}">
                <ns2:creationId xmlns:ns4="http://schemas.microsoft.com/office/powerpoint/2010/main" xmlns:ns2="http://schemas.microsoft.com/office/drawing/2014/main" xmlns="" id="{4CC5DF8C-C4F9-414E-A0B2-61E5E8B2A655}"/>
              </a:ext>
            </a:extLst>
          </p:cNvPr>
          <p:cNvSpPr>
            <a:spLocks noGrp="1"/>
          </p:cNvSpPr>
          <p:nvPr/>
        </p:nvSpPr>
        <p:spPr>
          <a:xfrm>
            <a:off x="771525" y="3486150"/>
            <a:ext cx="2476500" cy="104775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3" name="準備イラスト・机脚1">
            <a:extLst>
              <a:ext uri="{FF2B5EF4-FFF2-40B4-BE49-F238E27FC236}">
                <ns2:creationId xmlns:ns4="http://schemas.microsoft.com/office/powerpoint/2010/main" xmlns:ns2="http://schemas.microsoft.com/office/drawing/2014/main" xmlns="" id="{E99B184A-53C4-4FC4-93E9-D9016FF00985}"/>
              </a:ext>
            </a:extLst>
          </p:cNvPr>
          <p:cNvSpPr>
            <a:spLocks noGrp="1"/>
          </p:cNvSpPr>
          <p:nvPr/>
        </p:nvSpPr>
        <p:spPr>
          <a:xfrm>
            <a:off x="904875" y="3590925"/>
            <a:ext cx="76200" cy="295275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4" name="準備イラスト・机脚2">
            <a:extLst>
              <a:ext uri="{FF2B5EF4-FFF2-40B4-BE49-F238E27FC236}">
                <ns2:creationId xmlns:ns4="http://schemas.microsoft.com/office/powerpoint/2010/main" xmlns:ns2="http://schemas.microsoft.com/office/drawing/2014/main" xmlns="" id="{CCC494CA-CC84-47A9-9608-131494D03B45}"/>
              </a:ext>
            </a:extLst>
          </p:cNvPr>
          <p:cNvSpPr>
            <a:spLocks noGrp="1"/>
          </p:cNvSpPr>
          <p:nvPr/>
        </p:nvSpPr>
        <p:spPr>
          <a:xfrm>
            <a:off x="3028950" y="3590925"/>
            <a:ext cx="76200" cy="295275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5" name="準備イラスト・PC画面">
            <a:extLst>
              <a:ext uri="{FF2B5EF4-FFF2-40B4-BE49-F238E27FC236}">
                <ns2:creationId xmlns:ns4="http://schemas.microsoft.com/office/powerpoint/2010/main" xmlns:ns2="http://schemas.microsoft.com/office/drawing/2014/main" xmlns="" id="{737E32AF-CCF9-478E-9CF4-1A62C5771E3C}"/>
              </a:ext>
            </a:extLst>
          </p:cNvPr>
          <p:cNvSpPr>
            <a:spLocks noGrp="1"/>
          </p:cNvSpPr>
          <p:nvPr/>
        </p:nvSpPr>
        <p:spPr>
          <a:xfrm>
            <a:off x="2019300" y="2638425"/>
            <a:ext cx="923925" cy="714375"/>
          </a:xfrm>
          <a:prstGeom prst="roundRect">
            <a:avLst>
              <a:gd name="adj" fmla="val 10667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6" name="準備イラスト・PC内">
            <a:extLst>
              <a:ext uri="{FF2B5EF4-FFF2-40B4-BE49-F238E27FC236}">
                <ns2:creationId xmlns:ns4="http://schemas.microsoft.com/office/powerpoint/2010/main" xmlns:ns2="http://schemas.microsoft.com/office/drawing/2014/main" xmlns="" id="{13C2D06C-9115-4AB5-84B3-85634DFEE6B4}"/>
              </a:ext>
            </a:extLst>
          </p:cNvPr>
          <p:cNvSpPr>
            <a:spLocks noGrp="1"/>
          </p:cNvSpPr>
          <p:nvPr/>
        </p:nvSpPr>
        <p:spPr>
          <a:xfrm>
            <a:off x="2095500" y="2714625"/>
            <a:ext cx="7715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" name="準備イラスト・PC台">
            <a:extLst>
              <a:ext uri="{FF2B5EF4-FFF2-40B4-BE49-F238E27FC236}">
                <ns2:creationId xmlns:ns4="http://schemas.microsoft.com/office/powerpoint/2010/main" xmlns:ns2="http://schemas.microsoft.com/office/drawing/2014/main" xmlns="" id="{3F986EED-9619-42EC-85CE-C1277BA102BF}"/>
              </a:ext>
            </a:extLst>
          </p:cNvPr>
          <p:cNvSpPr>
            <a:spLocks noGrp="1"/>
          </p:cNvSpPr>
          <p:nvPr/>
        </p:nvSpPr>
        <p:spPr>
          <a:xfrm>
            <a:off x="1943100" y="3362325"/>
            <a:ext cx="1066800" cy="76200"/>
          </a:xfrm>
          <a:prstGeom prst="roundRect">
            <a:avLst>
              <a:gd name="adj" fmla="val 50000"/>
            </a:avLst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18" name="準備イラスト・腕">
            <a:extLst>
              <a:ext uri="{FF2B5EF4-FFF2-40B4-BE49-F238E27FC236}">
                <ns2:creationId xmlns:ns4="http://schemas.microsoft.com/office/powerpoint/2010/main" xmlns:ns2="http://schemas.microsoft.com/office/drawing/2014/main" xmlns="" id="{077ECF7C-2475-44D7-9BF5-41F530B7DB12}"/>
              </a:ext>
            </a:extLst>
          </p:cNvPr>
          <p:cNvSpPr>
            <a:spLocks noGrp="1"/>
          </p:cNvSpPr>
          <p:nvPr/>
        </p:nvSpPr>
        <p:spPr>
          <a:xfrm>
            <a:off x="1752600" y="2505075"/>
            <a:ext cx="438150" cy="123825"/>
          </a:xfrm>
          <a:prstGeom prst="roundRect">
            <a:avLst>
              <a:gd name="adj" fmla="val 50000"/>
            </a:avLst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19" name="準備イラスト・経歴書">
            <a:extLst>
              <a:ext uri="{FF2B5EF4-FFF2-40B4-BE49-F238E27FC236}">
                <ns2:creationId xmlns:ns4="http://schemas.microsoft.com/office/powerpoint/2010/main" xmlns:ns2="http://schemas.microsoft.com/office/drawing/2014/main" xmlns="" id="{4701A4F7-8245-4980-B14E-B0EEF810B6E8}"/>
              </a:ext>
            </a:extLst>
          </p:cNvPr>
          <p:cNvSpPr>
            <a:spLocks noGrp="1"/>
          </p:cNvSpPr>
          <p:nvPr/>
        </p:nvSpPr>
        <p:spPr>
          <a:xfrm>
            <a:off x="600075" y="1590675"/>
            <a:ext cx="10096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8DB8DE"/>
            </a:solidFill>
            <a:prstDash val="solid"/>
          </a:ln>
        </p:spPr>
      </p:sp>
      <p:sp>
        <p:nvSpPr>
          <p:cNvPr id="20" name="準備イラスト・経歴書タイトル">
            <a:extLst>
              <a:ext uri="{FF2B5EF4-FFF2-40B4-BE49-F238E27FC236}">
                <ns2:creationId xmlns:ns4="http://schemas.microsoft.com/office/powerpoint/2010/main" xmlns:ns2="http://schemas.microsoft.com/office/drawing/2014/main" xmlns="" id="{232CDFE8-0385-4687-AE6D-281EB3044E99}"/>
              </a:ext>
            </a:extLst>
          </p:cNvPr>
          <p:cNvSpPr>
            <a:spLocks noGrp="1"/>
          </p:cNvSpPr>
          <p:nvPr/>
        </p:nvSpPr>
        <p:spPr>
          <a:xfrm>
            <a:off x="657225" y="1647825"/>
            <a:ext cx="8953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7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スキルシート</a:t>
            </a:r>
          </a:p>
        </p:txBody>
      </p:sp>
      <p:sp>
        <p:nvSpPr>
          <p:cNvPr id="21" name="準備イラスト・経歴書行1">
            <a:extLst>
              <a:ext uri="{FF2B5EF4-FFF2-40B4-BE49-F238E27FC236}">
                <ns2:creationId xmlns:ns4="http://schemas.microsoft.com/office/powerpoint/2010/main" xmlns:ns2="http://schemas.microsoft.com/office/drawing/2014/main" xmlns="" id="{CEF0735C-E7DF-4954-B37C-BB035BF58D1B}"/>
              </a:ext>
            </a:extLst>
          </p:cNvPr>
          <p:cNvSpPr>
            <a:spLocks noGrp="1"/>
          </p:cNvSpPr>
          <p:nvPr/>
        </p:nvSpPr>
        <p:spPr>
          <a:xfrm>
            <a:off x="714375" y="1876425"/>
            <a:ext cx="752475" cy="38100"/>
          </a:xfrm>
          <a:prstGeom prst="roundRect">
            <a:avLst>
              <a:gd name="adj" fmla="val 50000"/>
            </a:avLst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22" name="準備イラスト・経歴書行2">
            <a:extLst>
              <a:ext uri="{FF2B5EF4-FFF2-40B4-BE49-F238E27FC236}">
                <ns2:creationId xmlns:ns4="http://schemas.microsoft.com/office/powerpoint/2010/main" xmlns:ns2="http://schemas.microsoft.com/office/drawing/2014/main" xmlns="" id="{28536208-A7D5-400A-BFA6-5AA16CE7600C}"/>
              </a:ext>
            </a:extLst>
          </p:cNvPr>
          <p:cNvSpPr>
            <a:spLocks noGrp="1"/>
          </p:cNvSpPr>
          <p:nvPr/>
        </p:nvSpPr>
        <p:spPr>
          <a:xfrm>
            <a:off x="714375" y="1981200"/>
            <a:ext cx="752475" cy="3810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23" name="準備イラスト・経歴書行3">
            <a:extLst>
              <a:ext uri="{FF2B5EF4-FFF2-40B4-BE49-F238E27FC236}">
                <ns2:creationId xmlns:ns4="http://schemas.microsoft.com/office/powerpoint/2010/main" xmlns:ns2="http://schemas.microsoft.com/office/drawing/2014/main" xmlns="" id="{1444F509-1D40-469C-A09C-2E10C0D27118}"/>
              </a:ext>
            </a:extLst>
          </p:cNvPr>
          <p:cNvSpPr>
            <a:spLocks noGrp="1"/>
          </p:cNvSpPr>
          <p:nvPr/>
        </p:nvSpPr>
        <p:spPr>
          <a:xfrm>
            <a:off x="714375" y="2085975"/>
            <a:ext cx="752475" cy="3810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24" name="準備イラスト・質問カード">
            <a:extLst>
              <a:ext uri="{FF2B5EF4-FFF2-40B4-BE49-F238E27FC236}">
                <ns2:creationId xmlns:ns4="http://schemas.microsoft.com/office/powerpoint/2010/main" xmlns:ns2="http://schemas.microsoft.com/office/drawing/2014/main" xmlns="" id="{7027BE86-63C2-4516-84D5-6FD362C1DA0C}"/>
              </a:ext>
            </a:extLst>
          </p:cNvPr>
          <p:cNvSpPr>
            <a:spLocks noGrp="1"/>
          </p:cNvSpPr>
          <p:nvPr/>
        </p:nvSpPr>
        <p:spPr>
          <a:xfrm>
            <a:off x="2390775" y="1581150"/>
            <a:ext cx="10096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8DB8DE"/>
            </a:solidFill>
            <a:prstDash val="solid"/>
          </a:ln>
        </p:spPr>
      </p:sp>
      <p:sp>
        <p:nvSpPr>
          <p:cNvPr id="25" name="準備イラスト・質問見出し">
            <a:extLst>
              <a:ext uri="{FF2B5EF4-FFF2-40B4-BE49-F238E27FC236}">
                <ns2:creationId xmlns:ns4="http://schemas.microsoft.com/office/powerpoint/2010/main" xmlns:ns2="http://schemas.microsoft.com/office/drawing/2014/main" xmlns="" id="{F5E879F8-91A6-41AA-A241-11E2B255BA8D}"/>
              </a:ext>
            </a:extLst>
          </p:cNvPr>
          <p:cNvSpPr>
            <a:spLocks noGrp="1"/>
          </p:cNvSpPr>
          <p:nvPr/>
        </p:nvSpPr>
        <p:spPr>
          <a:xfrm>
            <a:off x="2447925" y="1628775"/>
            <a:ext cx="895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7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面談Q&amp;A</a:t>
            </a:r>
          </a:p>
        </p:txBody>
      </p:sp>
      <p:sp>
        <p:nvSpPr>
          <p:cNvPr id="26" name="準備イラスト・質問文">
            <a:extLst>
              <a:ext uri="{FF2B5EF4-FFF2-40B4-BE49-F238E27FC236}">
                <ns2:creationId xmlns:ns4="http://schemas.microsoft.com/office/powerpoint/2010/main" xmlns:ns2="http://schemas.microsoft.com/office/drawing/2014/main" xmlns="" id="{897DD293-2179-4D4B-A012-7E49056CBA07}"/>
              </a:ext>
            </a:extLst>
          </p:cNvPr>
          <p:cNvSpPr>
            <a:spLocks noGrp="1"/>
          </p:cNvSpPr>
          <p:nvPr/>
        </p:nvSpPr>
        <p:spPr>
          <a:xfrm>
            <a:off x="2476500" y="1838325"/>
            <a:ext cx="8382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7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750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質問 → 回答</a:t>
            </a:r>
          </a:p>
        </p:txBody>
      </p:sp>
      <p:sp>
        <p:nvSpPr>
          <p:cNvPr id="27" name="成約準備ステップ1">
            <a:extLst>
              <a:ext uri="{FF2B5EF4-FFF2-40B4-BE49-F238E27FC236}">
                <ns2:creationId xmlns:ns4="http://schemas.microsoft.com/office/powerpoint/2010/main" xmlns:ns2="http://schemas.microsoft.com/office/drawing/2014/main" xmlns="" id="{0C1A83D1-6EA0-4041-B0F8-CEF54D4D22DE}"/>
              </a:ext>
            </a:extLst>
          </p:cNvPr>
          <p:cNvSpPr>
            <a:spLocks noGrp="1"/>
          </p:cNvSpPr>
          <p:nvPr/>
        </p:nvSpPr>
        <p:spPr>
          <a:xfrm>
            <a:off x="3924300" y="1495425"/>
            <a:ext cx="4762500" cy="647700"/>
          </a:xfrm>
          <a:prstGeom prst="roundRect">
            <a:avLst>
              <a:gd name="adj" fmla="val 11765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28" name="成約準備番号1">
            <a:extLst>
              <a:ext uri="{FF2B5EF4-FFF2-40B4-BE49-F238E27FC236}">
                <ns2:creationId xmlns:ns4="http://schemas.microsoft.com/office/powerpoint/2010/main" xmlns:ns2="http://schemas.microsoft.com/office/drawing/2014/main" xmlns="" id="{A71F69FA-EC77-4E7D-8944-850CE02263D0}"/>
              </a:ext>
            </a:extLst>
          </p:cNvPr>
          <p:cNvSpPr>
            <a:spLocks noGrp="1"/>
          </p:cNvSpPr>
          <p:nvPr/>
        </p:nvSpPr>
        <p:spPr>
          <a:xfrm>
            <a:off x="4076700" y="1619250"/>
            <a:ext cx="400050" cy="400050"/>
          </a:xfrm>
          <a:prstGeom prst="ellipse">
            <a:avLst/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29" name="成約準備番号文字1">
            <a:extLst>
              <a:ext uri="{FF2B5EF4-FFF2-40B4-BE49-F238E27FC236}">
                <ns2:creationId xmlns:ns4="http://schemas.microsoft.com/office/powerpoint/2010/main" xmlns:ns2="http://schemas.microsoft.com/office/drawing/2014/main" xmlns="" id="{5EC32FD4-08AB-4992-9234-D0A1487E5E08}"/>
              </a:ext>
            </a:extLst>
          </p:cNvPr>
          <p:cNvSpPr>
            <a:spLocks noGrp="1"/>
          </p:cNvSpPr>
          <p:nvPr/>
        </p:nvSpPr>
        <p:spPr>
          <a:xfrm>
            <a:off x="4076700" y="16192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30" name="成約準備見出し1">
            <a:extLst>
              <a:ext uri="{FF2B5EF4-FFF2-40B4-BE49-F238E27FC236}">
                <ns2:creationId xmlns:ns4="http://schemas.microsoft.com/office/powerpoint/2010/main" xmlns:ns2="http://schemas.microsoft.com/office/drawing/2014/main" xmlns="" id="{531DC5FF-6CA3-4397-932B-E97EC6714CBC}"/>
              </a:ext>
            </a:extLst>
          </p:cNvPr>
          <p:cNvSpPr>
            <a:spLocks noGrp="1"/>
          </p:cNvSpPr>
          <p:nvPr/>
        </p:nvSpPr>
        <p:spPr>
          <a:xfrm>
            <a:off x="4629150" y="1581150"/>
            <a:ext cx="3762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対話しながら作る</a:t>
            </a:r>
          </a:p>
        </p:txBody>
      </p:sp>
      <p:sp>
        <p:nvSpPr>
          <p:cNvPr id="31" name="成約準備説明1">
            <a:extLst>
              <a:ext uri="{FF2B5EF4-FFF2-40B4-BE49-F238E27FC236}">
                <ns2:creationId xmlns:ns4="http://schemas.microsoft.com/office/powerpoint/2010/main" xmlns:ns2="http://schemas.microsoft.com/office/drawing/2014/main" xmlns="" id="{6BBF8048-F325-49D0-87A2-0E1B88278BA1}"/>
              </a:ext>
            </a:extLst>
          </p:cNvPr>
          <p:cNvSpPr>
            <a:spLocks noGrp="1"/>
          </p:cNvSpPr>
          <p:nvPr/>
        </p:nvSpPr>
        <p:spPr>
          <a:xfrm>
            <a:off x="4629150" y="1838325"/>
            <a:ext cx="37623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経験・スキルを事実に沿って整理</a:t>
            </a:r>
          </a:p>
        </p:txBody>
      </p:sp>
      <p:sp>
        <p:nvSpPr>
          <p:cNvPr id="32" name="成約準備ステップ2">
            <a:extLst>
              <a:ext uri="{FF2B5EF4-FFF2-40B4-BE49-F238E27FC236}">
                <ns2:creationId xmlns:ns4="http://schemas.microsoft.com/office/powerpoint/2010/main" xmlns:ns2="http://schemas.microsoft.com/office/drawing/2014/main" xmlns="" id="{03E0E393-33F8-421A-A6B2-B1FA4507C601}"/>
              </a:ext>
            </a:extLst>
          </p:cNvPr>
          <p:cNvSpPr>
            <a:spLocks noGrp="1"/>
          </p:cNvSpPr>
          <p:nvPr/>
        </p:nvSpPr>
        <p:spPr>
          <a:xfrm>
            <a:off x="3924300" y="2266950"/>
            <a:ext cx="4762500" cy="647700"/>
          </a:xfrm>
          <a:prstGeom prst="roundRect">
            <a:avLst>
              <a:gd name="adj" fmla="val 11765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33" name="成約準備番号2">
            <a:extLst>
              <a:ext uri="{FF2B5EF4-FFF2-40B4-BE49-F238E27FC236}">
                <ns2:creationId xmlns:ns4="http://schemas.microsoft.com/office/powerpoint/2010/main" xmlns:ns2="http://schemas.microsoft.com/office/drawing/2014/main" xmlns="" id="{1DAA622E-D333-41CE-8FE0-7E52BEA9B60B}"/>
              </a:ext>
            </a:extLst>
          </p:cNvPr>
          <p:cNvSpPr>
            <a:spLocks noGrp="1"/>
          </p:cNvSpPr>
          <p:nvPr/>
        </p:nvSpPr>
        <p:spPr>
          <a:xfrm>
            <a:off x="4076700" y="2390775"/>
            <a:ext cx="400050" cy="400050"/>
          </a:xfrm>
          <a:prstGeom prst="ellipse">
            <a:avLst/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34" name="成約準備番号文字2">
            <a:extLst>
              <a:ext uri="{FF2B5EF4-FFF2-40B4-BE49-F238E27FC236}">
                <ns2:creationId xmlns:ns4="http://schemas.microsoft.com/office/powerpoint/2010/main" xmlns:ns2="http://schemas.microsoft.com/office/drawing/2014/main" xmlns="" id="{6D38B06D-609F-401D-8F80-CF5E853092D4}"/>
              </a:ext>
            </a:extLst>
          </p:cNvPr>
          <p:cNvSpPr>
            <a:spLocks noGrp="1"/>
          </p:cNvSpPr>
          <p:nvPr/>
        </p:nvSpPr>
        <p:spPr>
          <a:xfrm>
            <a:off x="4076700" y="239077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35" name="成約準備見出し2">
            <a:extLst>
              <a:ext uri="{FF2B5EF4-FFF2-40B4-BE49-F238E27FC236}">
                <ns2:creationId xmlns:ns4="http://schemas.microsoft.com/office/powerpoint/2010/main" xmlns:ns2="http://schemas.microsoft.com/office/drawing/2014/main" xmlns="" id="{5B6B92AD-5455-4B12-ADEF-E4AF58B5946F}"/>
              </a:ext>
            </a:extLst>
          </p:cNvPr>
          <p:cNvSpPr>
            <a:spLocks noGrp="1"/>
          </p:cNvSpPr>
          <p:nvPr/>
        </p:nvSpPr>
        <p:spPr>
          <a:xfrm>
            <a:off x="4629150" y="2352675"/>
            <a:ext cx="3762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案件ごとに伝える</a:t>
            </a:r>
          </a:p>
        </p:txBody>
      </p:sp>
      <p:sp>
        <p:nvSpPr>
          <p:cNvPr id="36" name="成約準備説明2">
            <a:extLst>
              <a:ext uri="{FF2B5EF4-FFF2-40B4-BE49-F238E27FC236}">
                <ns2:creationId xmlns:ns4="http://schemas.microsoft.com/office/powerpoint/2010/main" xmlns:ns2="http://schemas.microsoft.com/office/drawing/2014/main" xmlns="" id="{EB4C8FD0-75D1-47C4-8E50-B981C8EED809}"/>
              </a:ext>
            </a:extLst>
          </p:cNvPr>
          <p:cNvSpPr>
            <a:spLocks noGrp="1"/>
          </p:cNvSpPr>
          <p:nvPr/>
        </p:nvSpPr>
        <p:spPr>
          <a:xfrm>
            <a:off x="4629150" y="2609850"/>
            <a:ext cx="37623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募集条件に合わせてシートを調整</a:t>
            </a:r>
          </a:p>
        </p:txBody>
      </p:sp>
      <p:sp>
        <p:nvSpPr>
          <p:cNvPr id="37" name="成約準備ステップ3">
            <a:extLst>
              <a:ext uri="{FF2B5EF4-FFF2-40B4-BE49-F238E27FC236}">
                <ns2:creationId xmlns:ns4="http://schemas.microsoft.com/office/powerpoint/2010/main" xmlns:ns2="http://schemas.microsoft.com/office/drawing/2014/main" xmlns="" id="{EF03E682-5254-4165-9A43-21F3EEA0D36E}"/>
              </a:ext>
            </a:extLst>
          </p:cNvPr>
          <p:cNvSpPr>
            <a:spLocks noGrp="1"/>
          </p:cNvSpPr>
          <p:nvPr/>
        </p:nvSpPr>
        <p:spPr>
          <a:xfrm>
            <a:off x="3924300" y="3038475"/>
            <a:ext cx="4762500" cy="647700"/>
          </a:xfrm>
          <a:prstGeom prst="roundRect">
            <a:avLst>
              <a:gd name="adj" fmla="val 11765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38" name="成約準備番号3">
            <a:extLst>
              <a:ext uri="{FF2B5EF4-FFF2-40B4-BE49-F238E27FC236}">
                <ns2:creationId xmlns:ns4="http://schemas.microsoft.com/office/powerpoint/2010/main" xmlns:ns2="http://schemas.microsoft.com/office/drawing/2014/main" xmlns="" id="{FA4D62B1-F391-40E3-93E7-A4E1D4D5A561}"/>
              </a:ext>
            </a:extLst>
          </p:cNvPr>
          <p:cNvSpPr>
            <a:spLocks noGrp="1"/>
          </p:cNvSpPr>
          <p:nvPr/>
        </p:nvSpPr>
        <p:spPr>
          <a:xfrm>
            <a:off x="4076700" y="3162300"/>
            <a:ext cx="400050" cy="400050"/>
          </a:xfrm>
          <a:prstGeom prst="ellipse">
            <a:avLst/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39" name="成約準備番号文字3">
            <a:extLst>
              <a:ext uri="{FF2B5EF4-FFF2-40B4-BE49-F238E27FC236}">
                <ns2:creationId xmlns:ns4="http://schemas.microsoft.com/office/powerpoint/2010/main" xmlns:ns2="http://schemas.microsoft.com/office/drawing/2014/main" xmlns="" id="{0E0AAA8B-E4F2-426E-830C-5D2796E117CD}"/>
              </a:ext>
            </a:extLst>
          </p:cNvPr>
          <p:cNvSpPr>
            <a:spLocks noGrp="1"/>
          </p:cNvSpPr>
          <p:nvPr/>
        </p:nvSpPr>
        <p:spPr>
          <a:xfrm>
            <a:off x="4076700" y="31623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40" name="成約準備見出し3">
            <a:extLst>
              <a:ext uri="{FF2B5EF4-FFF2-40B4-BE49-F238E27FC236}">
                <ns2:creationId xmlns:ns4="http://schemas.microsoft.com/office/powerpoint/2010/main" xmlns:ns2="http://schemas.microsoft.com/office/drawing/2014/main" xmlns="" id="{A45118D1-F86D-4605-A293-3C3D4AB5431E}"/>
              </a:ext>
            </a:extLst>
          </p:cNvPr>
          <p:cNvSpPr>
            <a:spLocks noGrp="1"/>
          </p:cNvSpPr>
          <p:nvPr/>
        </p:nvSpPr>
        <p:spPr>
          <a:xfrm>
            <a:off x="4629150" y="3124200"/>
            <a:ext cx="3762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面談前後を支援</a:t>
            </a:r>
          </a:p>
        </p:txBody>
      </p:sp>
      <p:sp>
        <p:nvSpPr>
          <p:cNvPr id="41" name="成約準備説明3">
            <a:extLst>
              <a:ext uri="{FF2B5EF4-FFF2-40B4-BE49-F238E27FC236}">
                <ns2:creationId xmlns:ns4="http://schemas.microsoft.com/office/powerpoint/2010/main" xmlns:ns2="http://schemas.microsoft.com/office/drawing/2014/main" xmlns="" id="{2F487332-3A95-462E-AB92-B1F4091A0F2A}"/>
              </a:ext>
            </a:extLst>
          </p:cNvPr>
          <p:cNvSpPr>
            <a:spLocks noGrp="1"/>
          </p:cNvSpPr>
          <p:nvPr/>
        </p:nvSpPr>
        <p:spPr>
          <a:xfrm>
            <a:off x="4629150" y="3381375"/>
            <a:ext cx="37623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想定Q&amp;Aを準備し、結果を記録</a:t>
            </a:r>
          </a:p>
        </p:txBody>
      </p:sp>
      <p:sp>
        <p:nvSpPr>
          <p:cNvPr id="42" name="成約準備まとめ帯">
            <a:extLst>
              <a:ext uri="{FF2B5EF4-FFF2-40B4-BE49-F238E27FC236}">
                <ns2:creationId xmlns:ns4="http://schemas.microsoft.com/office/powerpoint/2010/main" xmlns:ns2="http://schemas.microsoft.com/office/drawing/2014/main" xmlns="" id="{D0E6D50D-8B49-4F36-BB8A-F1068718EC15}"/>
              </a:ext>
            </a:extLst>
          </p:cNvPr>
          <p:cNvSpPr>
            <a:spLocks noGrp="1"/>
          </p:cNvSpPr>
          <p:nvPr/>
        </p:nvSpPr>
        <p:spPr>
          <a:xfrm>
            <a:off x="3924300" y="3895725"/>
            <a:ext cx="4762500" cy="333375"/>
          </a:xfrm>
          <a:prstGeom prst="roundRect">
            <a:avLst>
              <a:gd name="adj" fmla="val 22857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43" name="成約準備まとめ">
            <a:extLst>
              <a:ext uri="{FF2B5EF4-FFF2-40B4-BE49-F238E27FC236}">
                <ns2:creationId xmlns:ns4="http://schemas.microsoft.com/office/powerpoint/2010/main" xmlns:ns2="http://schemas.microsoft.com/office/drawing/2014/main" xmlns="" id="{54AAA817-7609-41CF-A037-4BEF804D9664}"/>
              </a:ext>
            </a:extLst>
          </p:cNvPr>
          <p:cNvSpPr>
            <a:spLocks noGrp="1"/>
          </p:cNvSpPr>
          <p:nvPr/>
        </p:nvSpPr>
        <p:spPr>
          <a:xfrm>
            <a:off x="4010025" y="3914775"/>
            <a:ext cx="4591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結果と理由を残し、次の応募・面談に活かす</a:t>
            </a:r>
          </a:p>
        </p:txBody>
      </p:sp>
      <p:pic>
        <p:nvPicPr>
          <p:cNvPr id="45" name="16版 写真 5ページ" descr="A software engineer using a keyboard and multiple computer monitors. Photo by ThisisEngineering on Unsplash. https://unsplash.com/photos/person-using-macbook-pro-on-white-table-uyfohHiTxh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35608"/>
            <a:ext cx="3163824" cy="2569464"/>
          </a:xfrm>
          <a:prstGeom prst="round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530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heading-6">
            <a:extLst>
              <a:ext uri="{FF2B5EF4-FFF2-40B4-BE49-F238E27FC236}">
                <ns2:creationId xmlns:ns4="http://schemas.microsoft.com/office/powerpoint/2010/main" xmlns:ns2="http://schemas.microsoft.com/office/drawing/2014/main" xmlns="" id="{DFA6A55B-1998-4464-9873-35174E8E95C5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82296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成約時のみの料金案と、安心して進めるための約束</a:t>
            </a:r>
          </a:p>
        </p:txBody>
      </p:sp>
      <p:sp>
        <p:nvSpPr>
          <p:cNvPr id="2" name="subheading-6">
            <a:extLst>
              <a:ext uri="{FF2B5EF4-FFF2-40B4-BE49-F238E27FC236}">
                <ns2:creationId xmlns:ns4="http://schemas.microsoft.com/office/powerpoint/2010/main" xmlns:ns2="http://schemas.microsoft.com/office/drawing/2014/main" xmlns="" id="{3941A12D-BAA3-4E40-BC7C-BB414706007A}"/>
              </a:ext>
            </a:extLst>
          </p:cNvPr>
          <p:cNvSpPr>
            <a:spLocks noGrp="1"/>
          </p:cNvSpPr>
          <p:nvPr/>
        </p:nvSpPr>
        <p:spPr>
          <a:xfrm>
            <a:off x="457200" y="923925"/>
            <a:ext cx="8229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費用・運用方法は相談して決定。初期の進め方もご意見を伺います</a:t>
            </a:r>
          </a:p>
        </p:txBody>
      </p:sp>
      <p:sp>
        <p:nvSpPr>
          <p:cNvPr id="3" name="footer-6">
            <a:extLst>
              <a:ext uri="{FF2B5EF4-FFF2-40B4-BE49-F238E27FC236}">
                <ns2:creationId xmlns:ns4="http://schemas.microsoft.com/office/powerpoint/2010/main" xmlns:ns2="http://schemas.microsoft.com/office/drawing/2014/main" xmlns="" id="{08D651C4-E96D-44F9-81ED-EF6CE79F896D}"/>
              </a:ext>
            </a:extLst>
          </p:cNvPr>
          <p:cNvSpPr>
            <a:spLocks noGrp="1"/>
          </p:cNvSpPr>
          <p:nvPr/>
        </p:nvSpPr>
        <p:spPr>
          <a:xfrm>
            <a:off x="457200" y="48196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</a:p>
        </p:txBody>
      </p:sp>
      <p:sp>
        <p:nvSpPr>
          <p:cNvPr id="4" name="page-6">
            <a:extLst>
              <a:ext uri="{FF2B5EF4-FFF2-40B4-BE49-F238E27FC236}">
                <ns2:creationId xmlns:ns4="http://schemas.microsoft.com/office/powerpoint/2010/main" xmlns:ns2="http://schemas.microsoft.com/office/drawing/2014/main" xmlns="" id="{A15C0832-3E18-4510-8E71-9606E9CEC5A4}"/>
              </a:ext>
            </a:extLst>
          </p:cNvPr>
          <p:cNvSpPr>
            <a:spLocks noGrp="1"/>
          </p:cNvSpPr>
          <p:nvPr/>
        </p:nvSpPr>
        <p:spPr>
          <a:xfrm>
            <a:off x="8229600" y="4819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r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5" name="費用イラスト・背景">
            <a:extLst>
              <a:ext uri="{FF2B5EF4-FFF2-40B4-BE49-F238E27FC236}">
                <ns2:creationId xmlns:ns4="http://schemas.microsoft.com/office/powerpoint/2010/main" xmlns:ns2="http://schemas.microsoft.com/office/drawing/2014/main" xmlns="" id="{432CFCE7-7028-40E5-84A0-79BA8D363985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3048000" cy="2705100"/>
          </a:xfrm>
          <a:prstGeom prst="roundRect">
            <a:avLst>
              <a:gd name="adj" fmla="val 2817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pic>
        <p:nvPicPr>
          <p:cNvPr id="43" name="16版 写真 6ページ" descr="Two people greeting across a desk beside a laptop. Photo by Mina Rad on Unsplash. https://unsplash.com/photos/a-man-and-a-woman-shaking-hands-in-front-of-a-laptop-qFSQFSmfZk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26464"/>
            <a:ext cx="3044952" cy="2706624"/>
          </a:xfrm>
          <a:prstGeom prst="roundRect">
            <a:avLst/>
          </a:prstGeom>
          <a:ln>
            <a:noFill/>
          </a:ln>
        </p:spPr>
      </p:pic>
      <p:sp>
        <p:nvSpPr>
          <p:cNvPr id="50001" name="成約時のみのラベル背景"/>
          <p:cNvSpPr/>
          <p:nvPr/>
        </p:nvSpPr>
        <p:spPr>
          <a:xfrm>
            <a:off x="457200" y="3785616"/>
            <a:ext cx="3044952" cy="347472"/>
          </a:xfrm>
          <a:prstGeom prst="rect">
            <a:avLst/>
          </a:prstGeom>
          <a:solidFill>
            <a:srgbClr val="DCEAF6"/>
          </a:solidFill>
          <a:ln>
            <a:noFill/>
          </a:ln>
        </p:spPr>
      </p:sp>
      <p:sp>
        <p:nvSpPr>
          <p:cNvPr id="6" name="費用イラスト・契約書">
            <a:extLst>
              <a:ext uri="{FF2B5EF4-FFF2-40B4-BE49-F238E27FC236}">
                <ns2:creationId xmlns:ns4="http://schemas.microsoft.com/office/powerpoint/2010/main" xmlns:ns2="http://schemas.microsoft.com/office/drawing/2014/main" xmlns="" id="{E75671D5-2B79-4AF7-B728-A54FEB20934A}"/>
              </a:ext>
            </a:extLst>
          </p:cNvPr>
          <p:cNvSpPr>
            <a:spLocks noGrp="1"/>
          </p:cNvSpPr>
          <p:nvPr/>
        </p:nvSpPr>
        <p:spPr>
          <a:xfrm>
            <a:off x="1800225" y="1695450"/>
            <a:ext cx="1438275" cy="1809750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 w="9525">
            <a:solidFill>
              <a:srgbClr val="8DB8DE"/>
            </a:solidFill>
            <a:prstDash val="solid"/>
          </a:ln>
        </p:spPr>
      </p:sp>
      <p:sp>
        <p:nvSpPr>
          <p:cNvPr id="7" name="費用イラスト・契約書見出し">
            <a:extLst>
              <a:ext uri="{FF2B5EF4-FFF2-40B4-BE49-F238E27FC236}">
                <ns2:creationId xmlns:ns4="http://schemas.microsoft.com/office/powerpoint/2010/main" xmlns:ns2="http://schemas.microsoft.com/office/drawing/2014/main" xmlns="" id="{841B290A-68D2-4159-B0F5-400535D5F0E2}"/>
              </a:ext>
            </a:extLst>
          </p:cNvPr>
          <p:cNvSpPr>
            <a:spLocks noGrp="1"/>
          </p:cNvSpPr>
          <p:nvPr/>
        </p:nvSpPr>
        <p:spPr>
          <a:xfrm>
            <a:off x="1905000" y="1828800"/>
            <a:ext cx="12287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9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成約時のご利用料</a:t>
            </a:r>
          </a:p>
        </p:txBody>
      </p:sp>
      <p:sp>
        <p:nvSpPr>
          <p:cNvPr id="8" name="費用イラスト・7％">
            <a:extLst>
              <a:ext uri="{FF2B5EF4-FFF2-40B4-BE49-F238E27FC236}">
                <ns2:creationId xmlns:ns4="http://schemas.microsoft.com/office/powerpoint/2010/main" xmlns:ns2="http://schemas.microsoft.com/office/drawing/2014/main" xmlns="" id="{5E59749B-E53C-44B9-839D-0149E8570002}"/>
              </a:ext>
            </a:extLst>
          </p:cNvPr>
          <p:cNvSpPr>
            <a:spLocks noGrp="1"/>
          </p:cNvSpPr>
          <p:nvPr/>
        </p:nvSpPr>
        <p:spPr>
          <a:xfrm>
            <a:off x="1952625" y="2152650"/>
            <a:ext cx="11334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40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240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7%</a:t>
            </a:r>
          </a:p>
        </p:txBody>
      </p:sp>
      <p:sp>
        <p:nvSpPr>
          <p:cNvPr id="9" name="費用イラスト・書類行1">
            <a:extLst>
              <a:ext uri="{FF2B5EF4-FFF2-40B4-BE49-F238E27FC236}">
                <ns2:creationId xmlns:ns4="http://schemas.microsoft.com/office/powerpoint/2010/main" xmlns:ns2="http://schemas.microsoft.com/office/drawing/2014/main" xmlns="" id="{8CF4C6AC-3323-4C8D-80C4-09DEC990C509}"/>
              </a:ext>
            </a:extLst>
          </p:cNvPr>
          <p:cNvSpPr>
            <a:spLocks noGrp="1"/>
          </p:cNvSpPr>
          <p:nvPr/>
        </p:nvSpPr>
        <p:spPr>
          <a:xfrm>
            <a:off x="1990725" y="2714625"/>
            <a:ext cx="1038225" cy="5715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10" name="費用イラスト・書類行2">
            <a:extLst>
              <a:ext uri="{FF2B5EF4-FFF2-40B4-BE49-F238E27FC236}">
                <ns2:creationId xmlns:ns4="http://schemas.microsoft.com/office/powerpoint/2010/main" xmlns:ns2="http://schemas.microsoft.com/office/drawing/2014/main" xmlns="" id="{08FA43F2-90C2-4987-AB04-55B4C09AAA6D}"/>
              </a:ext>
            </a:extLst>
          </p:cNvPr>
          <p:cNvSpPr>
            <a:spLocks noGrp="1"/>
          </p:cNvSpPr>
          <p:nvPr/>
        </p:nvSpPr>
        <p:spPr>
          <a:xfrm>
            <a:off x="1990725" y="2867025"/>
            <a:ext cx="895350" cy="5715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11" name="費用イラスト・書類行3">
            <a:extLst>
              <a:ext uri="{FF2B5EF4-FFF2-40B4-BE49-F238E27FC236}">
                <ns2:creationId xmlns:ns4="http://schemas.microsoft.com/office/powerpoint/2010/main" xmlns:ns2="http://schemas.microsoft.com/office/drawing/2014/main" xmlns="" id="{568112EF-1E3A-496E-91ED-3D16C1155B74}"/>
              </a:ext>
            </a:extLst>
          </p:cNvPr>
          <p:cNvSpPr>
            <a:spLocks noGrp="1"/>
          </p:cNvSpPr>
          <p:nvPr/>
        </p:nvSpPr>
        <p:spPr>
          <a:xfrm>
            <a:off x="1990725" y="3019425"/>
            <a:ext cx="971550" cy="5715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12" name="費用イラスト・成功マーク">
            <a:extLst>
              <a:ext uri="{FF2B5EF4-FFF2-40B4-BE49-F238E27FC236}">
                <ns2:creationId xmlns:ns4="http://schemas.microsoft.com/office/powerpoint/2010/main" xmlns:ns2="http://schemas.microsoft.com/office/drawing/2014/main" xmlns="" id="{931325D3-DF80-45E4-A9F7-D57CDB8CF6A9}"/>
              </a:ext>
            </a:extLst>
          </p:cNvPr>
          <p:cNvSpPr>
            <a:spLocks noGrp="1"/>
          </p:cNvSpPr>
          <p:nvPr/>
        </p:nvSpPr>
        <p:spPr>
          <a:xfrm>
            <a:off x="2724150" y="3190875"/>
            <a:ext cx="409575" cy="409575"/>
          </a:xfrm>
          <a:prstGeom prst="ellipse">
            <a:avLst/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13" name="費用イラスト・チェック">
            <a:extLst>
              <a:ext uri="{FF2B5EF4-FFF2-40B4-BE49-F238E27FC236}">
                <ns2:creationId xmlns:ns4="http://schemas.microsoft.com/office/powerpoint/2010/main" xmlns:ns2="http://schemas.microsoft.com/office/drawing/2014/main" xmlns="" id="{47274D63-8695-416F-8AAA-2F2A1C2E69E4}"/>
              </a:ext>
            </a:extLst>
          </p:cNvPr>
          <p:cNvSpPr>
            <a:spLocks noGrp="1"/>
          </p:cNvSpPr>
          <p:nvPr/>
        </p:nvSpPr>
        <p:spPr>
          <a:xfrm>
            <a:off x="2724150" y="3190875"/>
            <a:ext cx="4095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02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20" name="費用イラスト・説明">
            <a:extLst>
              <a:ext uri="{FF2B5EF4-FFF2-40B4-BE49-F238E27FC236}">
                <ns2:creationId xmlns:ns4="http://schemas.microsoft.com/office/powerpoint/2010/main" xmlns:ns2="http://schemas.microsoft.com/office/drawing/2014/main" xmlns="" id="{F3AC53B3-AAA9-4BE3-A318-B3E933A9088F}"/>
              </a:ext>
            </a:extLst>
          </p:cNvPr>
          <p:cNvSpPr>
            <a:spLocks noGrp="1"/>
          </p:cNvSpPr>
          <p:nvPr/>
        </p:nvSpPr>
        <p:spPr>
          <a:xfrm>
            <a:off x="695325" y="371475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成約した場合だけ</a:t>
            </a:r>
          </a:p>
        </p:txBody>
      </p:sp>
      <p:sp>
        <p:nvSpPr>
          <p:cNvPr id="21" name="料金案パネル">
            <a:extLst>
              <a:ext uri="{FF2B5EF4-FFF2-40B4-BE49-F238E27FC236}">
                <ns2:creationId xmlns:ns4="http://schemas.microsoft.com/office/powerpoint/2010/main" xmlns:ns2="http://schemas.microsoft.com/office/drawing/2014/main" xmlns="" id="{9221207D-DA14-49B8-89F6-DBA93F7B57D3}"/>
              </a:ext>
            </a:extLst>
          </p:cNvPr>
          <p:cNvSpPr>
            <a:spLocks noGrp="1"/>
          </p:cNvSpPr>
          <p:nvPr/>
        </p:nvSpPr>
        <p:spPr>
          <a:xfrm>
            <a:off x="3743325" y="1428750"/>
            <a:ext cx="2266950" cy="270510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22" name="料金案見出し">
            <a:extLst>
              <a:ext uri="{FF2B5EF4-FFF2-40B4-BE49-F238E27FC236}">
                <ns2:creationId xmlns:ns4="http://schemas.microsoft.com/office/powerpoint/2010/main" xmlns:ns2="http://schemas.microsoft.com/office/drawing/2014/main" xmlns="" id="{14FFC236-B3C1-42BF-AA58-7B38BA7FBB74}"/>
              </a:ext>
            </a:extLst>
          </p:cNvPr>
          <p:cNvSpPr>
            <a:spLocks noGrp="1"/>
          </p:cNvSpPr>
          <p:nvPr/>
        </p:nvSpPr>
        <p:spPr>
          <a:xfrm>
            <a:off x="3886200" y="1552575"/>
            <a:ext cx="19716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料金案（要相談）</a:t>
            </a:r>
          </a:p>
        </p:txBody>
      </p:sp>
      <p:sp>
        <p:nvSpPr>
          <p:cNvPr id="23" name="料金案成約時">
            <a:extLst>
              <a:ext uri="{FF2B5EF4-FFF2-40B4-BE49-F238E27FC236}">
                <ns2:creationId xmlns:ns4="http://schemas.microsoft.com/office/powerpoint/2010/main" xmlns:ns2="http://schemas.microsoft.com/office/drawing/2014/main" xmlns="" id="{9C75B956-FE39-49D4-8CDC-1B658438B21A}"/>
              </a:ext>
            </a:extLst>
          </p:cNvPr>
          <p:cNvSpPr>
            <a:spLocks noGrp="1"/>
          </p:cNvSpPr>
          <p:nvPr/>
        </p:nvSpPr>
        <p:spPr>
          <a:xfrm>
            <a:off x="3886200" y="1924050"/>
            <a:ext cx="19716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成約時のみ発生</a:t>
            </a:r>
          </a:p>
        </p:txBody>
      </p:sp>
      <p:sp>
        <p:nvSpPr>
          <p:cNvPr id="24" name="料金案初期">
            <a:extLst>
              <a:ext uri="{FF2B5EF4-FFF2-40B4-BE49-F238E27FC236}">
                <ns2:creationId xmlns:ns4="http://schemas.microsoft.com/office/powerpoint/2010/main" xmlns:ns2="http://schemas.microsoft.com/office/drawing/2014/main" xmlns="" id="{B906C84B-C345-4FEA-8B15-FF38CD9CBEEA}"/>
              </a:ext>
            </a:extLst>
          </p:cNvPr>
          <p:cNvSpPr>
            <a:spLocks noGrp="1"/>
          </p:cNvSpPr>
          <p:nvPr/>
        </p:nvSpPr>
        <p:spPr>
          <a:xfrm>
            <a:off x="3886200" y="2343150"/>
            <a:ext cx="19716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初期費用 7%（案）</a:t>
            </a:r>
          </a:p>
        </p:txBody>
      </p:sp>
      <p:sp>
        <p:nvSpPr>
          <p:cNvPr id="25" name="料金案月額">
            <a:extLst>
              <a:ext uri="{FF2B5EF4-FFF2-40B4-BE49-F238E27FC236}">
                <ns2:creationId xmlns:ns4="http://schemas.microsoft.com/office/powerpoint/2010/main" xmlns:ns2="http://schemas.microsoft.com/office/drawing/2014/main" xmlns="" id="{3DDF9227-3ABD-4A0C-A16C-97E97BE44567}"/>
              </a:ext>
            </a:extLst>
          </p:cNvPr>
          <p:cNvSpPr>
            <a:spLocks noGrp="1"/>
          </p:cNvSpPr>
          <p:nvPr/>
        </p:nvSpPr>
        <p:spPr>
          <a:xfrm>
            <a:off x="3886200" y="2762250"/>
            <a:ext cx="19716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12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12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月額 3%（契約継続中・案）</a:t>
            </a:r>
          </a:p>
        </p:txBody>
      </p:sp>
      <p:sp>
        <p:nvSpPr>
          <p:cNvPr id="26" name="料金案基準">
            <a:extLst>
              <a:ext uri="{FF2B5EF4-FFF2-40B4-BE49-F238E27FC236}">
                <ns2:creationId xmlns:ns4="http://schemas.microsoft.com/office/powerpoint/2010/main" xmlns:ns2="http://schemas.microsoft.com/office/drawing/2014/main" xmlns="" id="{DF15C794-5095-45A4-B617-44448D56F17A}"/>
              </a:ext>
            </a:extLst>
          </p:cNvPr>
          <p:cNvSpPr>
            <a:spLocks noGrp="1"/>
          </p:cNvSpPr>
          <p:nvPr/>
        </p:nvSpPr>
        <p:spPr>
          <a:xfrm>
            <a:off x="3886200" y="3305175"/>
            <a:ext cx="1971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基準：SESさまが受け取る案件金額</a:t>
            </a:r>
          </a:p>
        </p:txBody>
      </p:sp>
      <p:sp>
        <p:nvSpPr>
          <p:cNvPr id="27" name="料金案補足">
            <a:extLst>
              <a:ext uri="{FF2B5EF4-FFF2-40B4-BE49-F238E27FC236}">
                <ns2:creationId xmlns:ns4="http://schemas.microsoft.com/office/powerpoint/2010/main" xmlns:ns2="http://schemas.microsoft.com/office/drawing/2014/main" xmlns="" id="{E689C80E-9A4A-4F5D-9EA6-F047F90BD4A0}"/>
              </a:ext>
            </a:extLst>
          </p:cNvPr>
          <p:cNvSpPr>
            <a:spLocks noGrp="1"/>
          </p:cNvSpPr>
          <p:nvPr/>
        </p:nvSpPr>
        <p:spPr>
          <a:xfrm>
            <a:off x="3886200" y="3752850"/>
            <a:ext cx="1971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82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82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先払いなし。率・条件はご相談のうえ決定</a:t>
            </a:r>
          </a:p>
        </p:txBody>
      </p:sp>
      <p:sp>
        <p:nvSpPr>
          <p:cNvPr id="28" name="安心方針パネル">
            <a:extLst>
              <a:ext uri="{FF2B5EF4-FFF2-40B4-BE49-F238E27FC236}">
                <ns2:creationId xmlns:ns4="http://schemas.microsoft.com/office/powerpoint/2010/main" xmlns:ns2="http://schemas.microsoft.com/office/drawing/2014/main" xmlns="" id="{9FA169B1-1440-4A1B-B1D4-704047257115}"/>
              </a:ext>
            </a:extLst>
          </p:cNvPr>
          <p:cNvSpPr>
            <a:spLocks noGrp="1"/>
          </p:cNvSpPr>
          <p:nvPr/>
        </p:nvSpPr>
        <p:spPr>
          <a:xfrm>
            <a:off x="6172200" y="1428750"/>
            <a:ext cx="2514600" cy="2705100"/>
          </a:xfrm>
          <a:prstGeom prst="roundRect">
            <a:avLst>
              <a:gd name="adj" fmla="val 3030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29" name="安心方針見出し">
            <a:extLst>
              <a:ext uri="{FF2B5EF4-FFF2-40B4-BE49-F238E27FC236}">
                <ns2:creationId xmlns:ns4="http://schemas.microsoft.com/office/powerpoint/2010/main" xmlns:ns2="http://schemas.microsoft.com/office/drawing/2014/main" xmlns="" id="{D3946D61-4821-429E-BE1A-974FA16FFA09}"/>
              </a:ext>
            </a:extLst>
          </p:cNvPr>
          <p:cNvSpPr>
            <a:spLocks noGrp="1"/>
          </p:cNvSpPr>
          <p:nvPr/>
        </p:nvSpPr>
        <p:spPr>
          <a:xfrm>
            <a:off x="6334125" y="1552575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運用の約束</a:t>
            </a:r>
          </a:p>
        </p:txBody>
      </p:sp>
      <p:sp>
        <p:nvSpPr>
          <p:cNvPr id="30" name="安心方針マーク1">
            <a:extLst>
              <a:ext uri="{FF2B5EF4-FFF2-40B4-BE49-F238E27FC236}">
                <ns2:creationId xmlns:ns4="http://schemas.microsoft.com/office/powerpoint/2010/main" xmlns:ns2="http://schemas.microsoft.com/office/drawing/2014/main" xmlns="" id="{F6A0ADDD-09DA-4E0F-82F7-D4DBFFAB330E}"/>
              </a:ext>
            </a:extLst>
          </p:cNvPr>
          <p:cNvSpPr>
            <a:spLocks noGrp="1"/>
          </p:cNvSpPr>
          <p:nvPr/>
        </p:nvSpPr>
        <p:spPr>
          <a:xfrm>
            <a:off x="6334125" y="1924050"/>
            <a:ext cx="295275" cy="295275"/>
          </a:xfrm>
          <a:prstGeom prst="ellipse">
            <a:avLst/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31" name="安心方針番号1">
            <a:extLst>
              <a:ext uri="{FF2B5EF4-FFF2-40B4-BE49-F238E27FC236}">
                <ns2:creationId xmlns:ns4="http://schemas.microsoft.com/office/powerpoint/2010/main" xmlns:ns2="http://schemas.microsoft.com/office/drawing/2014/main" xmlns="" id="{9FD32DC2-6724-47B6-AC8A-0AE3326EE711}"/>
              </a:ext>
            </a:extLst>
          </p:cNvPr>
          <p:cNvSpPr>
            <a:spLocks noGrp="1"/>
          </p:cNvSpPr>
          <p:nvPr/>
        </p:nvSpPr>
        <p:spPr>
          <a:xfrm>
            <a:off x="6334125" y="1924050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32" name="安心方針項目1">
            <a:extLst>
              <a:ext uri="{FF2B5EF4-FFF2-40B4-BE49-F238E27FC236}">
                <ns2:creationId xmlns:ns4="http://schemas.microsoft.com/office/powerpoint/2010/main" xmlns:ns2="http://schemas.microsoft.com/office/drawing/2014/main" xmlns="" id="{0D7B262E-C1B5-4961-8A7C-C4BE88DC770A}"/>
              </a:ext>
            </a:extLst>
          </p:cNvPr>
          <p:cNvSpPr>
            <a:spLocks noGrp="1"/>
          </p:cNvSpPr>
          <p:nvPr/>
        </p:nvSpPr>
        <p:spPr>
          <a:xfrm>
            <a:off x="6734175" y="1905000"/>
            <a:ext cx="1724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本人の同意</a:t>
            </a:r>
          </a:p>
        </p:txBody>
      </p:sp>
      <p:sp>
        <p:nvSpPr>
          <p:cNvPr id="33" name="安心方針説明1">
            <a:extLst>
              <a:ext uri="{FF2B5EF4-FFF2-40B4-BE49-F238E27FC236}">
                <ns2:creationId xmlns:ns4="http://schemas.microsoft.com/office/powerpoint/2010/main" xmlns:ns2="http://schemas.microsoft.com/office/drawing/2014/main" xmlns="" id="{AD6C08A1-21DD-49CF-AC87-C344CB810394}"/>
              </a:ext>
            </a:extLst>
          </p:cNvPr>
          <p:cNvSpPr>
            <a:spLocks noGrp="1"/>
          </p:cNvSpPr>
          <p:nvPr/>
        </p:nvSpPr>
        <p:spPr>
          <a:xfrm>
            <a:off x="6734175" y="2114550"/>
            <a:ext cx="17240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個人情報は本人の同意を得て扱い、事実を盛らない</a:t>
            </a:r>
          </a:p>
        </p:txBody>
      </p:sp>
      <p:sp>
        <p:nvSpPr>
          <p:cNvPr id="34" name="安心方針マーク2">
            <a:extLst>
              <a:ext uri="{FF2B5EF4-FFF2-40B4-BE49-F238E27FC236}">
                <ns2:creationId xmlns:ns4="http://schemas.microsoft.com/office/powerpoint/2010/main" xmlns:ns2="http://schemas.microsoft.com/office/drawing/2014/main" xmlns="" id="{3133FE58-5D68-476A-9309-64C379D7CAB0}"/>
              </a:ext>
            </a:extLst>
          </p:cNvPr>
          <p:cNvSpPr>
            <a:spLocks noGrp="1"/>
          </p:cNvSpPr>
          <p:nvPr/>
        </p:nvSpPr>
        <p:spPr>
          <a:xfrm>
            <a:off x="6334125" y="2581275"/>
            <a:ext cx="295275" cy="295275"/>
          </a:xfrm>
          <a:prstGeom prst="ellipse">
            <a:avLst/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35" name="安心方針番号2">
            <a:extLst>
              <a:ext uri="{FF2B5EF4-FFF2-40B4-BE49-F238E27FC236}">
                <ns2:creationId xmlns:ns4="http://schemas.microsoft.com/office/powerpoint/2010/main" xmlns:ns2="http://schemas.microsoft.com/office/drawing/2014/main" xmlns="" id="{44791F5A-33E1-4135-A152-00C1EA459B4F}"/>
              </a:ext>
            </a:extLst>
          </p:cNvPr>
          <p:cNvSpPr>
            <a:spLocks noGrp="1"/>
          </p:cNvSpPr>
          <p:nvPr/>
        </p:nvSpPr>
        <p:spPr>
          <a:xfrm>
            <a:off x="6334125" y="2581275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36" name="安心方針項目2">
            <a:extLst>
              <a:ext uri="{FF2B5EF4-FFF2-40B4-BE49-F238E27FC236}">
                <ns2:creationId xmlns:ns4="http://schemas.microsoft.com/office/powerpoint/2010/main" xmlns:ns2="http://schemas.microsoft.com/office/drawing/2014/main" xmlns="" id="{70103E95-C17C-4CF6-9E0F-E5060D6021D2}"/>
              </a:ext>
            </a:extLst>
          </p:cNvPr>
          <p:cNvSpPr>
            <a:spLocks noGrp="1"/>
          </p:cNvSpPr>
          <p:nvPr/>
        </p:nvSpPr>
        <p:spPr>
          <a:xfrm>
            <a:off x="6734175" y="2562225"/>
            <a:ext cx="1724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情報を守る</a:t>
            </a:r>
          </a:p>
        </p:txBody>
      </p:sp>
      <p:sp>
        <p:nvSpPr>
          <p:cNvPr id="37" name="安心方針説明2">
            <a:extLst>
              <a:ext uri="{FF2B5EF4-FFF2-40B4-BE49-F238E27FC236}">
                <ns2:creationId xmlns:ns4="http://schemas.microsoft.com/office/powerpoint/2010/main" xmlns:ns2="http://schemas.microsoft.com/office/drawing/2014/main" xmlns="" id="{6B4DE9CF-9098-4079-BDA6-AAC882BCB041}"/>
              </a:ext>
            </a:extLst>
          </p:cNvPr>
          <p:cNvSpPr>
            <a:spLocks noGrp="1"/>
          </p:cNvSpPr>
          <p:nvPr/>
        </p:nvSpPr>
        <p:spPr>
          <a:xfrm>
            <a:off x="6734175" y="2771775"/>
            <a:ext cx="17240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案件内容・会社名を外部サービスへ渡さない</a:t>
            </a:r>
          </a:p>
        </p:txBody>
      </p:sp>
      <p:sp>
        <p:nvSpPr>
          <p:cNvPr id="38" name="安心方針マーク3">
            <a:extLst>
              <a:ext uri="{FF2B5EF4-FFF2-40B4-BE49-F238E27FC236}">
                <ns2:creationId xmlns:ns4="http://schemas.microsoft.com/office/powerpoint/2010/main" xmlns:ns2="http://schemas.microsoft.com/office/drawing/2014/main" xmlns="" id="{F7669848-36E2-4B0C-A9A9-0EFDD3BBB508}"/>
              </a:ext>
            </a:extLst>
          </p:cNvPr>
          <p:cNvSpPr>
            <a:spLocks noGrp="1"/>
          </p:cNvSpPr>
          <p:nvPr/>
        </p:nvSpPr>
        <p:spPr>
          <a:xfrm>
            <a:off x="6334125" y="3238500"/>
            <a:ext cx="295275" cy="295275"/>
          </a:xfrm>
          <a:prstGeom prst="ellipse">
            <a:avLst/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39" name="安心方針番号3">
            <a:extLst>
              <a:ext uri="{FF2B5EF4-FFF2-40B4-BE49-F238E27FC236}">
                <ns2:creationId xmlns:ns4="http://schemas.microsoft.com/office/powerpoint/2010/main" xmlns:ns2="http://schemas.microsoft.com/office/drawing/2014/main" xmlns="" id="{86A8F083-200D-4D54-BBF8-01FABDE1214B}"/>
              </a:ext>
            </a:extLst>
          </p:cNvPr>
          <p:cNvSpPr>
            <a:spLocks noGrp="1"/>
          </p:cNvSpPr>
          <p:nvPr/>
        </p:nvSpPr>
        <p:spPr>
          <a:xfrm>
            <a:off x="6334125" y="3238500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40" name="安心方針項目3">
            <a:extLst>
              <a:ext uri="{FF2B5EF4-FFF2-40B4-BE49-F238E27FC236}">
                <ns2:creationId xmlns:ns4="http://schemas.microsoft.com/office/powerpoint/2010/main" xmlns:ns2="http://schemas.microsoft.com/office/drawing/2014/main" xmlns="" id="{5A2173BE-324F-4785-A463-C741747289C9}"/>
              </a:ext>
            </a:extLst>
          </p:cNvPr>
          <p:cNvSpPr>
            <a:spLocks noGrp="1"/>
          </p:cNvSpPr>
          <p:nvPr/>
        </p:nvSpPr>
        <p:spPr>
          <a:xfrm>
            <a:off x="6734175" y="3219450"/>
            <a:ext cx="1724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公平性を保つ</a:t>
            </a:r>
          </a:p>
        </p:txBody>
      </p:sp>
      <p:sp>
        <p:nvSpPr>
          <p:cNvPr id="41" name="安心方針説明3">
            <a:extLst>
              <a:ext uri="{FF2B5EF4-FFF2-40B4-BE49-F238E27FC236}">
                <ns2:creationId xmlns:ns4="http://schemas.microsoft.com/office/powerpoint/2010/main" xmlns:ns2="http://schemas.microsoft.com/office/drawing/2014/main" xmlns="" id="{8A018467-2F64-48FD-847A-268C40EB742A}"/>
              </a:ext>
            </a:extLst>
          </p:cNvPr>
          <p:cNvSpPr>
            <a:spLocks noGrp="1"/>
          </p:cNvSpPr>
          <p:nvPr/>
        </p:nvSpPr>
        <p:spPr>
          <a:xfrm>
            <a:off x="6734175" y="3429000"/>
            <a:ext cx="17240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運営と自分の稼働を分け、ルールを整える</a:t>
            </a:r>
          </a:p>
        </p:txBody>
      </p:sp>
    </p:spTree>
    <p:extLst>
      <p:ext uri="{BB962C8B-B14F-4D97-AF65-F5344CB8AC3E}">
        <p14:creationId xmlns:p14="http://schemas.microsoft.com/office/powerpoint/2010/main" val="1245398647"/>
      </p:ext>
    </p:extLst>
  </p:cSld>
  <p:clrMapOvr>
    <a:masterClrMapping/>
  </p:clrMapOvr>
</p:sld>
</file>

<file path=ppt/theme/theme1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240</Words>
  <Application>Microsoft Office PowerPoint</Application>
  <DocSecurity>0</DocSecurity>
  <PresentationFormat>画面に合わせる (16:9)</PresentationFormat>
  <Paragraphs>92</Paragraphs>
  <Slides>6</Slides>
  <Notes>6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7" baseType="lpstr">
      <vt:lpstr>Parks Blue</vt:lpstr>
      <vt:lpstr>PARKS</vt:lpstr>
      <vt:lpstr>プロジェクトに賭ける私の想い</vt:lpstr>
      <vt:lpstr>SES各社が結束すれば、仕事は増えます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rock@jona.jp</cp:lastModifiedBy>
  <cp:revision>3</cp:revision>
  <dcterms:created xsi:type="dcterms:W3CDTF">2026-10-14T07:36:26Z</dcterms:created>
  <dcterms:modified xsi:type="dcterms:W3CDTF">2026-10-14T09:44:57Z</dcterms:modified>
</cp:coreProperties>
</file>