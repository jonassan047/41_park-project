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4" r:id="rId5"/>
    <p:sldId id="262" r:id="rId6"/>
    <p:sldId id="26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</p14:sldIdLst>
        </p14:section>
        <p14:section name="想い" id="{7266E59C-8B5F-5544-08A8-FD5768DE98E6}">
          <p14:sldIdLst>
            <p14:sldId id="257"/>
            <p14:sldId id="263"/>
            <p14:sldId id="264"/>
          </p14:sldIdLst>
        </p14:section>
        <p14:section name="提案" id="{324DDFFA-62CA-A420-7236-C5F9D4357CB5}">
          <p14:sldIdLst/>
        </p14:section>
        <p14:section name="成約率" id="{2993A237-E66B-542D-54D3-D811AC81748A}">
          <p14:sldIdLst>
            <p14:sldId id="262"/>
          </p14:sldIdLst>
        </p14:section>
        <p14:section name="費用と安心" id="{DF971B41-862A-4C3D-7727-EAC3FAB33B69}">
          <p14:sldIdLst/>
        </p14:section>
        <p14:section name="進め方" id="{472ACA0A-AF94-407A-ECF8-51B3B8D8D9D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2327424"/>
        <c:axId val="252328960"/>
      </c:barChart>
      <c:catAx>
        <c:axId val="252327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52328960"/>
        <c:crosses val="autoZero"/>
        <c:auto val="1"/>
        <c:lblAlgn val="ctr"/>
        <c:lblOffset val="100"/>
        <c:noMultiLvlLbl val="1"/>
      </c:catAx>
      <c:valAx>
        <c:axId val="252328960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5232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900"/>
      </a:pPr>
      <a:endParaRPr lang="ja-JP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A6D06-0D78-437D-9F0D-905D6BD4567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E745A-8430-431F-B969-4E42882C8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56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みなさま（ビジネスパートナー）のお悩み</a:t>
            </a:r>
            <a:r>
              <a:rPr lang="en-US" altLang="ja-JP" smtClean="0"/>
              <a:t>4</a:t>
            </a:r>
            <a:r>
              <a:rPr lang="ja-JP" altLang="en-US" smtClean="0"/>
              <a:t>つ。このシステムがまとめて解決する。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成約率が上がる理由：これまでの落ち方ごとに、このシステムの対策を並べた。グラフと</a:t>
            </a:r>
            <a:r>
              <a:rPr lang="en-US" altLang="ja-JP" smtClean="0"/>
              <a:t>『</a:t>
            </a:r>
            <a:r>
              <a:rPr lang="ja-JP" altLang="en-US" smtClean="0"/>
              <a:t>約</a:t>
            </a:r>
            <a:r>
              <a:rPr lang="en-US" altLang="ja-JP" smtClean="0"/>
              <a:t>2.2</a:t>
            </a:r>
            <a:r>
              <a:rPr lang="ja-JP" altLang="en-US" smtClean="0"/>
              <a:t>倍</a:t>
            </a:r>
            <a:r>
              <a:rPr lang="en-US" altLang="ja-JP" smtClean="0"/>
              <a:t>』</a:t>
            </a:r>
            <a:r>
              <a:rPr lang="ja-JP" altLang="en-US" smtClean="0"/>
              <a:t>は仮の数字（イメージ）。実際は記録して測る。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システムの流れ（たたき台）。準備：</a:t>
            </a:r>
            <a:r>
              <a:rPr lang="en-US" altLang="ja-JP" smtClean="0"/>
              <a:t>1) </a:t>
            </a:r>
            <a:r>
              <a:rPr lang="ja-JP" altLang="en-US" smtClean="0"/>
              <a:t>ビジネスパートナーがエンジニアの基本情報を登録 </a:t>
            </a:r>
            <a:r>
              <a:rPr lang="en-US" altLang="ja-JP" smtClean="0"/>
              <a:t>2) </a:t>
            </a:r>
            <a:r>
              <a:rPr lang="ja-JP" altLang="en-US" smtClean="0"/>
              <a:t>エンジニアが自分の情報を登録し、やり取りしながら理想のスキルシートを作る。ここでひと区切り。案件ごと：</a:t>
            </a:r>
            <a:r>
              <a:rPr lang="en-US" altLang="ja-JP" smtClean="0"/>
              <a:t>3) </a:t>
            </a:r>
            <a:r>
              <a:rPr lang="ja-JP" altLang="en-US" smtClean="0"/>
              <a:t>案件が届き、システムが条件に合うエンジニアを選んで送る（所属先にも通知） </a:t>
            </a:r>
            <a:r>
              <a:rPr lang="en-US" altLang="ja-JP" smtClean="0"/>
              <a:t>4) </a:t>
            </a:r>
            <a:r>
              <a:rPr lang="ja-JP" altLang="en-US" smtClean="0"/>
              <a:t>エンジニアが応募 </a:t>
            </a:r>
            <a:r>
              <a:rPr lang="en-US" altLang="ja-JP" smtClean="0"/>
              <a:t>5) </a:t>
            </a:r>
            <a:r>
              <a:rPr lang="ja-JP" altLang="en-US" smtClean="0"/>
              <a:t>面談の依頼が入る。このとき面談対策の</a:t>
            </a:r>
            <a:r>
              <a:rPr lang="en-US" altLang="ja-JP" smtClean="0"/>
              <a:t>Q&amp;A</a:t>
            </a:r>
            <a:r>
              <a:rPr lang="ja-JP" altLang="en-US" smtClean="0"/>
              <a:t>を提案 </a:t>
            </a:r>
            <a:r>
              <a:rPr lang="en-US" altLang="ja-JP" smtClean="0"/>
              <a:t>6) </a:t>
            </a:r>
            <a:r>
              <a:rPr lang="ja-JP" altLang="en-US" smtClean="0"/>
              <a:t>面談→合格。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締め：みなさまで結束（グループ化）すれば、受けられる案件が増え、人が足りない案件も埋められ、決まるほど案件が集まる。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Parks（仮）｜ご提案（たたき台）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みなさまとエンジニアが、気楽に参加できる場</a:t>
            </a:r>
            <a:endParaRPr lang="en-US" sz="1600" dirty="0"/>
          </a:p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みなさまのエンジニアの成約率を、ぐっと上げる仕組み</a:t>
            </a:r>
            <a:endParaRPr lang="en-US" sz="1600" dirty="0"/>
          </a:p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ビジネスパートナーのみなさまへのご提案（たたき台）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みなさまとエンジニアにとって、最適な環境を作りたい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みなさまの手間をなくし</a:t>
            </a:r>
            <a:r>
              <a:rPr 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みなさまのエンジニアのビジネス環境を豊かにしたい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みなさまの、こんなお悩みを解決します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4" name="悩み0カード"/>
          <p:cNvSpPr/>
          <p:nvPr/>
        </p:nvSpPr>
        <p:spPr>
          <a:xfrm>
            <a:off x="457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悩み0円"/>
          <p:cNvSpPr/>
          <p:nvPr/>
        </p:nvSpPr>
        <p:spPr>
          <a:xfrm>
            <a:off x="660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悩み0アイコン" descr="てこ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593850"/>
            <a:ext cx="266700" cy="266700"/>
          </a:xfrm>
          <a:prstGeom prst="rect">
            <a:avLst/>
          </a:prstGeom>
        </p:spPr>
      </p:pic>
      <p:sp>
        <p:nvSpPr>
          <p:cNvPr id="16" name="悩み0題"/>
          <p:cNvSpPr txBox="1"/>
          <p:nvPr/>
        </p:nvSpPr>
        <p:spPr>
          <a:xfrm>
            <a:off x="1397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案件の選択肢が少ない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18" name="悩み0文"/>
          <p:cNvSpPr txBox="1"/>
          <p:nvPr/>
        </p:nvSpPr>
        <p:spPr>
          <a:xfrm>
            <a:off x="1397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案件は個別に待つしかなく、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合う案件に出会いにくい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9" name="悩み1カード"/>
          <p:cNvSpPr/>
          <p:nvPr/>
        </p:nvSpPr>
        <p:spPr>
          <a:xfrm>
            <a:off x="4648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悩み1円"/>
          <p:cNvSpPr/>
          <p:nvPr/>
        </p:nvSpPr>
        <p:spPr>
          <a:xfrm>
            <a:off x="4851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悩み1アイコン" descr="B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50" y="1593850"/>
            <a:ext cx="266700" cy="266700"/>
          </a:xfrm>
          <a:prstGeom prst="rect">
            <a:avLst/>
          </a:prstGeom>
        </p:spPr>
      </p:pic>
      <p:sp>
        <p:nvSpPr>
          <p:cNvPr id="21" name="悩み1題"/>
          <p:cNvSpPr txBox="1"/>
          <p:nvPr/>
        </p:nvSpPr>
        <p:spPr>
          <a:xfrm>
            <a:off x="5588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人が足りず、取りこぼす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3" name="悩み1文"/>
          <p:cNvSpPr txBox="1"/>
          <p:nvPr/>
        </p:nvSpPr>
        <p:spPr>
          <a:xfrm>
            <a:off x="5588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せっかくの案件に、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出せるエンジニアがいない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4" name="悩み2カード"/>
          <p:cNvSpPr/>
          <p:nvPr/>
        </p:nvSpPr>
        <p:spPr>
          <a:xfrm>
            <a:off x="457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悩み2円"/>
          <p:cNvSpPr/>
          <p:nvPr/>
        </p:nvSpPr>
        <p:spPr>
          <a:xfrm>
            <a:off x="660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悩み2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" y="2965450"/>
            <a:ext cx="266700" cy="266700"/>
          </a:xfrm>
          <a:prstGeom prst="rect">
            <a:avLst/>
          </a:prstGeom>
        </p:spPr>
      </p:pic>
      <p:sp>
        <p:nvSpPr>
          <p:cNvPr id="28" name="悩み2題"/>
          <p:cNvSpPr txBox="1"/>
          <p:nvPr/>
        </p:nvSpPr>
        <p:spPr>
          <a:xfrm>
            <a:off x="1397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書類・面談で落ちる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9" name="悩み2文"/>
          <p:cNvSpPr txBox="1"/>
          <p:nvPr/>
        </p:nvSpPr>
        <p:spPr>
          <a:xfrm>
            <a:off x="1397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スキルシートや受け答えの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準備が追いつかない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0" name="悩み3カード"/>
          <p:cNvSpPr/>
          <p:nvPr/>
        </p:nvSpPr>
        <p:spPr>
          <a:xfrm>
            <a:off x="4648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悩み3円"/>
          <p:cNvSpPr/>
          <p:nvPr/>
        </p:nvSpPr>
        <p:spPr>
          <a:xfrm>
            <a:off x="4851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悩み3アイコン" descr="想い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450" y="2965450"/>
            <a:ext cx="266700" cy="266700"/>
          </a:xfrm>
          <a:prstGeom prst="rect">
            <a:avLst/>
          </a:prstGeom>
        </p:spPr>
      </p:pic>
      <p:sp>
        <p:nvSpPr>
          <p:cNvPr id="33" name="悩み3題"/>
          <p:cNvSpPr txBox="1"/>
          <p:nvPr/>
        </p:nvSpPr>
        <p:spPr>
          <a:xfrm>
            <a:off x="5588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ノウハウがたまらない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4" name="悩み3文"/>
          <p:cNvSpPr txBox="1"/>
          <p:nvPr/>
        </p:nvSpPr>
        <p:spPr>
          <a:xfrm>
            <a:off x="5588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落ちた理由も、通った型も、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社内に残らない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5" name="解決帯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このシステムが、まとめて解決します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292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このシステムで、成約率が上がります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15" name="成約率グラフ"/>
          <p:cNvGraphicFramePr/>
          <p:nvPr>
            <p:extLst>
              <p:ext uri="{D42A27DB-BD31-4B8C-83A1-F6EECF244321}">
                <p14:modId xmlns:p14="http://schemas.microsoft.com/office/powerpoint/2010/main" val="3074763708"/>
              </p:ext>
            </p:extLst>
          </p:nvPr>
        </p:nvGraphicFramePr>
        <p:xfrm>
          <a:off x="381000" y="1905000"/>
          <a:ext cx="33274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グラフ注記"/>
          <p:cNvSpPr txBox="1"/>
          <p:nvPr/>
        </p:nvSpPr>
        <p:spPr>
          <a:xfrm>
            <a:off x="457200" y="3683000"/>
            <a:ext cx="3251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000" smtClean="0">
                <a:solidFill>
                  <a:srgbClr val="7A8CA3"/>
                </a:solidFill>
                <a:latin typeface="Meiryo"/>
                <a:ea typeface="Meiryo"/>
              </a:rPr>
              <a:t>イメージです（仮の数字）。実際は記録して測ります。</a:t>
            </a:r>
            <a:endParaRPr kumimoji="1" lang="ja-JP" altLang="en-US" sz="100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16" name="見出し今"/>
          <p:cNvSpPr txBox="1"/>
          <p:nvPr/>
        </p:nvSpPr>
        <p:spPr>
          <a:xfrm>
            <a:off x="3810000" y="109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100" b="1" smtClean="0">
                <a:solidFill>
                  <a:srgbClr val="6E6E6E"/>
                </a:solidFill>
                <a:latin typeface="Meiryo"/>
                <a:ea typeface="Meiryo"/>
              </a:rPr>
              <a:t>これまで</a:t>
            </a:r>
            <a:endParaRPr kumimoji="1" lang="ja-JP" altLang="en-US" sz="1100" b="1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17" name="見出し後"/>
          <p:cNvSpPr txBox="1"/>
          <p:nvPr/>
        </p:nvSpPr>
        <p:spPr>
          <a:xfrm>
            <a:off x="5943600" y="1092200"/>
            <a:ext cx="2743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100" b="1" smtClean="0">
                <a:solidFill>
                  <a:srgbClr val="4A7FB5"/>
                </a:solidFill>
                <a:latin typeface="Meiryo"/>
                <a:ea typeface="Meiryo"/>
              </a:rPr>
              <a:t>このシステムで</a:t>
            </a:r>
            <a:endParaRPr kumimoji="1" lang="ja-JP" altLang="en-US" sz="11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18" name="今0"/>
          <p:cNvSpPr/>
          <p:nvPr/>
        </p:nvSpPr>
        <p:spPr>
          <a:xfrm>
            <a:off x="3810000" y="1346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合わない人を出す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19" name="改善矢印0"/>
          <p:cNvSpPr/>
          <p:nvPr/>
        </p:nvSpPr>
        <p:spPr>
          <a:xfrm>
            <a:off x="5664200" y="1511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後0"/>
          <p:cNvSpPr/>
          <p:nvPr/>
        </p:nvSpPr>
        <p:spPr>
          <a:xfrm>
            <a:off x="5969000" y="13462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後0円"/>
          <p:cNvSpPr/>
          <p:nvPr/>
        </p:nvSpPr>
        <p:spPr>
          <a:xfrm>
            <a:off x="6070600" y="14351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後0アイコン" descr="てこ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36700"/>
            <a:ext cx="177800" cy="177800"/>
          </a:xfrm>
          <a:prstGeom prst="rect">
            <a:avLst/>
          </a:prstGeom>
        </p:spPr>
      </p:pic>
      <p:sp>
        <p:nvSpPr>
          <p:cNvPr id="22" name="後0文"/>
          <p:cNvSpPr txBox="1"/>
          <p:nvPr/>
        </p:nvSpPr>
        <p:spPr>
          <a:xfrm>
            <a:off x="6553200" y="13461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いちばん合う人を選ぶ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4" name="今1"/>
          <p:cNvSpPr/>
          <p:nvPr/>
        </p:nvSpPr>
        <p:spPr>
          <a:xfrm>
            <a:off x="3810000" y="20066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書類で落ちる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26" name="改善矢印1"/>
          <p:cNvSpPr/>
          <p:nvPr/>
        </p:nvSpPr>
        <p:spPr>
          <a:xfrm>
            <a:off x="5664200" y="2171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後1"/>
          <p:cNvSpPr/>
          <p:nvPr/>
        </p:nvSpPr>
        <p:spPr>
          <a:xfrm>
            <a:off x="5969000" y="20066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後1円"/>
          <p:cNvSpPr/>
          <p:nvPr/>
        </p:nvSpPr>
        <p:spPr>
          <a:xfrm>
            <a:off x="6070600" y="20955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後1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197100"/>
            <a:ext cx="177800" cy="177800"/>
          </a:xfrm>
          <a:prstGeom prst="rect">
            <a:avLst/>
          </a:prstGeom>
        </p:spPr>
      </p:pic>
      <p:sp>
        <p:nvSpPr>
          <p:cNvPr id="30" name="後1文"/>
          <p:cNvSpPr txBox="1"/>
          <p:nvPr/>
        </p:nvSpPr>
        <p:spPr>
          <a:xfrm>
            <a:off x="6553200" y="20065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理想のスキルシートを作る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1" name="今2"/>
          <p:cNvSpPr/>
          <p:nvPr/>
        </p:nvSpPr>
        <p:spPr>
          <a:xfrm>
            <a:off x="3810000" y="26670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面談で落ちる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32" name="改善矢印2"/>
          <p:cNvSpPr/>
          <p:nvPr/>
        </p:nvSpPr>
        <p:spPr>
          <a:xfrm>
            <a:off x="5664200" y="28321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後2"/>
          <p:cNvSpPr/>
          <p:nvPr/>
        </p:nvSpPr>
        <p:spPr>
          <a:xfrm>
            <a:off x="5969000" y="26670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後2円"/>
          <p:cNvSpPr/>
          <p:nvPr/>
        </p:nvSpPr>
        <p:spPr>
          <a:xfrm>
            <a:off x="6070600" y="27559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後2アイコン" descr="てこ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57500"/>
            <a:ext cx="177800" cy="177800"/>
          </a:xfrm>
          <a:prstGeom prst="rect">
            <a:avLst/>
          </a:prstGeom>
        </p:spPr>
      </p:pic>
      <p:sp>
        <p:nvSpPr>
          <p:cNvPr id="36" name="後2文"/>
          <p:cNvSpPr txBox="1"/>
          <p:nvPr/>
        </p:nvSpPr>
        <p:spPr>
          <a:xfrm>
            <a:off x="6553200" y="26669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smtClean="0">
                <a:solidFill>
                  <a:srgbClr val="4A7FB5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で準備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7" name="今3"/>
          <p:cNvSpPr/>
          <p:nvPr/>
        </p:nvSpPr>
        <p:spPr>
          <a:xfrm>
            <a:off x="3810000" y="33274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落ちた理由が残らない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38" name="改善矢印3"/>
          <p:cNvSpPr/>
          <p:nvPr/>
        </p:nvSpPr>
        <p:spPr>
          <a:xfrm>
            <a:off x="5664200" y="3492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後3"/>
          <p:cNvSpPr/>
          <p:nvPr/>
        </p:nvSpPr>
        <p:spPr>
          <a:xfrm>
            <a:off x="5969000" y="33274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後3円"/>
          <p:cNvSpPr/>
          <p:nvPr/>
        </p:nvSpPr>
        <p:spPr>
          <a:xfrm>
            <a:off x="6070600" y="34163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後3アイコン" descr="ループ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517900"/>
            <a:ext cx="177800" cy="177800"/>
          </a:xfrm>
          <a:prstGeom prst="rect">
            <a:avLst/>
          </a:prstGeom>
        </p:spPr>
      </p:pic>
      <p:sp>
        <p:nvSpPr>
          <p:cNvPr id="42" name="後3文"/>
          <p:cNvSpPr txBox="1"/>
          <p:nvPr/>
        </p:nvSpPr>
        <p:spPr>
          <a:xfrm>
            <a:off x="6553200" y="33273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結果をためて次に活かす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3" name="決まる帯"/>
          <p:cNvSpPr/>
          <p:nvPr/>
        </p:nvSpPr>
        <p:spPr>
          <a:xfrm>
            <a:off x="457200" y="4038600"/>
            <a:ext cx="8229600" cy="508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みなさまのエンジニアが、もっと決まる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" name="成約率ラベル"/>
          <p:cNvSpPr txBox="1"/>
          <p:nvPr/>
        </p:nvSpPr>
        <p:spPr>
          <a:xfrm>
            <a:off x="457200" y="1143000"/>
            <a:ext cx="32512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kumimoji="1" lang="ja-JP" altLang="en-US" sz="1200" smtClean="0">
                <a:solidFill>
                  <a:srgbClr val="7A8CA3"/>
                </a:solidFill>
                <a:latin typeface="Meiryo"/>
                <a:ea typeface="Meiryo"/>
              </a:rPr>
              <a:t>応募に対する成約率</a:t>
            </a:r>
            <a:endParaRPr kumimoji="1" lang="ja-JP" altLang="en-US" sz="120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4" name="成約率数字"/>
          <p:cNvSpPr txBox="1"/>
          <p:nvPr/>
        </p:nvSpPr>
        <p:spPr>
          <a:xfrm>
            <a:off x="457200" y="1371600"/>
            <a:ext cx="32512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kumimoji="1" lang="ja-JP" altLang="en-US" sz="3200" b="1" smtClean="0">
                <a:solidFill>
                  <a:srgbClr val="4A7FB5"/>
                </a:solidFill>
                <a:latin typeface="Meiryo"/>
                <a:ea typeface="Meiryo"/>
              </a:rPr>
              <a:t>約</a:t>
            </a:r>
            <a:r>
              <a:rPr kumimoji="1" lang="en-US" altLang="ja-JP" sz="3200" b="1" smtClean="0">
                <a:solidFill>
                  <a:srgbClr val="4A7FB5"/>
                </a:solidFill>
                <a:latin typeface="Meiryo"/>
                <a:ea typeface="Meiryo"/>
              </a:rPr>
              <a:t>2.2</a:t>
            </a:r>
            <a:r>
              <a:rPr kumimoji="1" lang="ja-JP" altLang="en-US" sz="1400" b="1" smtClean="0">
                <a:solidFill>
                  <a:srgbClr val="4A7FB5"/>
                </a:solidFill>
                <a:latin typeface="Meiryo"/>
                <a:ea typeface="Meiryo"/>
              </a:rPr>
              <a:t>倍（仮）</a:t>
            </a:r>
            <a:endParaRPr kumimoji="1" lang="ja-JP" altLang="en-US" sz="1400" b="1">
              <a:solidFill>
                <a:srgbClr val="4A7FB5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8178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登録から合格までの流れ</a:t>
            </a:r>
            <a:endParaRPr lang="en-US" sz="2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6" name="準備ラベル"/>
          <p:cNvSpPr/>
          <p:nvPr/>
        </p:nvSpPr>
        <p:spPr>
          <a:xfrm>
            <a:off x="457200" y="1143000"/>
            <a:ext cx="838200" cy="1270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準備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最初に</a:t>
            </a:r>
            <a:r>
              <a:rPr kumimoji="1" lang="en-US" altLang="ja-JP" sz="1000" dirty="0" smtClean="0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回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7" name="手順1カード"/>
          <p:cNvSpPr/>
          <p:nvPr/>
        </p:nvSpPr>
        <p:spPr>
          <a:xfrm>
            <a:off x="13970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手順1円"/>
          <p:cNvSpPr/>
          <p:nvPr/>
        </p:nvSpPr>
        <p:spPr>
          <a:xfrm>
            <a:off x="15494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手順1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460500"/>
            <a:ext cx="254000" cy="254000"/>
          </a:xfrm>
          <a:prstGeom prst="rect">
            <a:avLst/>
          </a:prstGeom>
        </p:spPr>
      </p:pic>
      <p:sp>
        <p:nvSpPr>
          <p:cNvPr id="40" name="手順1番号"/>
          <p:cNvSpPr/>
          <p:nvPr/>
        </p:nvSpPr>
        <p:spPr>
          <a:xfrm>
            <a:off x="14732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1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1" name="手順1題"/>
          <p:cNvSpPr txBox="1"/>
          <p:nvPr/>
        </p:nvSpPr>
        <p:spPr>
          <a:xfrm>
            <a:off x="21844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みなさまが登録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2" name="手順1文"/>
          <p:cNvSpPr txBox="1"/>
          <p:nvPr/>
        </p:nvSpPr>
        <p:spPr>
          <a:xfrm>
            <a:off x="15494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エンジニアの基本情報を入力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43" name="矢印1"/>
          <p:cNvSpPr/>
          <p:nvPr/>
        </p:nvSpPr>
        <p:spPr>
          <a:xfrm>
            <a:off x="39116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手順2カード"/>
          <p:cNvSpPr/>
          <p:nvPr/>
        </p:nvSpPr>
        <p:spPr>
          <a:xfrm>
            <a:off x="42164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手順2円"/>
          <p:cNvSpPr/>
          <p:nvPr/>
        </p:nvSpPr>
        <p:spPr>
          <a:xfrm>
            <a:off x="43688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手順2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1460500"/>
            <a:ext cx="254000" cy="254000"/>
          </a:xfrm>
          <a:prstGeom prst="rect">
            <a:avLst/>
          </a:prstGeom>
        </p:spPr>
      </p:pic>
      <p:sp>
        <p:nvSpPr>
          <p:cNvPr id="47" name="手順2番号"/>
          <p:cNvSpPr/>
          <p:nvPr/>
        </p:nvSpPr>
        <p:spPr>
          <a:xfrm>
            <a:off x="42926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2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8" name="手順2題"/>
          <p:cNvSpPr txBox="1"/>
          <p:nvPr/>
        </p:nvSpPr>
        <p:spPr>
          <a:xfrm>
            <a:off x="50038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エンジニアが登録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9" name="手順2文"/>
          <p:cNvSpPr txBox="1"/>
          <p:nvPr/>
        </p:nvSpPr>
        <p:spPr>
          <a:xfrm>
            <a:off x="43688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経歴・スキルを入力し、</a:t>
            </a:r>
          </a:p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やり取りしながら仕上げる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50" name="矢印2"/>
          <p:cNvSpPr/>
          <p:nvPr/>
        </p:nvSpPr>
        <p:spPr>
          <a:xfrm>
            <a:off x="67310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成果カード"/>
          <p:cNvSpPr/>
          <p:nvPr/>
        </p:nvSpPr>
        <p:spPr>
          <a:xfrm>
            <a:off x="7035800" y="1143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成果円"/>
          <p:cNvSpPr/>
          <p:nvPr/>
        </p:nvSpPr>
        <p:spPr>
          <a:xfrm>
            <a:off x="7569200" y="1244600"/>
            <a:ext cx="584200" cy="584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成果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1397000"/>
            <a:ext cx="279400" cy="279400"/>
          </a:xfrm>
          <a:prstGeom prst="rect">
            <a:avLst/>
          </a:prstGeom>
        </p:spPr>
      </p:pic>
      <p:sp>
        <p:nvSpPr>
          <p:cNvPr id="54" name="成果文"/>
          <p:cNvSpPr txBox="1"/>
          <p:nvPr/>
        </p:nvSpPr>
        <p:spPr>
          <a:xfrm>
            <a:off x="7112000" y="1879599"/>
            <a:ext cx="1498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理想の</a:t>
            </a:r>
          </a:p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スキルシートが完成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cxnSp>
        <p:nvCxnSpPr>
          <p:cNvPr id="55" name="区切り線"/>
          <p:cNvCxnSpPr/>
          <p:nvPr/>
        </p:nvCxnSpPr>
        <p:spPr>
          <a:xfrm>
            <a:off x="457200" y="2527300"/>
            <a:ext cx="8229600" cy="0"/>
          </a:xfrm>
          <a:prstGeom prst="line">
            <a:avLst/>
          </a:prstGeom>
          <a:ln w="15875">
            <a:solidFill>
              <a:srgbClr val="8DB8D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区切り文"/>
          <p:cNvSpPr txBox="1"/>
          <p:nvPr/>
        </p:nvSpPr>
        <p:spPr>
          <a:xfrm>
            <a:off x="3810000" y="2425700"/>
            <a:ext cx="15240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000" dirty="0" smtClean="0">
                <a:solidFill>
                  <a:srgbClr val="7A8CA3"/>
                </a:solidFill>
                <a:latin typeface="Meiryo"/>
                <a:ea typeface="Meiryo"/>
              </a:rPr>
              <a:t>ここでひと区切り</a:t>
            </a:r>
            <a:endParaRPr kumimoji="1" lang="en-US" altLang="ja-JP" sz="1000" dirty="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57" name="案件ラベル"/>
          <p:cNvSpPr/>
          <p:nvPr/>
        </p:nvSpPr>
        <p:spPr>
          <a:xfrm>
            <a:off x="457200" y="2641600"/>
            <a:ext cx="8382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案件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届くたびに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8" name="手順3カード"/>
          <p:cNvSpPr/>
          <p:nvPr/>
        </p:nvSpPr>
        <p:spPr>
          <a:xfrm>
            <a:off x="139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手順3円"/>
          <p:cNvSpPr/>
          <p:nvPr/>
        </p:nvSpPr>
        <p:spPr>
          <a:xfrm>
            <a:off x="190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0" name="手順3アイコン" descr="てこ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00" y="2908300"/>
            <a:ext cx="254000" cy="254000"/>
          </a:xfrm>
          <a:prstGeom prst="rect">
            <a:avLst/>
          </a:prstGeom>
        </p:spPr>
      </p:pic>
      <p:sp>
        <p:nvSpPr>
          <p:cNvPr id="61" name="手順3番号"/>
          <p:cNvSpPr/>
          <p:nvPr/>
        </p:nvSpPr>
        <p:spPr>
          <a:xfrm>
            <a:off x="179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3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2" name="手順3題"/>
          <p:cNvSpPr txBox="1"/>
          <p:nvPr/>
        </p:nvSpPr>
        <p:spPr>
          <a:xfrm>
            <a:off x="147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案件が届く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3" name="手順3文"/>
          <p:cNvSpPr txBox="1"/>
          <p:nvPr/>
        </p:nvSpPr>
        <p:spPr>
          <a:xfrm>
            <a:off x="149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システムが合う人を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選んで送る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64" name="矢印3"/>
          <p:cNvSpPr/>
          <p:nvPr/>
        </p:nvSpPr>
        <p:spPr>
          <a:xfrm>
            <a:off x="299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手順4カード"/>
          <p:cNvSpPr/>
          <p:nvPr/>
        </p:nvSpPr>
        <p:spPr>
          <a:xfrm>
            <a:off x="3302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手順4円"/>
          <p:cNvSpPr/>
          <p:nvPr/>
        </p:nvSpPr>
        <p:spPr>
          <a:xfrm>
            <a:off x="3810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7" name="手順4アイコン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0" y="2895600"/>
            <a:ext cx="279400" cy="279400"/>
          </a:xfrm>
          <a:prstGeom prst="rect">
            <a:avLst/>
          </a:prstGeom>
        </p:spPr>
      </p:pic>
      <p:sp>
        <p:nvSpPr>
          <p:cNvPr id="68" name="手順4番号"/>
          <p:cNvSpPr/>
          <p:nvPr/>
        </p:nvSpPr>
        <p:spPr>
          <a:xfrm>
            <a:off x="3695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4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9" name="手順4題"/>
          <p:cNvSpPr txBox="1"/>
          <p:nvPr/>
        </p:nvSpPr>
        <p:spPr>
          <a:xfrm>
            <a:off x="3378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応募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0" name="手順4文"/>
          <p:cNvSpPr txBox="1"/>
          <p:nvPr/>
        </p:nvSpPr>
        <p:spPr>
          <a:xfrm>
            <a:off x="3403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エンジニアが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案件に応募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1" name="矢印4"/>
          <p:cNvSpPr/>
          <p:nvPr/>
        </p:nvSpPr>
        <p:spPr>
          <a:xfrm>
            <a:off x="4902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手順5カード"/>
          <p:cNvSpPr/>
          <p:nvPr/>
        </p:nvSpPr>
        <p:spPr>
          <a:xfrm>
            <a:off x="520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手順5円"/>
          <p:cNvSpPr/>
          <p:nvPr/>
        </p:nvSpPr>
        <p:spPr>
          <a:xfrm>
            <a:off x="571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4" name="手順5アイコン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2895600"/>
            <a:ext cx="279400" cy="279400"/>
          </a:xfrm>
          <a:prstGeom prst="rect">
            <a:avLst/>
          </a:prstGeom>
        </p:spPr>
      </p:pic>
      <p:sp>
        <p:nvSpPr>
          <p:cNvPr id="75" name="手順5番号"/>
          <p:cNvSpPr/>
          <p:nvPr/>
        </p:nvSpPr>
        <p:spPr>
          <a:xfrm>
            <a:off x="560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5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6" name="手順5題"/>
          <p:cNvSpPr txBox="1"/>
          <p:nvPr/>
        </p:nvSpPr>
        <p:spPr>
          <a:xfrm>
            <a:off x="528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面談の依頼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7" name="手順5文"/>
          <p:cNvSpPr txBox="1"/>
          <p:nvPr/>
        </p:nvSpPr>
        <p:spPr>
          <a:xfrm>
            <a:off x="530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エンジニアに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依頼が届く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8" name="矢印5"/>
          <p:cNvSpPr/>
          <p:nvPr/>
        </p:nvSpPr>
        <p:spPr>
          <a:xfrm>
            <a:off x="680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手順6カード"/>
          <p:cNvSpPr/>
          <p:nvPr/>
        </p:nvSpPr>
        <p:spPr>
          <a:xfrm>
            <a:off x="7112000" y="2641600"/>
            <a:ext cx="15748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952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手順6円"/>
          <p:cNvSpPr/>
          <p:nvPr/>
        </p:nvSpPr>
        <p:spPr>
          <a:xfrm>
            <a:off x="7632700" y="2768600"/>
            <a:ext cx="533400" cy="533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1" name="手順6アイコン"/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2895600"/>
            <a:ext cx="279400" cy="279400"/>
          </a:xfrm>
          <a:prstGeom prst="rect">
            <a:avLst/>
          </a:prstGeom>
        </p:spPr>
      </p:pic>
      <p:sp>
        <p:nvSpPr>
          <p:cNvPr id="82" name="手順6番号"/>
          <p:cNvSpPr/>
          <p:nvPr/>
        </p:nvSpPr>
        <p:spPr>
          <a:xfrm>
            <a:off x="75184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6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83" name="手順6題"/>
          <p:cNvSpPr txBox="1"/>
          <p:nvPr/>
        </p:nvSpPr>
        <p:spPr>
          <a:xfrm>
            <a:off x="7188200" y="3352800"/>
            <a:ext cx="1422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FFFFFF"/>
                </a:solidFill>
                <a:latin typeface="Meiryo"/>
                <a:ea typeface="Meiryo"/>
              </a:rPr>
              <a:t>面談・合格</a:t>
            </a:r>
            <a:endParaRPr kumimoji="1" lang="en-US" altLang="ja-JP" sz="1200" b="1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84" name="手順6文"/>
          <p:cNvSpPr txBox="1"/>
          <p:nvPr/>
        </p:nvSpPr>
        <p:spPr>
          <a:xfrm>
            <a:off x="7213600" y="3632199"/>
            <a:ext cx="137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面談を受けて</a:t>
            </a:r>
          </a:p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合格（成約）</a:t>
            </a:r>
            <a:endParaRPr kumimoji="1" lang="en-US" altLang="ja-JP" sz="11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cxnSp>
        <p:nvCxnSpPr>
          <p:cNvPr id="85" name="通知線"/>
          <p:cNvCxnSpPr/>
          <p:nvPr/>
        </p:nvCxnSpPr>
        <p:spPr>
          <a:xfrm>
            <a:off x="217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通知カード"/>
          <p:cNvSpPr/>
          <p:nvPr/>
        </p:nvSpPr>
        <p:spPr>
          <a:xfrm>
            <a:off x="1346200" y="4165600"/>
            <a:ext cx="1651000" cy="381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通知円"/>
          <p:cNvSpPr/>
          <p:nvPr/>
        </p:nvSpPr>
        <p:spPr>
          <a:xfrm>
            <a:off x="1422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8" name="通知アイコン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279900"/>
            <a:ext cx="152400" cy="152400"/>
          </a:xfrm>
          <a:prstGeom prst="rect">
            <a:avLst/>
          </a:prstGeom>
        </p:spPr>
      </p:pic>
      <p:sp>
        <p:nvSpPr>
          <p:cNvPr id="89" name="通知文"/>
          <p:cNvSpPr txBox="1"/>
          <p:nvPr/>
        </p:nvSpPr>
        <p:spPr>
          <a:xfrm>
            <a:off x="1778000" y="4165599"/>
            <a:ext cx="116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 b="1" smtClean="0">
                <a:solidFill>
                  <a:srgbClr val="4A7FB5"/>
                </a:solidFill>
                <a:latin typeface="Meiryo"/>
                <a:ea typeface="Meiryo"/>
              </a:rPr>
              <a:t>みなさまにも通知</a:t>
            </a:r>
            <a:endParaRPr kumimoji="1" lang="en-US" altLang="ja-JP" sz="11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cxnSp>
        <p:nvCxnSpPr>
          <p:cNvPr id="90" name="QA線"/>
          <p:cNvCxnSpPr/>
          <p:nvPr/>
        </p:nvCxnSpPr>
        <p:spPr>
          <a:xfrm>
            <a:off x="598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QAカード"/>
          <p:cNvSpPr/>
          <p:nvPr/>
        </p:nvSpPr>
        <p:spPr>
          <a:xfrm>
            <a:off x="4902200" y="4165600"/>
            <a:ext cx="2159000" cy="381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QA円"/>
          <p:cNvSpPr/>
          <p:nvPr/>
        </p:nvSpPr>
        <p:spPr>
          <a:xfrm>
            <a:off x="4978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3" name="QAアイコン" descr="てこ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900" y="4279900"/>
            <a:ext cx="152400" cy="152400"/>
          </a:xfrm>
          <a:prstGeom prst="rect">
            <a:avLst/>
          </a:prstGeom>
        </p:spPr>
      </p:pic>
      <p:sp>
        <p:nvSpPr>
          <p:cNvPr id="94" name="QA文"/>
          <p:cNvSpPr txBox="1"/>
          <p:nvPr/>
        </p:nvSpPr>
        <p:spPr>
          <a:xfrm>
            <a:off x="5334000" y="4165599"/>
            <a:ext cx="167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dirty="0" smtClean="0">
                <a:solidFill>
                  <a:srgbClr val="2B4A6F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を提案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みなさまで結束すれば、仕事は増えます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4" name="仲間0"/>
          <p:cNvSpPr/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5" name="仲間1"/>
          <p:cNvSpPr/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6" name="仲間2"/>
          <p:cNvSpPr/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7" name="結束矢印1"/>
          <p:cNvSpPr/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GP円"/>
          <p:cNvSpPr/>
          <p:nvPr/>
        </p:nvSpPr>
        <p:spPr>
          <a:xfrm>
            <a:off x="2286000" y="1600200"/>
            <a:ext cx="1219200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 smtClean="0">
                <a:solidFill>
                  <a:srgbClr val="FFFFFF"/>
                </a:solidFill>
                <a:latin typeface="Meiryo"/>
                <a:ea typeface="Meiryo"/>
              </a:rPr>
              <a:t>GP</a:t>
            </a:r>
          </a:p>
          <a:p>
            <a:pPr algn="ctr"/>
            <a:r>
              <a:rPr kumimoji="1" lang="ja-JP" altLang="en-US" sz="900" smtClean="0">
                <a:solidFill>
                  <a:srgbClr val="FFFFFF"/>
                </a:solidFill>
                <a:latin typeface="Meiryo"/>
                <a:ea typeface="Meiryo"/>
              </a:rPr>
              <a:t>（グループ）</a:t>
            </a:r>
            <a:endParaRPr kumimoji="1" lang="ja-JP" altLang="en-US" sz="90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19" name="結束矢印2"/>
          <p:cNvSpPr/>
          <p:nvPr/>
        </p:nvSpPr>
        <p:spPr>
          <a:xfrm>
            <a:off x="35814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案件0"/>
          <p:cNvSpPr/>
          <p:nvPr/>
        </p:nvSpPr>
        <p:spPr>
          <a:xfrm>
            <a:off x="3911600" y="11684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1" name="案件1"/>
          <p:cNvSpPr/>
          <p:nvPr/>
        </p:nvSpPr>
        <p:spPr>
          <a:xfrm>
            <a:off x="3911600" y="17272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2" name="案件2"/>
          <p:cNvSpPr/>
          <p:nvPr/>
        </p:nvSpPr>
        <p:spPr>
          <a:xfrm>
            <a:off x="3911600" y="22860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3" name="案件3"/>
          <p:cNvSpPr/>
          <p:nvPr/>
        </p:nvSpPr>
        <p:spPr>
          <a:xfrm>
            <a:off x="3911600" y="28448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4" name="結束説明"/>
          <p:cNvSpPr txBox="1"/>
          <p:nvPr/>
        </p:nvSpPr>
        <p:spPr>
          <a:xfrm>
            <a:off x="457200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みなさまの案件とエンジニアを、ひとつのグループに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6" name="利点0"/>
          <p:cNvSpPr/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利点0円"/>
          <p:cNvSpPr/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利点0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/>
          <p:cNvSpPr txBox="1"/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1200" b="1" smtClean="0">
                <a:solidFill>
                  <a:srgbClr val="2B4A6F"/>
                </a:solidFill>
                <a:latin typeface="Meiryo"/>
                <a:ea typeface="Meiryo"/>
              </a:rPr>
              <a:t>1</a:t>
            </a:r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社では受けきれない案件も、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みんなで受けられる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0" name="利点1"/>
          <p:cNvSpPr/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利点1円"/>
          <p:cNvSpPr/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利点1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/>
          <p:cNvSpPr txBox="1"/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人が足りない案件も、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仲間のエンジニアで埋められる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4" name="利点2"/>
          <p:cNvSpPr/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利点2円"/>
          <p:cNvSpPr/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利点2アイコン" descr="ループ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/>
          <p:cNvSpPr txBox="1"/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決まるほど信頼が増え、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案件が集まってくる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8" name="結束帯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ひとりで待つより、みんなで取りにいく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画面に合わせる (16:9)</PresentationFormat>
  <Paragraphs>108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Parks（仮）</vt:lpstr>
      <vt:lpstr>このプロジェクトに賭ける私の想い</vt:lpstr>
      <vt:lpstr>みなさまの、こんなお悩みを解決します</vt:lpstr>
      <vt:lpstr>このシステムで、成約率が上がります</vt:lpstr>
      <vt:lpstr>登録から合格までの流れ</vt:lpstr>
      <vt:lpstr>みなさまで結束すれば、仕事は増えます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rock@jona.jp</cp:lastModifiedBy>
  <cp:revision>6</cp:revision>
  <dcterms:created xsi:type="dcterms:W3CDTF">2026-10-13T22:51:16Z</dcterms:created>
  <dcterms:modified xsi:type="dcterms:W3CDTF">2026-10-14T00:28:01Z</dcterms:modified>
</cp:coreProperties>
</file>