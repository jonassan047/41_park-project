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94d8fb28-e0e7-86d4-ee6e-02b0071c1887}">
          <p14:sldIdLst>
            <p14:sldId id="256"/>
          </p14:sldIdLst>
        </p14:section>
        <p14:section name="背景と提案" id="{2565e060-6747-c7e4-8df4-6a1ede828083}">
          <p14:sldIdLst>
            <p14:sldId id="257"/>
            <p14:sldId id="258"/>
            <p14:sldId id="259"/>
            <p14:sldId id="260"/>
          </p14:sldIdLst>
        </p14:section>
        <p14:section name="費用と安心" id="{d94d14f2-f2be-ac4a-6779-78e1b0c97b00}">
          <p14:sldIdLst>
            <p14:sldId id="261"/>
            <p14:sldId id="262"/>
            <p14:sldId id="263"/>
          </p14:sldIdLst>
        </p14:section>
        <p14:section name="進め方" id="{03e19d94-3a72-8688-49f1-41e71318a40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A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3A2B"/>
                </a:solidFill>
                <a:latin typeface="+mn-lt"/>
              </a:rPr>
              <a:t>月額70万円・契約3か月の例（万円）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3か月の金額（万円）</c:v>
                </c:pt>
              </c:strCache>
            </c:strRef>
          </c:tx>
          <c:spPr>
            <a:solidFill>
              <a:srgbClr val="6FB5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A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B5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B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BP の取り分</c:v>
                  </c:pt>
                  <c:pt idx="1">
                    <c:v>GP への報酬</c:v>
                  </c:pt>
                  <c:pt idx="2">
                    <c:v>BP の手元に残る額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11.2</c:v>
                </c:pt>
                <c:pt idx="2">
                  <c:v>30.8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3A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A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926080"/>
            <a:ext cx="5303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Parks（仮）｜阿部さん向け企画書（たたき台）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Parks（仮）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9260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BP がつながり、EG が気楽に参加できる場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阿部さんへのご提案（たたき台）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2026年10月14日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いま、BP と EG に起きていること</a:t>
            </a:r>
            <a:endParaRPr lang="en-US" sz="2800" dirty="0"/>
          </a:p>
        </p:txBody>
      </p:sp>
      <p:sp>
        <p:nvSpPr>
          <p:cNvPr id="3" name="BPカード"/>
          <p:cNvSpPr/>
          <p:nvPr/>
        </p:nvSpPr>
        <p:spPr>
          <a:xfrm>
            <a:off x="457200" y="1234440"/>
            <a:ext cx="39776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BP本文"/>
          <p:cNvSpPr txBox="1"/>
          <p:nvPr/>
        </p:nvSpPr>
        <p:spPr>
          <a:xfrm>
            <a:off x="685800" y="13716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BP（協力会社）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案件を、それぞれ個別に待っている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仲間との連携は、友人関係の範囲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人が足りない案件を、取りこぼす</a:t>
            </a:r>
            <a:endParaRPr lang="en-US" sz="1600" dirty="0"/>
          </a:p>
        </p:txBody>
      </p:sp>
      <p:sp>
        <p:nvSpPr>
          <p:cNvPr id="5" name="EGカード"/>
          <p:cNvSpPr/>
          <p:nvPr/>
        </p:nvSpPr>
        <p:spPr>
          <a:xfrm>
            <a:off x="4709160" y="1234440"/>
            <a:ext cx="39776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EG本文"/>
          <p:cNvSpPr txBox="1"/>
          <p:nvPr/>
        </p:nvSpPr>
        <p:spPr>
          <a:xfrm>
            <a:off x="4937760" y="13716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EG（エンジニア）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現場で孤独になりやすい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技術や知識が、次に残りにくい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案件の選択肢が、所属先の中だけ</a:t>
            </a:r>
            <a:endParaRPr lang="en-US" sz="1600" dirty="0"/>
          </a:p>
        </p:txBody>
      </p:sp>
      <p:sp>
        <p:nvSpPr>
          <p:cNvPr id="7" name="メッセージ帯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メッセージ文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BP を束ねれば、案件も人も、もっと活かせるはずです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ご提案：BP を束ねて「GP」に</a:t>
            </a:r>
            <a:endParaRPr lang="en-US" sz="2800" dirty="0"/>
          </a:p>
        </p:txBody>
      </p:sp>
      <p:sp>
        <p:nvSpPr>
          <p:cNvPr id="3" name="BP箱1"/>
          <p:cNvSpPr/>
          <p:nvPr/>
        </p:nvSpPr>
        <p:spPr>
          <a:xfrm>
            <a:off x="457200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BP箱文1"/>
          <p:cNvSpPr txBox="1"/>
          <p:nvPr/>
        </p:nvSpPr>
        <p:spPr>
          <a:xfrm>
            <a:off x="45720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BP-A（EG 多数）</a:t>
            </a:r>
            <a:endParaRPr lang="en-US" sz="1400" dirty="0"/>
          </a:p>
        </p:txBody>
      </p:sp>
      <p:sp>
        <p:nvSpPr>
          <p:cNvPr id="5" name="BP箱2"/>
          <p:cNvSpPr/>
          <p:nvPr/>
        </p:nvSpPr>
        <p:spPr>
          <a:xfrm>
            <a:off x="457200" y="224028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BP箱文2"/>
          <p:cNvSpPr txBox="1"/>
          <p:nvPr/>
        </p:nvSpPr>
        <p:spPr>
          <a:xfrm>
            <a:off x="45720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BP-B（EG 多数）</a:t>
            </a:r>
            <a:endParaRPr lang="en-US" sz="1400" dirty="0"/>
          </a:p>
        </p:txBody>
      </p:sp>
      <p:sp>
        <p:nvSpPr>
          <p:cNvPr id="7" name="BP箱3"/>
          <p:cNvSpPr/>
          <p:nvPr/>
        </p:nvSpPr>
        <p:spPr>
          <a:xfrm>
            <a:off x="457200" y="320040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BP箱文3"/>
          <p:cNvSpPr txBox="1"/>
          <p:nvPr/>
        </p:nvSpPr>
        <p:spPr>
          <a:xfrm>
            <a:off x="45720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BP-C（EG 多数）</a:t>
            </a:r>
            <a:endParaRPr lang="en-US" sz="1400" dirty="0"/>
          </a:p>
        </p:txBody>
      </p:sp>
      <p:sp>
        <p:nvSpPr>
          <p:cNvPr id="9" name="矢印1"/>
          <p:cNvSpPr/>
          <p:nvPr/>
        </p:nvSpPr>
        <p:spPr>
          <a:xfrm>
            <a:off x="2971800" y="2286000"/>
            <a:ext cx="640080" cy="4572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GP円"/>
          <p:cNvSpPr/>
          <p:nvPr/>
        </p:nvSpPr>
        <p:spPr>
          <a:xfrm>
            <a:off x="3703320" y="141732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GP文"/>
          <p:cNvSpPr txBox="1"/>
          <p:nvPr/>
        </p:nvSpPr>
        <p:spPr>
          <a:xfrm>
            <a:off x="3703320" y="14173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 EG を共有</a:t>
            </a:r>
            <a:endParaRPr lang="en-US" sz="3200" dirty="0"/>
          </a:p>
        </p:txBody>
      </p:sp>
      <p:sp>
        <p:nvSpPr>
          <p:cNvPr id="12" name="矢印2"/>
          <p:cNvSpPr/>
          <p:nvPr/>
        </p:nvSpPr>
        <p:spPr>
          <a:xfrm>
            <a:off x="5989320" y="2286000"/>
            <a:ext cx="640080" cy="4572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案件箱"/>
          <p:cNvSpPr/>
          <p:nvPr/>
        </p:nvSpPr>
        <p:spPr>
          <a:xfrm>
            <a:off x="6766560" y="182880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案件文"/>
          <p:cNvSpPr txBox="1"/>
          <p:nvPr/>
        </p:nvSpPr>
        <p:spPr>
          <a:xfrm>
            <a:off x="6766560" y="1828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適した EG へ</a:t>
            </a:r>
            <a:endParaRPr lang="en-US" sz="1800" dirty="0"/>
          </a:p>
        </p:txBody>
      </p:sp>
      <p:sp>
        <p:nvSpPr>
          <p:cNvPr id="15" name="GP説明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 に来た案件を、所属するすべての EG の中から、いちばん合う人に結びつけます。BP のあいだに壁はつくりません。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EG の成約を支える、3つの支援</a:t>
            </a:r>
            <a:endParaRPr lang="en-US" sz="2800" dirty="0"/>
          </a:p>
        </p:txBody>
      </p:sp>
      <p:sp>
        <p:nvSpPr>
          <p:cNvPr id="3" name="支援カード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支援1円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支援1番号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支援題1"/>
          <p:cNvSpPr txBox="1"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案件の仕分けと応募</a:t>
            </a:r>
            <a:endParaRPr lang="en-US" sz="1600" dirty="0"/>
          </a:p>
        </p:txBody>
      </p:sp>
      <p:sp>
        <p:nvSpPr>
          <p:cNvPr id="7" name="支援文1"/>
          <p:cNvSpPr txBox="1"/>
          <p:nvPr/>
        </p:nvSpPr>
        <p:spPr>
          <a:xfrm>
            <a:off x="64008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届いた案件を整理し、合う EG に応募します。</a:t>
            </a:r>
            <a:endParaRPr lang="en-US" sz="1400" dirty="0"/>
          </a:p>
        </p:txBody>
      </p:sp>
      <p:sp>
        <p:nvSpPr>
          <p:cNvPr id="8" name="支援カード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支援2円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支援2番号"/>
          <p:cNvSpPr txBox="1"/>
          <p:nvPr/>
        </p:nvSpPr>
        <p:spPr>
          <a:xfrm>
            <a:off x="34747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支援題2"/>
          <p:cNvSpPr txBox="1"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スキルシートの作成</a:t>
            </a:r>
            <a:endParaRPr lang="en-US" sz="1600" dirty="0"/>
          </a:p>
        </p:txBody>
      </p:sp>
      <p:sp>
        <p:nvSpPr>
          <p:cNvPr id="12" name="支援文2"/>
          <p:cNvSpPr txBox="1"/>
          <p:nvPr/>
        </p:nvSpPr>
        <p:spPr>
          <a:xfrm>
            <a:off x="347472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案件に合わせて、見栄えのいいスキルシートを用意します。</a:t>
            </a:r>
            <a:endParaRPr lang="en-US" sz="1400" dirty="0"/>
          </a:p>
        </p:txBody>
      </p:sp>
      <p:sp>
        <p:nvSpPr>
          <p:cNvPr id="13" name="支援カード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支援3円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支援3番号"/>
          <p:cNvSpPr txBox="1"/>
          <p:nvPr/>
        </p:nvSpPr>
        <p:spPr>
          <a:xfrm>
            <a:off x="6309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支援題3"/>
          <p:cNvSpPr txBox="1"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面談の質疑応答集</a:t>
            </a:r>
            <a:endParaRPr lang="en-US" sz="1600" dirty="0"/>
          </a:p>
        </p:txBody>
      </p:sp>
      <p:sp>
        <p:nvSpPr>
          <p:cNvPr id="17" name="支援文3"/>
          <p:cNvSpPr txBox="1"/>
          <p:nvPr/>
        </p:nvSpPr>
        <p:spPr>
          <a:xfrm>
            <a:off x="630936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聞かれそうな質問と、答え方を用意します。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案件が決まるまでの流れ</a:t>
            </a:r>
            <a:endParaRPr lang="en-US" sz="2800" dirty="0"/>
          </a:p>
        </p:txBody>
      </p:sp>
      <p:sp>
        <p:nvSpPr>
          <p:cNvPr id="3" name="流れ1円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流れ1番号"/>
          <p:cNvSpPr txBox="1"/>
          <p:nvPr/>
        </p:nvSpPr>
        <p:spPr>
          <a:xfrm>
            <a:off x="960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流れ文1"/>
          <p:cNvSpPr txBox="1"/>
          <p:nvPr/>
        </p:nvSpPr>
        <p:spPr>
          <a:xfrm>
            <a:off x="36576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 に届く</a:t>
            </a:r>
            <a:endParaRPr lang="en-US" sz="1400" dirty="0"/>
          </a:p>
        </p:txBody>
      </p:sp>
      <p:sp>
        <p:nvSpPr>
          <p:cNvPr id="6" name="流れ矢印1"/>
          <p:cNvSpPr/>
          <p:nvPr/>
        </p:nvSpPr>
        <p:spPr>
          <a:xfrm>
            <a:off x="1874520" y="155448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流れ2円"/>
          <p:cNvSpPr/>
          <p:nvPr/>
        </p:nvSpPr>
        <p:spPr>
          <a:xfrm>
            <a:off x="2624328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流れ2番号"/>
          <p:cNvSpPr txBox="1"/>
          <p:nvPr/>
        </p:nvSpPr>
        <p:spPr>
          <a:xfrm>
            <a:off x="26243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流れ文2"/>
          <p:cNvSpPr txBox="1"/>
          <p:nvPr/>
        </p:nvSpPr>
        <p:spPr>
          <a:xfrm>
            <a:off x="2029968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合う EG 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</a:t>
            </a:r>
            <a:endParaRPr lang="en-US" sz="1400" dirty="0"/>
          </a:p>
        </p:txBody>
      </p:sp>
      <p:sp>
        <p:nvSpPr>
          <p:cNvPr id="10" name="流れ矢印2"/>
          <p:cNvSpPr/>
          <p:nvPr/>
        </p:nvSpPr>
        <p:spPr>
          <a:xfrm>
            <a:off x="3538728" y="155448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流れ3円"/>
          <p:cNvSpPr/>
          <p:nvPr/>
        </p:nvSpPr>
        <p:spPr>
          <a:xfrm>
            <a:off x="4288536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流れ3番号"/>
          <p:cNvSpPr txBox="1"/>
          <p:nvPr/>
        </p:nvSpPr>
        <p:spPr>
          <a:xfrm>
            <a:off x="428853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流れ文3"/>
          <p:cNvSpPr txBox="1"/>
          <p:nvPr/>
        </p:nvSpPr>
        <p:spPr>
          <a:xfrm>
            <a:off x="3694176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スキルシートで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</a:t>
            </a:r>
            <a:endParaRPr lang="en-US" sz="1400" dirty="0"/>
          </a:p>
        </p:txBody>
      </p:sp>
      <p:sp>
        <p:nvSpPr>
          <p:cNvPr id="14" name="流れ矢印3"/>
          <p:cNvSpPr/>
          <p:nvPr/>
        </p:nvSpPr>
        <p:spPr>
          <a:xfrm>
            <a:off x="5202936" y="155448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流れ4円"/>
          <p:cNvSpPr/>
          <p:nvPr/>
        </p:nvSpPr>
        <p:spPr>
          <a:xfrm>
            <a:off x="5952744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流れ4番号"/>
          <p:cNvSpPr txBox="1"/>
          <p:nvPr/>
        </p:nvSpPr>
        <p:spPr>
          <a:xfrm>
            <a:off x="595274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流れ文4"/>
          <p:cNvSpPr txBox="1"/>
          <p:nvPr/>
        </p:nvSpPr>
        <p:spPr>
          <a:xfrm>
            <a:off x="5358384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Q&amp;A で準備</a:t>
            </a:r>
            <a:endParaRPr lang="en-US" sz="1400" dirty="0"/>
          </a:p>
        </p:txBody>
      </p:sp>
      <p:sp>
        <p:nvSpPr>
          <p:cNvPr id="18" name="流れ矢印4"/>
          <p:cNvSpPr/>
          <p:nvPr/>
        </p:nvSpPr>
        <p:spPr>
          <a:xfrm>
            <a:off x="6867144" y="155448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流れ5円"/>
          <p:cNvSpPr/>
          <p:nvPr/>
        </p:nvSpPr>
        <p:spPr>
          <a:xfrm>
            <a:off x="7616952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流れ5番号"/>
          <p:cNvSpPr txBox="1"/>
          <p:nvPr/>
        </p:nvSpPr>
        <p:spPr>
          <a:xfrm>
            <a:off x="761695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流れ文5"/>
          <p:cNvSpPr txBox="1"/>
          <p:nvPr/>
        </p:nvSpPr>
        <p:spPr>
          <a:xfrm>
            <a:off x="7022592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</a:t>
            </a:r>
            <a:endParaRPr lang="en-US" sz="1400" dirty="0"/>
          </a:p>
        </p:txBody>
      </p:sp>
      <p:sp>
        <p:nvSpPr>
          <p:cNvPr id="22" name="流れ補足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流れ補足文"/>
          <p:cNvSpPr txBox="1"/>
          <p:nvPr/>
        </p:nvSpPr>
        <p:spPr>
          <a:xfrm>
            <a:off x="685800" y="3291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成約したら、BP から GP に成功報酬をお支払いいただきます。成約するまで、費用はかかりません。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費用は、成約したときだけの成功報酬</a:t>
            </a:r>
            <a:endParaRPr lang="en-US" sz="2800" dirty="0"/>
          </a:p>
        </p:txBody>
      </p:sp>
      <p:sp>
        <p:nvSpPr>
          <p:cNvPr id="3" name="初期カード"/>
          <p:cNvSpPr/>
          <p:nvPr/>
        </p:nvSpPr>
        <p:spPr>
          <a:xfrm>
            <a:off x="457200" y="1234440"/>
            <a:ext cx="39776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初期題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初期費用（成約時に1回）</a:t>
            </a:r>
            <a:endParaRPr lang="en-US" sz="1400" dirty="0"/>
          </a:p>
        </p:txBody>
      </p:sp>
      <p:sp>
        <p:nvSpPr>
          <p:cNvPr id="5" name="初期率"/>
          <p:cNvSpPr txBox="1"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7%</a:t>
            </a:r>
            <a:endParaRPr lang="en-US" sz="6000" dirty="0"/>
          </a:p>
        </p:txBody>
      </p:sp>
      <p:sp>
        <p:nvSpPr>
          <p:cNvPr id="6" name="初期例"/>
          <p:cNvSpPr txBox="1"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月額70万円の案件なら 4.9万円</a:t>
            </a:r>
            <a:endParaRPr lang="en-US" sz="1400" dirty="0"/>
          </a:p>
        </p:txBody>
      </p:sp>
      <p:sp>
        <p:nvSpPr>
          <p:cNvPr id="7" name="月額カード"/>
          <p:cNvSpPr/>
          <p:nvPr/>
        </p:nvSpPr>
        <p:spPr>
          <a:xfrm>
            <a:off x="4709160" y="1234440"/>
            <a:ext cx="39776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月額題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月額費用（契約が続く間）</a:t>
            </a:r>
            <a:endParaRPr lang="en-US" sz="1400" dirty="0"/>
          </a:p>
        </p:txBody>
      </p:sp>
      <p:sp>
        <p:nvSpPr>
          <p:cNvPr id="9" name="月額率"/>
          <p:cNvSpPr txBox="1"/>
          <p:nvPr/>
        </p:nvSpPr>
        <p:spPr>
          <a:xfrm>
            <a:off x="48920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3%</a:t>
            </a:r>
            <a:endParaRPr lang="en-US" sz="6000" dirty="0"/>
          </a:p>
        </p:txBody>
      </p:sp>
      <p:sp>
        <p:nvSpPr>
          <p:cNvPr id="10" name="月額例"/>
          <p:cNvSpPr txBox="1"/>
          <p:nvPr/>
        </p:nvSpPr>
        <p:spPr>
          <a:xfrm>
            <a:off x="48920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月額70万円の案件なら 2.1万円／月</a:t>
            </a:r>
            <a:endParaRPr lang="en-US" sz="1400" dirty="0"/>
          </a:p>
        </p:txBody>
      </p:sp>
      <p:sp>
        <p:nvSpPr>
          <p:cNvPr id="11" name="費用補足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率の基準は、BP が元請け側から受け取る案件の金額です。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加入費・月会費・先払いはありません。契約が終われば、月額も止まります。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この率は、たたき台の案です。ご意見をいただいて調整します。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BP にとって、どれくらいの負担か</a:t>
            </a:r>
            <a:endParaRPr lang="en-US" sz="2800" dirty="0"/>
          </a:p>
        </p:txBody>
      </p:sp>
      <p:graphicFrame>
        <p:nvGraphicFramePr>
          <p:cNvPr id="3" name="BP試算グラフ" descr=""/>
          <p:cNvGraphicFramePr/>
          <p:nvPr/>
        </p:nvGraphicFramePr>
        <p:xfrm>
          <a:off x="457200" y="118872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試算説明カード"/>
          <p:cNvSpPr/>
          <p:nvPr/>
        </p:nvSpPr>
        <p:spPr>
          <a:xfrm>
            <a:off x="5486400" y="1188720"/>
            <a:ext cx="3200400" cy="329184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試算説明"/>
          <p:cNvSpPr txBox="1"/>
          <p:nvPr/>
        </p:nvSpPr>
        <p:spPr>
          <a:xfrm>
            <a:off x="5669280" y="132588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BP の取り分を、仮に20%（月14万円）としています。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 への報酬は、取り分の約27%です。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 で成約が約1.4倍以上に増えれば、BP 単独より得になります。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安心して始めていただくために</a:t>
            </a:r>
            <a:endParaRPr lang="en-US" sz="2800" dirty="0"/>
          </a:p>
        </p:txBody>
      </p:sp>
      <p:sp>
        <p:nvSpPr>
          <p:cNvPr id="3" name="約束カード1"/>
          <p:cNvSpPr/>
          <p:nvPr/>
        </p:nvSpPr>
        <p:spPr>
          <a:xfrm>
            <a:off x="45720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約束題1"/>
          <p:cNvSpPr txBox="1"/>
          <p:nvPr/>
        </p:nvSpPr>
        <p:spPr>
          <a:xfrm>
            <a:off x="64008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先払いはゼロ</a:t>
            </a:r>
            <a:endParaRPr lang="en-US" sz="1400" dirty="0"/>
          </a:p>
        </p:txBody>
      </p:sp>
      <p:sp>
        <p:nvSpPr>
          <p:cNvPr id="5" name="約束文1"/>
          <p:cNvSpPr txBox="1"/>
          <p:nvPr/>
        </p:nvSpPr>
        <p:spPr>
          <a:xfrm>
            <a:off x="640080" y="1691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加入費・月会費は0円です。</a:t>
            </a:r>
            <a:endParaRPr lang="en-US" sz="1400" dirty="0"/>
          </a:p>
        </p:txBody>
      </p:sp>
      <p:sp>
        <p:nvSpPr>
          <p:cNvPr id="6" name="約束カード2"/>
          <p:cNvSpPr/>
          <p:nvPr/>
        </p:nvSpPr>
        <p:spPr>
          <a:xfrm>
            <a:off x="329184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約束題2"/>
          <p:cNvSpPr txBox="1"/>
          <p:nvPr/>
        </p:nvSpPr>
        <p:spPr>
          <a:xfrm>
            <a:off x="347472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仕組みを全部見せる</a:t>
            </a:r>
            <a:endParaRPr lang="en-US" sz="1400" dirty="0"/>
          </a:p>
        </p:txBody>
      </p:sp>
      <p:sp>
        <p:nvSpPr>
          <p:cNvPr id="8" name="約束文2"/>
          <p:cNvSpPr txBox="1"/>
          <p:nvPr/>
        </p:nvSpPr>
        <p:spPr>
          <a:xfrm>
            <a:off x="3474720" y="1691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報酬の計算式と流れを、先にすべて開示します。</a:t>
            </a:r>
            <a:endParaRPr lang="en-US" sz="1400" dirty="0"/>
          </a:p>
        </p:txBody>
      </p:sp>
      <p:sp>
        <p:nvSpPr>
          <p:cNvPr id="9" name="約束カード3"/>
          <p:cNvSpPr/>
          <p:nvPr/>
        </p:nvSpPr>
        <p:spPr>
          <a:xfrm>
            <a:off x="612648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約束題3"/>
          <p:cNvSpPr txBox="1"/>
          <p:nvPr/>
        </p:nvSpPr>
        <p:spPr>
          <a:xfrm>
            <a:off x="630936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いつでも抜けられる</a:t>
            </a:r>
            <a:endParaRPr lang="en-US" sz="1400" dirty="0"/>
          </a:p>
        </p:txBody>
      </p:sp>
      <p:sp>
        <p:nvSpPr>
          <p:cNvPr id="11" name="約束文3"/>
          <p:cNvSpPr txBox="1"/>
          <p:nvPr/>
        </p:nvSpPr>
        <p:spPr>
          <a:xfrm>
            <a:off x="6309360" y="1691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退会は自由です。違約金もありません。</a:t>
            </a:r>
            <a:endParaRPr lang="en-US" sz="1400" dirty="0"/>
          </a:p>
        </p:txBody>
      </p:sp>
      <p:sp>
        <p:nvSpPr>
          <p:cNvPr id="12" name="約束カード4"/>
          <p:cNvSpPr/>
          <p:nvPr/>
        </p:nvSpPr>
        <p:spPr>
          <a:xfrm>
            <a:off x="45720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約束題4"/>
          <p:cNvSpPr txBox="1"/>
          <p:nvPr/>
        </p:nvSpPr>
        <p:spPr>
          <a:xfrm>
            <a:off x="64008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小さく始める</a:t>
            </a:r>
            <a:endParaRPr lang="en-US" sz="1400" dirty="0"/>
          </a:p>
        </p:txBody>
      </p:sp>
      <p:sp>
        <p:nvSpPr>
          <p:cNvPr id="14" name="約束文4"/>
          <p:cNvSpPr txBox="1"/>
          <p:nvPr/>
        </p:nvSpPr>
        <p:spPr>
          <a:xfrm>
            <a:off x="6400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まず、1〜2社で試します。</a:t>
            </a:r>
            <a:endParaRPr lang="en-US" sz="1400" dirty="0"/>
          </a:p>
        </p:txBody>
      </p:sp>
      <p:sp>
        <p:nvSpPr>
          <p:cNvPr id="15" name="約束カード5"/>
          <p:cNvSpPr/>
          <p:nvPr/>
        </p:nvSpPr>
        <p:spPr>
          <a:xfrm>
            <a:off x="329184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約束題5"/>
          <p:cNvSpPr txBox="1"/>
          <p:nvPr/>
        </p:nvSpPr>
        <p:spPr>
          <a:xfrm>
            <a:off x="347472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急がない</a:t>
            </a:r>
            <a:endParaRPr lang="en-US" sz="1400" dirty="0"/>
          </a:p>
        </p:txBody>
      </p:sp>
      <p:sp>
        <p:nvSpPr>
          <p:cNvPr id="17" name="約束文5"/>
          <p:cNvSpPr txBox="1"/>
          <p:nvPr/>
        </p:nvSpPr>
        <p:spPr>
          <a:xfrm>
            <a:off x="347472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お返事は、納得してからで構いません。</a:t>
            </a:r>
            <a:endParaRPr lang="en-US" sz="1400" dirty="0"/>
          </a:p>
        </p:txBody>
      </p:sp>
      <p:sp>
        <p:nvSpPr>
          <p:cNvPr id="18" name="約束カード6"/>
          <p:cNvSpPr/>
          <p:nvPr/>
        </p:nvSpPr>
        <p:spPr>
          <a:xfrm>
            <a:off x="612648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約束題6"/>
          <p:cNvSpPr txBox="1"/>
          <p:nvPr/>
        </p:nvSpPr>
        <p:spPr>
          <a:xfrm>
            <a:off x="630936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重複所属は話し合い</a:t>
            </a:r>
            <a:endParaRPr lang="en-US" sz="1400" dirty="0"/>
          </a:p>
        </p:txBody>
      </p:sp>
      <p:sp>
        <p:nvSpPr>
          <p:cNvPr id="20" name="約束文6"/>
          <p:cNvSpPr txBox="1"/>
          <p:nvPr/>
        </p:nvSpPr>
        <p:spPr>
          <a:xfrm>
            <a:off x="630936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BP 同士で話し合います。分からない場合は先着順とし、規約に明記します。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阿部さんにお願いしたいこと</a:t>
            </a:r>
            <a:endParaRPr lang="en-US" sz="2800" dirty="0"/>
          </a:p>
        </p:txBody>
      </p:sp>
      <p:sp>
        <p:nvSpPr>
          <p:cNvPr id="3" name="お願い1円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お願い1番号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お願い題1"/>
          <p:cNvSpPr txBox="1"/>
          <p:nvPr/>
        </p:nvSpPr>
        <p:spPr>
          <a:xfrm>
            <a:off x="1188720" y="1234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お知り合いの BP へのご紹介</a:t>
            </a:r>
            <a:endParaRPr lang="en-US" sz="1600" dirty="0"/>
          </a:p>
        </p:txBody>
      </p:sp>
      <p:sp>
        <p:nvSpPr>
          <p:cNvPr id="6" name="お願い文1"/>
          <p:cNvSpPr txBox="1"/>
          <p:nvPr/>
        </p:nvSpPr>
        <p:spPr>
          <a:xfrm>
            <a:off x="1188720" y="1645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 BP へのお声がけを、お願いしたいです。</a:t>
            </a:r>
            <a:endParaRPr lang="en-US" sz="1400" dirty="0"/>
          </a:p>
        </p:txBody>
      </p:sp>
      <p:sp>
        <p:nvSpPr>
          <p:cNvPr id="7" name="お願い2円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お願い2番号"/>
          <p:cNvSpPr txBox="1"/>
          <p:nvPr/>
        </p:nvSpPr>
        <p:spPr>
          <a:xfrm>
            <a:off x="4572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お願い題2"/>
          <p:cNvSpPr txBox="1"/>
          <p:nvPr/>
        </p:nvSpPr>
        <p:spPr>
          <a:xfrm>
            <a:off x="1188720" y="2194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成約の確認（監査）</a:t>
            </a:r>
            <a:endParaRPr lang="en-US" sz="1600" dirty="0"/>
          </a:p>
        </p:txBody>
      </p:sp>
      <p:sp>
        <p:nvSpPr>
          <p:cNvPr id="10" name="お願い文2"/>
          <p:cNvSpPr txBox="1"/>
          <p:nvPr/>
        </p:nvSpPr>
        <p:spPr>
          <a:xfrm>
            <a:off x="118872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報酬の申告が正しいか、信頼できる立場で見ていただきたいです。</a:t>
            </a:r>
            <a:endParaRPr lang="en-US" sz="1400" dirty="0"/>
          </a:p>
        </p:txBody>
      </p:sp>
      <p:sp>
        <p:nvSpPr>
          <p:cNvPr id="11" name="お願い3円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お願い3番号"/>
          <p:cNvSpPr txBox="1"/>
          <p:nvPr/>
        </p:nvSpPr>
        <p:spPr>
          <a:xfrm>
            <a:off x="4572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お願い題3"/>
          <p:cNvSpPr txBox="1"/>
          <p:nvPr/>
        </p:nvSpPr>
        <p:spPr>
          <a:xfrm>
            <a:off x="1188720" y="3154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仕組みへのご意見</a:t>
            </a:r>
            <a:endParaRPr lang="en-US" sz="1600" dirty="0"/>
          </a:p>
        </p:txBody>
      </p:sp>
      <p:sp>
        <p:nvSpPr>
          <p:cNvPr id="14" name="お願い文3"/>
          <p:cNvSpPr txBox="1"/>
          <p:nvPr/>
        </p:nvSpPr>
        <p:spPr>
          <a:xfrm>
            <a:off x="118872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現場をよくご存じの目で、率やルールを一緒に決めてください。</a:t>
            </a:r>
            <a:endParaRPr lang="en-US" sz="1400" dirty="0"/>
          </a:p>
        </p:txBody>
      </p:sp>
      <p:sp>
        <p:nvSpPr>
          <p:cNvPr id="15" name="お支払い枠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お支払い文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阿部さんへの報酬は、成果が見える形で、お支払いの時期と割合を一緒に相談して決めます。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進め方：小さく始めて、見ながら広げる</a:t>
            </a:r>
            <a:endParaRPr lang="en-US" sz="2800" dirty="0"/>
          </a:p>
        </p:txBody>
      </p:sp>
      <p:sp>
        <p:nvSpPr>
          <p:cNvPr id="3" name="段階カード1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段階時期1"/>
          <p:cNvSpPr txBox="1"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</a:t>
            </a:r>
            <a:endParaRPr lang="en-US" sz="1200" dirty="0"/>
          </a:p>
        </p:txBody>
      </p:sp>
      <p:sp>
        <p:nvSpPr>
          <p:cNvPr id="5" name="段階題1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ご意見をいただく</a:t>
            </a:r>
            <a:endParaRPr lang="en-US" sz="1800" dirty="0"/>
          </a:p>
        </p:txBody>
      </p:sp>
      <p:sp>
        <p:nvSpPr>
          <p:cNvPr id="6" name="段階文1"/>
          <p:cNvSpPr txBox="1"/>
          <p:nvPr/>
        </p:nvSpPr>
        <p:spPr>
          <a:xfrm>
            <a:off x="640080" y="2468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この企画書の内容と、率・ルールを話し合います。</a:t>
            </a:r>
            <a:endParaRPr lang="en-US" sz="1400" dirty="0"/>
          </a:p>
        </p:txBody>
      </p:sp>
      <p:sp>
        <p:nvSpPr>
          <p:cNvPr id="7" name="段階矢印1"/>
          <p:cNvSpPr/>
          <p:nvPr/>
        </p:nvSpPr>
        <p:spPr>
          <a:xfrm>
            <a:off x="3035808" y="2468880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段階カード2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段階時期2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</a:t>
            </a:r>
            <a:endParaRPr lang="en-US" sz="1200" dirty="0"/>
          </a:p>
        </p:txBody>
      </p:sp>
      <p:sp>
        <p:nvSpPr>
          <p:cNvPr id="10" name="段階題2"/>
          <p:cNvSpPr txBox="1"/>
          <p:nvPr/>
        </p:nvSpPr>
        <p:spPr>
          <a:xfrm>
            <a:off x="347472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1〜2社で試す</a:t>
            </a:r>
            <a:endParaRPr lang="en-US" sz="1800" dirty="0"/>
          </a:p>
        </p:txBody>
      </p:sp>
      <p:sp>
        <p:nvSpPr>
          <p:cNvPr id="11" name="段階文2"/>
          <p:cNvSpPr txBox="1"/>
          <p:nvPr/>
        </p:nvSpPr>
        <p:spPr>
          <a:xfrm>
            <a:off x="3474720" y="2468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最初の3か月は、運用の様子を見ながら進めます。</a:t>
            </a:r>
            <a:endParaRPr lang="en-US" sz="1400" dirty="0"/>
          </a:p>
        </p:txBody>
      </p:sp>
      <p:sp>
        <p:nvSpPr>
          <p:cNvPr id="12" name="段階矢印2"/>
          <p:cNvSpPr/>
          <p:nvPr/>
        </p:nvSpPr>
        <p:spPr>
          <a:xfrm>
            <a:off x="5870448" y="2468880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段階カード3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段階時期3"/>
          <p:cNvSpPr txBox="1"/>
          <p:nvPr/>
        </p:nvSpPr>
        <p:spPr>
          <a:xfrm>
            <a:off x="630936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</a:t>
            </a:r>
            <a:endParaRPr lang="en-US" sz="1200" dirty="0"/>
          </a:p>
        </p:txBody>
      </p:sp>
      <p:sp>
        <p:nvSpPr>
          <p:cNvPr id="15" name="段階題3"/>
          <p:cNvSpPr txBox="1"/>
          <p:nvPr/>
        </p:nvSpPr>
        <p:spPr>
          <a:xfrm>
            <a:off x="630936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様子を見て広げる</a:t>
            </a:r>
            <a:endParaRPr lang="en-US" sz="1800" dirty="0"/>
          </a:p>
        </p:txBody>
      </p:sp>
      <p:sp>
        <p:nvSpPr>
          <p:cNvPr id="16" name="段階文3"/>
          <p:cNvSpPr txBox="1"/>
          <p:nvPr/>
        </p:nvSpPr>
        <p:spPr>
          <a:xfrm>
            <a:off x="6309360" y="2468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うまく回ることを確かめてから、BP を増やします。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s">
  <a:themeElements>
    <a:clrScheme name="Parks">
      <a:dk1>
        <a:srgbClr val="1B3A2B"/>
      </a:dk1>
      <a:lt1>
        <a:srgbClr val="FFFFFF"/>
      </a:lt1>
      <a:dk2>
        <a:srgbClr val="2F6B4F"/>
      </a:dk2>
      <a:lt2>
        <a:srgbClr val="EEF5F0"/>
      </a:lt2>
      <a:accent1>
        <a:srgbClr val="2F6B4F"/>
      </a:accent1>
      <a:accent2>
        <a:srgbClr val="F2A541"/>
      </a:accent2>
      <a:accent3>
        <a:srgbClr val="6FB58F"/>
      </a:accent3>
      <a:accent4>
        <a:srgbClr val="D9EBDD"/>
      </a:accent4>
      <a:accent5>
        <a:srgbClr val="C7503B"/>
      </a:accent5>
      <a:accent6>
        <a:srgbClr val="5B7F95"/>
      </a:accent6>
      <a:hlink>
        <a:srgbClr val="2F6B4F"/>
      </a:hlink>
      <a:folHlink>
        <a:srgbClr val="5B7F95"/>
      </a:folHlink>
    </a:clrScheme>
    <a:fontScheme name="Parks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tezzo</cp:lastModifiedBy>
  <cp:revision>1</cp:revision>
  <dcterms:created xsi:type="dcterms:W3CDTF">2026-10-13T21:07:23Z</dcterms:created>
  <dcterms:modified xsi:type="dcterms:W3CDTF">2026-10-13T21:07:23Z</dcterms:modified>
</cp:coreProperties>
</file>