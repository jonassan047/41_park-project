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e44ff736-7bc0-b9c9-d56c-23521b5522d2}">
          <p14:sldIdLst>
            <p14:sldId id="256"/>
          </p14:sldIdLst>
        </p14:section>
        <p14:section name="想い" id="{a17bdf55-e6e3-0cff-7a46-1f3b53ee369d}">
          <p14:sldIdLst>
            <p14:sldId id="257"/>
          </p14:sldIdLst>
        </p14:section>
        <p14:section name="背景と提案" id="{894eedf1-68b7-bd59-b385-8e4d693ca058}">
          <p14:sldIdLst>
            <p14:sldId id="258"/>
            <p14:sldId id="259"/>
          </p14:sldIdLst>
        </p14:section>
        <p14:section name="成約率を上げる" id="{99e531f0-4bdb-9bb9-1016-14ff5a939882}">
          <p14:sldIdLst>
            <p14:sldId id="260"/>
            <p14:sldId id="261"/>
            <p14:sldId id="262"/>
            <p14:sldId id="263"/>
            <p14:sldId id="264"/>
          </p14:sldIdLst>
        </p14:section>
        <p14:section name="費用と安心" id="{7e91f105-0e16-b63a-8ae9-9ac08ff7d7cb}">
          <p14:sldIdLst>
            <p14:sldId id="265"/>
            <p14:sldId id="266"/>
            <p14:sldId id="267"/>
          </p14:sldIdLst>
        </p14:section>
        <p14:section name="進め方" id="{699be7a4-7e1b-252f-44b3-925935c67a7f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今（仮）</c:v>
                </c:pt>
              </c:strCache>
            </c:strRef>
          </c:tx>
          <c:spPr>
            <a:solidFill>
              <a:srgbClr val="C9D8E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4A6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応募</c:v>
                  </c:pt>
                  <c:pt idx="1">
                    <c:v>書類通過</c:v>
                  </c:pt>
                  <c:pt idx="2">
                    <c:v>成約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30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GP（仮）</c:v>
                </c:pt>
              </c:strCache>
            </c:strRef>
          </c:tx>
          <c:spPr>
            <a:solidFill>
              <a:srgbClr val="4A7FB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4A6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応募</c:v>
                  </c:pt>
                  <c:pt idx="1">
                    <c:v>書類通過</c:v>
                  </c:pt>
                  <c:pt idx="2">
                    <c:v>成約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45</c:v>
                </c:pt>
                <c:pt idx="2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B4A6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4A6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4A6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4A6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4A6F"/>
                </a:solidFill>
                <a:latin typeface="+mn-lt"/>
              </a:rPr>
              <a:t>月額70万円・契約3か月の例（万円）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3か月の金額（万円）</c:v>
                </c:pt>
              </c:strCache>
            </c:strRef>
          </c:tx>
          <c:spPr>
            <a:solidFill>
              <a:srgbClr val="8DB8D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4A6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B8D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B9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7FB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取り分</c:v>
                  </c:pt>
                  <c:pt idx="1">
                    <c:v>GPへの報酬</c:v>
                  </c:pt>
                  <c:pt idx="2">
                    <c:v>手元に残る額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11.2</c:v>
                </c:pt>
                <c:pt idx="2">
                  <c:v>30.8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B4A6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4A6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B6E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Parks（仮）｜阿部さん向け企画書（たたき台）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Parks（仮）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ビジネスパートナーとエンジニアが、気楽に参加できる場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エンジニアの成約率を、ぐっと上げる仕組み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阿部さんへのご提案（たたき台）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2026年10月14日</a:t>
            </a:r>
            <a:endParaRPr lang="en-US" sz="1600" dirty="0"/>
          </a:p>
        </p:txBody>
      </p:sp>
      <p:sp>
        <p:nvSpPr>
          <p:cNvPr id="4" name="表紙円"/>
          <p:cNvSpPr/>
          <p:nvPr/>
        </p:nvSpPr>
        <p:spPr>
          <a:xfrm>
            <a:off x="6903720" y="192024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 descr="表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5355" y="2201875"/>
            <a:ext cx="716890" cy="716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このプロジェクトに賭ける私の想い</a:t>
            </a:r>
            <a:endParaRPr lang="en-US" sz="2800" dirty="0"/>
          </a:p>
        </p:txBody>
      </p:sp>
      <p:sp>
        <p:nvSpPr>
          <p:cNvPr id="3" name="想い1円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 descr="想い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1375258"/>
            <a:ext cx="358445" cy="358445"/>
          </a:xfrm>
          <a:prstGeom prst="rect">
            <a:avLst/>
          </a:prstGeom>
        </p:spPr>
      </p:pic>
      <p:sp>
        <p:nvSpPr>
          <p:cNvPr id="5" name="想い文1"/>
          <p:cNvSpPr txBox="1"/>
          <p:nvPr/>
        </p:nvSpPr>
        <p:spPr>
          <a:xfrm>
            <a:off x="1325880" y="123444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ビジネスパートナーとエンジニアの、最適な環境を作りたい</a:t>
            </a:r>
            <a:endParaRPr lang="en-US" sz="1800" dirty="0"/>
          </a:p>
        </p:txBody>
      </p:sp>
      <p:sp>
        <p:nvSpPr>
          <p:cNvPr id="6" name="想い2円"/>
          <p:cNvSpPr/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 descr="想い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8" y="2243938"/>
            <a:ext cx="358445" cy="358445"/>
          </a:xfrm>
          <a:prstGeom prst="rect">
            <a:avLst/>
          </a:prstGeom>
        </p:spPr>
      </p:pic>
      <p:sp>
        <p:nvSpPr>
          <p:cNvPr id="8" name="想い文2"/>
          <p:cNvSpPr txBox="1"/>
          <p:nvPr/>
        </p:nvSpPr>
        <p:spPr>
          <a:xfrm>
            <a:off x="1325880" y="210312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ビジネスパートナーの手間をなくし、快適な収益環境を作りたい</a:t>
            </a:r>
            <a:endParaRPr lang="en-US" sz="1800" dirty="0"/>
          </a:p>
        </p:txBody>
      </p:sp>
      <p:sp>
        <p:nvSpPr>
          <p:cNvPr id="9" name="想い3円"/>
          <p:cNvSpPr/>
          <p:nvPr/>
        </p:nvSpPr>
        <p:spPr>
          <a:xfrm>
            <a:off x="457200" y="2971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 descr="想い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3112618"/>
            <a:ext cx="358445" cy="358445"/>
          </a:xfrm>
          <a:prstGeom prst="rect">
            <a:avLst/>
          </a:prstGeom>
        </p:spPr>
      </p:pic>
      <p:sp>
        <p:nvSpPr>
          <p:cNvPr id="11" name="想い文3"/>
          <p:cNvSpPr txBox="1"/>
          <p:nvPr/>
        </p:nvSpPr>
        <p:spPr>
          <a:xfrm>
            <a:off x="1325880" y="297180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エンジニアのビジネス環境を豊かにしたい</a:t>
            </a:r>
            <a:endParaRPr lang="en-US" sz="1800" dirty="0"/>
          </a:p>
        </p:txBody>
      </p:sp>
      <p:sp>
        <p:nvSpPr>
          <p:cNvPr id="12" name="経験帯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経験文"/>
          <p:cNvSpPr txBox="1"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エンジニアを15年以上続けてきた私だから、提案できます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いま、現場で起きていること</a:t>
            </a:r>
            <a:endParaRPr lang="en-US" sz="2800" dirty="0"/>
          </a:p>
        </p:txBody>
      </p:sp>
      <p:sp>
        <p:nvSpPr>
          <p:cNvPr id="3" name="ビジネスパートナーカード"/>
          <p:cNvSpPr/>
          <p:nvPr/>
        </p:nvSpPr>
        <p:spPr>
          <a:xfrm>
            <a:off x="457200" y="1234440"/>
            <a:ext cx="39776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BP円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BPアイコン" descr="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482242"/>
            <a:ext cx="281635" cy="281635"/>
          </a:xfrm>
          <a:prstGeom prst="rect">
            <a:avLst/>
          </a:prstGeom>
        </p:spPr>
      </p:pic>
      <p:sp>
        <p:nvSpPr>
          <p:cNvPr id="6" name="BP題"/>
          <p:cNvSpPr txBox="1"/>
          <p:nvPr/>
        </p:nvSpPr>
        <p:spPr>
          <a:xfrm>
            <a:off x="128016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</a:t>
            </a:r>
            <a:endParaRPr lang="en-US" sz="1800" dirty="0"/>
          </a:p>
        </p:txBody>
      </p:sp>
      <p:sp>
        <p:nvSpPr>
          <p:cNvPr id="7" name="BP本文"/>
          <p:cNvSpPr txBox="1"/>
          <p:nvPr/>
        </p:nvSpPr>
        <p:spPr>
          <a:xfrm>
            <a:off x="685800" y="2011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案件を、個別に待っている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仲間との連携は、友人関係の範囲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人が足りない案件を、取りこぼす</a:t>
            </a:r>
            <a:endParaRPr lang="en-US" sz="1600" dirty="0"/>
          </a:p>
        </p:txBody>
      </p:sp>
      <p:sp>
        <p:nvSpPr>
          <p:cNvPr id="8" name="エンジニアカード"/>
          <p:cNvSpPr/>
          <p:nvPr/>
        </p:nvSpPr>
        <p:spPr>
          <a:xfrm>
            <a:off x="4709160" y="1234440"/>
            <a:ext cx="39776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EG円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EGアイコン" descr="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682" y="1482242"/>
            <a:ext cx="281635" cy="281635"/>
          </a:xfrm>
          <a:prstGeom prst="rect">
            <a:avLst/>
          </a:prstGeom>
        </p:spPr>
      </p:pic>
      <p:sp>
        <p:nvSpPr>
          <p:cNvPr id="11" name="EG題"/>
          <p:cNvSpPr txBox="1"/>
          <p:nvPr/>
        </p:nvSpPr>
        <p:spPr>
          <a:xfrm>
            <a:off x="553212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</a:t>
            </a:r>
            <a:endParaRPr lang="en-US" sz="1800" dirty="0"/>
          </a:p>
        </p:txBody>
      </p:sp>
      <p:sp>
        <p:nvSpPr>
          <p:cNvPr id="12" name="EG本文"/>
          <p:cNvSpPr txBox="1"/>
          <p:nvPr/>
        </p:nvSpPr>
        <p:spPr>
          <a:xfrm>
            <a:off x="4937760" y="2011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現場で孤独になりやすい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技術や知識が、次に残りにくい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案件の選択肢が、所属先の中だけ</a:t>
            </a:r>
            <a:endParaRPr lang="en-US" sz="1600" dirty="0"/>
          </a:p>
        </p:txBody>
      </p:sp>
      <p:sp>
        <p:nvSpPr>
          <p:cNvPr id="13" name="メッセージ帯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メッセージ文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ビジネスパートナーを束ねれば、案件も人も、もっと活かせるはずです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ご提案：ビジネスパートナーを束ねて「GP」に</a:t>
            </a:r>
            <a:endParaRPr lang="en-US" sz="2800" dirty="0"/>
          </a:p>
        </p:txBody>
      </p:sp>
      <p:sp>
        <p:nvSpPr>
          <p:cNvPr id="3" name="箱1"/>
          <p:cNvSpPr/>
          <p:nvPr/>
        </p:nvSpPr>
        <p:spPr>
          <a:xfrm>
            <a:off x="457200" y="128016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箱アイコン1" descr="グルー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365760" cy="365760"/>
          </a:xfrm>
          <a:prstGeom prst="rect">
            <a:avLst/>
          </a:prstGeom>
        </p:spPr>
      </p:pic>
      <p:sp>
        <p:nvSpPr>
          <p:cNvPr id="5" name="箱文1"/>
          <p:cNvSpPr txBox="1"/>
          <p:nvPr/>
        </p:nvSpPr>
        <p:spPr>
          <a:xfrm>
            <a:off x="1051560" y="1280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（エンジニア多数）</a:t>
            </a:r>
            <a:endParaRPr lang="en-US" sz="1400" dirty="0"/>
          </a:p>
        </p:txBody>
      </p:sp>
      <p:sp>
        <p:nvSpPr>
          <p:cNvPr id="6" name="箱2"/>
          <p:cNvSpPr/>
          <p:nvPr/>
        </p:nvSpPr>
        <p:spPr>
          <a:xfrm>
            <a:off x="457200" y="224028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箱アイコン2" descr="グループ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23160"/>
            <a:ext cx="365760" cy="365760"/>
          </a:xfrm>
          <a:prstGeom prst="rect">
            <a:avLst/>
          </a:prstGeom>
        </p:spPr>
      </p:pic>
      <p:sp>
        <p:nvSpPr>
          <p:cNvPr id="8" name="箱文2"/>
          <p:cNvSpPr txBox="1"/>
          <p:nvPr/>
        </p:nvSpPr>
        <p:spPr>
          <a:xfrm>
            <a:off x="1051560" y="22402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（エンジニア多数）</a:t>
            </a:r>
            <a:endParaRPr lang="en-US" sz="1400" dirty="0"/>
          </a:p>
        </p:txBody>
      </p:sp>
      <p:sp>
        <p:nvSpPr>
          <p:cNvPr id="9" name="箱3"/>
          <p:cNvSpPr/>
          <p:nvPr/>
        </p:nvSpPr>
        <p:spPr>
          <a:xfrm>
            <a:off x="457200" y="3200400"/>
            <a:ext cx="23774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箱アイコン3" descr="グループ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83280"/>
            <a:ext cx="365760" cy="365760"/>
          </a:xfrm>
          <a:prstGeom prst="rect">
            <a:avLst/>
          </a:prstGeom>
        </p:spPr>
      </p:pic>
      <p:sp>
        <p:nvSpPr>
          <p:cNvPr id="11" name="箱文3"/>
          <p:cNvSpPr txBox="1"/>
          <p:nvPr/>
        </p:nvSpPr>
        <p:spPr>
          <a:xfrm>
            <a:off x="1051560" y="32004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（エンジニア多数）</a:t>
            </a:r>
            <a:endParaRPr lang="en-US" sz="1400" dirty="0"/>
          </a:p>
        </p:txBody>
      </p:sp>
      <p:sp>
        <p:nvSpPr>
          <p:cNvPr id="12" name="矢印1"/>
          <p:cNvSpPr/>
          <p:nvPr/>
        </p:nvSpPr>
        <p:spPr>
          <a:xfrm>
            <a:off x="2971800" y="2286000"/>
            <a:ext cx="640080" cy="4572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GP円"/>
          <p:cNvSpPr/>
          <p:nvPr/>
        </p:nvSpPr>
        <p:spPr>
          <a:xfrm>
            <a:off x="3703320" y="1417320"/>
            <a:ext cx="2194560" cy="2194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GP文"/>
          <p:cNvSpPr txBox="1"/>
          <p:nvPr/>
        </p:nvSpPr>
        <p:spPr>
          <a:xfrm>
            <a:off x="3703320" y="14173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（グループ）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全エンジニアを共有</a:t>
            </a:r>
            <a:endParaRPr lang="en-US" sz="1400" dirty="0"/>
          </a:p>
        </p:txBody>
      </p:sp>
      <p:sp>
        <p:nvSpPr>
          <p:cNvPr id="15" name="矢印2"/>
          <p:cNvSpPr/>
          <p:nvPr/>
        </p:nvSpPr>
        <p:spPr>
          <a:xfrm>
            <a:off x="5989320" y="2286000"/>
            <a:ext cx="640080" cy="4572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案件箱"/>
          <p:cNvSpPr/>
          <p:nvPr/>
        </p:nvSpPr>
        <p:spPr>
          <a:xfrm>
            <a:off x="6766560" y="1828800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案件文"/>
          <p:cNvSpPr txBox="1"/>
          <p:nvPr/>
        </p:nvSpPr>
        <p:spPr>
          <a:xfrm>
            <a:off x="6766560" y="18288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適したエンジニアへ</a:t>
            </a:r>
            <a:endParaRPr lang="en-US" sz="1400" dirty="0"/>
          </a:p>
        </p:txBody>
      </p:sp>
      <p:sp>
        <p:nvSpPr>
          <p:cNvPr id="18" name="GP説明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GPに来た案件を、所属するすべてのエンジニアの中から、いちばん合う人に結びつけます。ビジネスパートナーのあいだに壁はつくりません。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エンジニアの成約率が、ぐっと上がる</a:t>
            </a:r>
            <a:endParaRPr lang="en-US" sz="2800" dirty="0"/>
          </a:p>
        </p:txBody>
      </p:sp>
      <p:graphicFrame>
        <p:nvGraphicFramePr>
          <p:cNvPr id="3" name="成約率グラフ" descr=""/>
          <p:cNvGraphicFramePr/>
          <p:nvPr/>
        </p:nvGraphicFramePr>
        <p:xfrm>
          <a:off x="457200" y="114300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成約率カード"/>
          <p:cNvSpPr/>
          <p:nvPr/>
        </p:nvSpPr>
        <p:spPr>
          <a:xfrm>
            <a:off x="5852160" y="1188720"/>
            <a:ext cx="2834640" cy="315468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成約率題"/>
          <p:cNvSpPr txBox="1"/>
          <p:nvPr/>
        </p:nvSpPr>
        <p:spPr>
          <a:xfrm>
            <a:off x="603504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応募に対する成約率</a:t>
            </a:r>
            <a:endParaRPr lang="en-US" sz="1400" dirty="0"/>
          </a:p>
        </p:txBody>
      </p:sp>
      <p:sp>
        <p:nvSpPr>
          <p:cNvPr id="6" name="成約率値"/>
          <p:cNvSpPr txBox="1"/>
          <p:nvPr/>
        </p:nvSpPr>
        <p:spPr>
          <a:xfrm>
            <a:off x="603504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約2.2倍</a:t>
            </a:r>
            <a:endParaRPr lang="en-US" sz="4000" dirty="0"/>
          </a:p>
        </p:txBody>
      </p:sp>
      <p:sp>
        <p:nvSpPr>
          <p:cNvPr id="7" name="成約率例"/>
          <p:cNvSpPr txBox="1"/>
          <p:nvPr/>
        </p:nvSpPr>
        <p:spPr>
          <a:xfrm>
            <a:off x="603504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9% → 約20%</a:t>
            </a:r>
            <a:endParaRPr lang="en-US" sz="1600" dirty="0"/>
          </a:p>
        </p:txBody>
      </p:sp>
      <p:sp>
        <p:nvSpPr>
          <p:cNvPr id="8" name="成約率補足"/>
          <p:cNvSpPr txBox="1"/>
          <p:nvPr/>
        </p:nvSpPr>
        <p:spPr>
          <a:xfrm>
            <a:off x="6035040" y="30175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1件の成約に必要な応募は、約11件から約5件に</a:t>
            </a:r>
            <a:endParaRPr lang="en-US" sz="1400" dirty="0"/>
          </a:p>
        </p:txBody>
      </p:sp>
      <p:sp>
        <p:nvSpPr>
          <p:cNvPr id="9" name="成約率注記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イメージです（仮の数字）。実際の率は、記録を取って測ります。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1. 誰を出すか：いちばん合う人を選ぶ</a:t>
            </a:r>
            <a:endParaRPr lang="en-US" sz="2800" dirty="0"/>
          </a:p>
        </p:txBody>
      </p:sp>
      <p:sp>
        <p:nvSpPr>
          <p:cNvPr id="3" name="母集団カード"/>
          <p:cNvSpPr/>
          <p:nvPr/>
        </p:nvSpPr>
        <p:spPr>
          <a:xfrm>
            <a:off x="457200" y="1234440"/>
            <a:ext cx="28346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" name="人1" descr="エンジニ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411480" cy="411480"/>
          </a:xfrm>
          <a:prstGeom prst="rect">
            <a:avLst/>
          </a:prstGeom>
        </p:spPr>
      </p:pic>
      <p:pic>
        <p:nvPicPr>
          <p:cNvPr id="5" name="人2" descr="エンジニ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371600"/>
            <a:ext cx="411480" cy="411480"/>
          </a:xfrm>
          <a:prstGeom prst="rect">
            <a:avLst/>
          </a:prstGeom>
        </p:spPr>
      </p:pic>
      <p:pic>
        <p:nvPicPr>
          <p:cNvPr id="6" name="人3" descr="エンジニア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371600"/>
            <a:ext cx="411480" cy="411480"/>
          </a:xfrm>
          <a:prstGeom prst="rect">
            <a:avLst/>
          </a:prstGeom>
        </p:spPr>
      </p:pic>
      <p:pic>
        <p:nvPicPr>
          <p:cNvPr id="7" name="人4" descr="エンジニア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371600"/>
            <a:ext cx="411480" cy="411480"/>
          </a:xfrm>
          <a:prstGeom prst="rect">
            <a:avLst/>
          </a:prstGeom>
        </p:spPr>
      </p:pic>
      <p:pic>
        <p:nvPicPr>
          <p:cNvPr id="8" name="人5" descr="エンジニア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920240"/>
            <a:ext cx="411480" cy="411480"/>
          </a:xfrm>
          <a:prstGeom prst="rect">
            <a:avLst/>
          </a:prstGeom>
        </p:spPr>
      </p:pic>
      <p:pic>
        <p:nvPicPr>
          <p:cNvPr id="9" name="人6" descr="エンジニア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1920240"/>
            <a:ext cx="411480" cy="411480"/>
          </a:xfrm>
          <a:prstGeom prst="rect">
            <a:avLst/>
          </a:prstGeom>
        </p:spPr>
      </p:pic>
      <p:pic>
        <p:nvPicPr>
          <p:cNvPr id="10" name="人7" descr="エンジニア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5960" y="1920240"/>
            <a:ext cx="411480" cy="411480"/>
          </a:xfrm>
          <a:prstGeom prst="rect">
            <a:avLst/>
          </a:prstGeom>
        </p:spPr>
      </p:pic>
      <p:pic>
        <p:nvPicPr>
          <p:cNvPr id="11" name="人8" descr="エンジニア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6040" y="1920240"/>
            <a:ext cx="411480" cy="411480"/>
          </a:xfrm>
          <a:prstGeom prst="rect">
            <a:avLst/>
          </a:prstGeom>
        </p:spPr>
      </p:pic>
      <p:pic>
        <p:nvPicPr>
          <p:cNvPr id="12" name="人9" descr="エンジニア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468880"/>
            <a:ext cx="411480" cy="411480"/>
          </a:xfrm>
          <a:prstGeom prst="rect">
            <a:avLst/>
          </a:prstGeom>
        </p:spPr>
      </p:pic>
      <p:pic>
        <p:nvPicPr>
          <p:cNvPr id="13" name="人10" descr="エンジニア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5880" y="2468880"/>
            <a:ext cx="411480" cy="411480"/>
          </a:xfrm>
          <a:prstGeom prst="rect">
            <a:avLst/>
          </a:prstGeom>
        </p:spPr>
      </p:pic>
      <p:pic>
        <p:nvPicPr>
          <p:cNvPr id="14" name="人11" descr="エンジニア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5960" y="2468880"/>
            <a:ext cx="411480" cy="411480"/>
          </a:xfrm>
          <a:prstGeom prst="rect">
            <a:avLst/>
          </a:prstGeom>
        </p:spPr>
      </p:pic>
      <p:pic>
        <p:nvPicPr>
          <p:cNvPr id="15" name="人12" descr="エンジニア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6040" y="2468880"/>
            <a:ext cx="411480" cy="411480"/>
          </a:xfrm>
          <a:prstGeom prst="rect">
            <a:avLst/>
          </a:prstGeom>
        </p:spPr>
      </p:pic>
      <p:sp>
        <p:nvSpPr>
          <p:cNvPr id="16" name="母集団題"/>
          <p:cNvSpPr txBox="1"/>
          <p:nvPr/>
        </p:nvSpPr>
        <p:spPr>
          <a:xfrm>
            <a:off x="457200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GP全体のエンジニア</a:t>
            </a:r>
            <a:endParaRPr lang="en-US" sz="1200" dirty="0"/>
          </a:p>
        </p:txBody>
      </p:sp>
      <p:sp>
        <p:nvSpPr>
          <p:cNvPr id="17" name="矢印A"/>
          <p:cNvSpPr/>
          <p:nvPr/>
        </p:nvSpPr>
        <p:spPr>
          <a:xfrm>
            <a:off x="3383280" y="2057400"/>
            <a:ext cx="45720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見極め円"/>
          <p:cNvSpPr/>
          <p:nvPr/>
        </p:nvSpPr>
        <p:spPr>
          <a:xfrm>
            <a:off x="3977640" y="155448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見極めアイコン" descr="見極め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79392" y="1856232"/>
            <a:ext cx="768096" cy="768096"/>
          </a:xfrm>
          <a:prstGeom prst="rect">
            <a:avLst/>
          </a:prstGeom>
        </p:spPr>
      </p:pic>
      <p:sp>
        <p:nvSpPr>
          <p:cNvPr id="20" name="見極め文"/>
          <p:cNvSpPr txBox="1"/>
          <p:nvPr/>
        </p:nvSpPr>
        <p:spPr>
          <a:xfrm>
            <a:off x="370332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案件の要件と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経験を突き合わせる</a:t>
            </a:r>
            <a:endParaRPr lang="en-US" sz="1200" dirty="0"/>
          </a:p>
        </p:txBody>
      </p:sp>
      <p:sp>
        <p:nvSpPr>
          <p:cNvPr id="21" name="矢印B"/>
          <p:cNvSpPr/>
          <p:nvPr/>
        </p:nvSpPr>
        <p:spPr>
          <a:xfrm>
            <a:off x="5760720" y="2057400"/>
            <a:ext cx="45720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最適円"/>
          <p:cNvSpPr/>
          <p:nvPr/>
        </p:nvSpPr>
        <p:spPr>
          <a:xfrm>
            <a:off x="6400800" y="155448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最適アイコン" descr="最適な1人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75120" y="1828800"/>
            <a:ext cx="822960" cy="822960"/>
          </a:xfrm>
          <a:prstGeom prst="rect">
            <a:avLst/>
          </a:prstGeom>
        </p:spPr>
      </p:pic>
      <p:sp>
        <p:nvSpPr>
          <p:cNvPr id="24" name="最適文"/>
          <p:cNvSpPr txBox="1"/>
          <p:nvPr/>
        </p:nvSpPr>
        <p:spPr>
          <a:xfrm>
            <a:off x="612648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いちばん合う1人</a:t>
            </a:r>
            <a:endParaRPr lang="en-US" sz="1200" dirty="0"/>
          </a:p>
        </p:txBody>
      </p:sp>
      <p:pic>
        <p:nvPicPr>
          <p:cNvPr id="25" name="要点アイコン1" descr="合わない案件には出さない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3703320"/>
            <a:ext cx="365760" cy="365760"/>
          </a:xfrm>
          <a:prstGeom prst="rect">
            <a:avLst/>
          </a:prstGeom>
        </p:spPr>
      </p:pic>
      <p:sp>
        <p:nvSpPr>
          <p:cNvPr id="26" name="要点1"/>
          <p:cNvSpPr txBox="1"/>
          <p:nvPr/>
        </p:nvSpPr>
        <p:spPr>
          <a:xfrm>
            <a:off x="96012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合わない案件には出さない</a:t>
            </a:r>
            <a:endParaRPr lang="en-US" sz="1400" dirty="0"/>
          </a:p>
        </p:txBody>
      </p:sp>
      <p:pic>
        <p:nvPicPr>
          <p:cNvPr id="27" name="要点アイコン2" descr="二重応募を一本化する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91840" y="3703320"/>
            <a:ext cx="365760" cy="365760"/>
          </a:xfrm>
          <a:prstGeom prst="rect">
            <a:avLst/>
          </a:prstGeom>
        </p:spPr>
      </p:pic>
      <p:sp>
        <p:nvSpPr>
          <p:cNvPr id="28" name="要点2"/>
          <p:cNvSpPr txBox="1"/>
          <p:nvPr/>
        </p:nvSpPr>
        <p:spPr>
          <a:xfrm>
            <a:off x="379476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二重応募を一本化する</a:t>
            </a:r>
            <a:endParaRPr lang="en-US" sz="1400" dirty="0"/>
          </a:p>
        </p:txBody>
      </p:sp>
      <p:pic>
        <p:nvPicPr>
          <p:cNvPr id="29" name="要点アイコン3" descr="応募を絞り、成約を増やす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26480" y="3703320"/>
            <a:ext cx="365760" cy="365760"/>
          </a:xfrm>
          <a:prstGeom prst="rect">
            <a:avLst/>
          </a:prstGeom>
        </p:spPr>
      </p:pic>
      <p:sp>
        <p:nvSpPr>
          <p:cNvPr id="30" name="要点3"/>
          <p:cNvSpPr txBox="1"/>
          <p:nvPr/>
        </p:nvSpPr>
        <p:spPr>
          <a:xfrm>
            <a:off x="662940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応募を絞り、成約を増やす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2. 出し方：書類で選ばれる</a:t>
            </a:r>
            <a:endParaRPr lang="en-US" sz="2800" dirty="0"/>
          </a:p>
        </p:txBody>
      </p:sp>
      <p:sp>
        <p:nvSpPr>
          <p:cNvPr id="3" name="出し方カード1"/>
          <p:cNvSpPr/>
          <p:nvPr/>
        </p:nvSpPr>
        <p:spPr>
          <a:xfrm>
            <a:off x="457200" y="123444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出し方1円"/>
          <p:cNvSpPr/>
          <p:nvPr/>
        </p:nvSpPr>
        <p:spPr>
          <a:xfrm>
            <a:off x="640080" y="1417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出し方1アイコン" descr="出し方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568196"/>
            <a:ext cx="384048" cy="384048"/>
          </a:xfrm>
          <a:prstGeom prst="rect">
            <a:avLst/>
          </a:prstGeom>
        </p:spPr>
      </p:pic>
      <p:sp>
        <p:nvSpPr>
          <p:cNvPr id="6" name="出し方題1"/>
          <p:cNvSpPr txBox="1"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案件別のスキルシート</a:t>
            </a:r>
            <a:endParaRPr lang="en-US" sz="1600" dirty="0"/>
          </a:p>
        </p:txBody>
      </p:sp>
      <p:sp>
        <p:nvSpPr>
          <p:cNvPr id="7" name="出し方文1"/>
          <p:cNvSpPr txBox="1"/>
          <p:nvPr/>
        </p:nvSpPr>
        <p:spPr>
          <a:xfrm>
            <a:off x="64008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案件のキーワードに合わせて、経験の順番と強調を組み替えます。事実だけを書きます。</a:t>
            </a:r>
            <a:endParaRPr lang="en-US" sz="1400" dirty="0"/>
          </a:p>
        </p:txBody>
      </p:sp>
      <p:sp>
        <p:nvSpPr>
          <p:cNvPr id="8" name="出し方カード2"/>
          <p:cNvSpPr/>
          <p:nvPr/>
        </p:nvSpPr>
        <p:spPr>
          <a:xfrm>
            <a:off x="3291840" y="123444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出し方2円"/>
          <p:cNvSpPr/>
          <p:nvPr/>
        </p:nvSpPr>
        <p:spPr>
          <a:xfrm>
            <a:off x="3474720" y="1417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出し方2アイコン" descr="出し方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96" y="1568196"/>
            <a:ext cx="384048" cy="384048"/>
          </a:xfrm>
          <a:prstGeom prst="rect">
            <a:avLst/>
          </a:prstGeom>
        </p:spPr>
      </p:pic>
      <p:sp>
        <p:nvSpPr>
          <p:cNvPr id="11" name="出し方題2"/>
          <p:cNvSpPr txBox="1"/>
          <p:nvPr/>
        </p:nvSpPr>
        <p:spPr>
          <a:xfrm>
            <a:off x="34747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推薦コメント</a:t>
            </a:r>
            <a:endParaRPr lang="en-US" sz="1600" dirty="0"/>
          </a:p>
        </p:txBody>
      </p:sp>
      <p:sp>
        <p:nvSpPr>
          <p:cNvPr id="12" name="出し方文2"/>
          <p:cNvSpPr txBox="1"/>
          <p:nvPr/>
        </p:nvSpPr>
        <p:spPr>
          <a:xfrm>
            <a:off x="347472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「なぜこの人か」を3行で添えます。スキルシートより先に読まれます。</a:t>
            </a:r>
            <a:endParaRPr lang="en-US" sz="1400" dirty="0"/>
          </a:p>
        </p:txBody>
      </p:sp>
      <p:sp>
        <p:nvSpPr>
          <p:cNvPr id="13" name="出し方カード3"/>
          <p:cNvSpPr/>
          <p:nvPr/>
        </p:nvSpPr>
        <p:spPr>
          <a:xfrm>
            <a:off x="6126480" y="123444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出し方3円"/>
          <p:cNvSpPr/>
          <p:nvPr/>
        </p:nvSpPr>
        <p:spPr>
          <a:xfrm>
            <a:off x="6309360" y="1417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出し方3アイコン" descr="出し方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1568196"/>
            <a:ext cx="384048" cy="384048"/>
          </a:xfrm>
          <a:prstGeom prst="rect">
            <a:avLst/>
          </a:prstGeom>
        </p:spPr>
      </p:pic>
      <p:sp>
        <p:nvSpPr>
          <p:cNvPr id="16" name="出し方題3"/>
          <p:cNvSpPr txBox="1"/>
          <p:nvPr/>
        </p:nvSpPr>
        <p:spPr>
          <a:xfrm>
            <a:off x="63093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条件の確認とスピード</a:t>
            </a:r>
            <a:endParaRPr lang="en-US" sz="1600" dirty="0"/>
          </a:p>
        </p:txBody>
      </p:sp>
      <p:sp>
        <p:nvSpPr>
          <p:cNvPr id="17" name="出し方文3"/>
          <p:cNvSpPr txBox="1"/>
          <p:nvPr/>
        </p:nvSpPr>
        <p:spPr>
          <a:xfrm>
            <a:off x="630936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稼働・開始日・単価・リモートを先に確認し、受信から応募までを速くします。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3. 面談での勝ち方</a:t>
            </a:r>
            <a:endParaRPr lang="en-US" sz="2800" dirty="0"/>
          </a:p>
        </p:txBody>
      </p:sp>
      <p:sp>
        <p:nvSpPr>
          <p:cNvPr id="3" name="面談1円"/>
          <p:cNvSpPr/>
          <p:nvPr/>
        </p:nvSpPr>
        <p:spPr>
          <a:xfrm>
            <a:off x="868680" y="13716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面談1アイコン" descr="面談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1592885"/>
            <a:ext cx="563270" cy="563270"/>
          </a:xfrm>
          <a:prstGeom prst="rect">
            <a:avLst/>
          </a:prstGeom>
        </p:spPr>
      </p:pic>
      <p:sp>
        <p:nvSpPr>
          <p:cNvPr id="5" name="面談文1"/>
          <p:cNvSpPr txBox="1"/>
          <p:nvPr/>
        </p:nvSpPr>
        <p:spPr>
          <a:xfrm>
            <a:off x="41148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案件・現場の下調べ</a:t>
            </a:r>
            <a:endParaRPr lang="en-US" sz="1400" dirty="0"/>
          </a:p>
        </p:txBody>
      </p:sp>
      <p:sp>
        <p:nvSpPr>
          <p:cNvPr id="6" name="面談矢印1"/>
          <p:cNvSpPr/>
          <p:nvPr/>
        </p:nvSpPr>
        <p:spPr>
          <a:xfrm>
            <a:off x="2057400" y="1691640"/>
            <a:ext cx="36576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面談2円"/>
          <p:cNvSpPr/>
          <p:nvPr/>
        </p:nvSpPr>
        <p:spPr>
          <a:xfrm>
            <a:off x="3017520" y="13716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面談2アイコン" descr="面談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805" y="1592885"/>
            <a:ext cx="563270" cy="563270"/>
          </a:xfrm>
          <a:prstGeom prst="rect">
            <a:avLst/>
          </a:prstGeom>
        </p:spPr>
      </p:pic>
      <p:sp>
        <p:nvSpPr>
          <p:cNvPr id="9" name="面談文2"/>
          <p:cNvSpPr txBox="1"/>
          <p:nvPr/>
        </p:nvSpPr>
        <p:spPr>
          <a:xfrm>
            <a:off x="256032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想定質問と答え方</a:t>
            </a:r>
            <a:endParaRPr lang="en-US" sz="1400" dirty="0"/>
          </a:p>
        </p:txBody>
      </p:sp>
      <p:sp>
        <p:nvSpPr>
          <p:cNvPr id="10" name="面談矢印2"/>
          <p:cNvSpPr/>
          <p:nvPr/>
        </p:nvSpPr>
        <p:spPr>
          <a:xfrm>
            <a:off x="4206240" y="1691640"/>
            <a:ext cx="36576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面談3円"/>
          <p:cNvSpPr/>
          <p:nvPr/>
        </p:nvSpPr>
        <p:spPr>
          <a:xfrm>
            <a:off x="5166360" y="13716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面談3アイコン" descr="面談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645" y="1592885"/>
            <a:ext cx="563270" cy="563270"/>
          </a:xfrm>
          <a:prstGeom prst="rect">
            <a:avLst/>
          </a:prstGeom>
        </p:spPr>
      </p:pic>
      <p:sp>
        <p:nvSpPr>
          <p:cNvPr id="13" name="面談文3"/>
          <p:cNvSpPr txBox="1"/>
          <p:nvPr/>
        </p:nvSpPr>
        <p:spPr>
          <a:xfrm>
            <a:off x="470916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模擬面談と逆質問</a:t>
            </a:r>
            <a:endParaRPr lang="en-US" sz="1400" dirty="0"/>
          </a:p>
        </p:txBody>
      </p:sp>
      <p:sp>
        <p:nvSpPr>
          <p:cNvPr id="14" name="面談矢印3"/>
          <p:cNvSpPr/>
          <p:nvPr/>
        </p:nvSpPr>
        <p:spPr>
          <a:xfrm>
            <a:off x="6355080" y="1691640"/>
            <a:ext cx="36576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面談4円"/>
          <p:cNvSpPr/>
          <p:nvPr/>
        </p:nvSpPr>
        <p:spPr>
          <a:xfrm>
            <a:off x="7315200" y="137160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面談4アイコン" descr="面談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485" y="1592885"/>
            <a:ext cx="563270" cy="563270"/>
          </a:xfrm>
          <a:prstGeom prst="rect">
            <a:avLst/>
          </a:prstGeom>
        </p:spPr>
      </p:pic>
      <p:sp>
        <p:nvSpPr>
          <p:cNvPr id="17" name="面談文4"/>
          <p:cNvSpPr txBox="1"/>
          <p:nvPr/>
        </p:nvSpPr>
        <p:spPr>
          <a:xfrm>
            <a:off x="685800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本番の面談</a:t>
            </a:r>
            <a:endParaRPr lang="en-US" sz="1400" dirty="0"/>
          </a:p>
        </p:txBody>
      </p:sp>
      <p:sp>
        <p:nvSpPr>
          <p:cNvPr id="18" name="型カード"/>
          <p:cNvSpPr/>
          <p:nvPr/>
        </p:nvSpPr>
        <p:spPr>
          <a:xfrm>
            <a:off x="457200" y="3383280"/>
            <a:ext cx="8229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19" name="型アイコン" descr="経験の型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57600"/>
            <a:ext cx="594360" cy="594360"/>
          </a:xfrm>
          <a:prstGeom prst="rect">
            <a:avLst/>
          </a:prstGeom>
        </p:spPr>
      </p:pic>
      <p:sp>
        <p:nvSpPr>
          <p:cNvPr id="20" name="型文"/>
          <p:cNvSpPr txBox="1"/>
          <p:nvPr/>
        </p:nvSpPr>
        <p:spPr>
          <a:xfrm>
            <a:off x="1508760" y="338328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エンジニアを15年以上続けてきた経験から、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面談で通る「型」を入れます。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案件ごとに分析した質疑応答集も用意します。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使うほど、成約率が上がる仕組み</a:t>
            </a:r>
            <a:endParaRPr lang="en-US" sz="2800" dirty="0"/>
          </a:p>
        </p:txBody>
      </p:sp>
      <p:sp>
        <p:nvSpPr>
          <p:cNvPr id="3" name="ループカード1"/>
          <p:cNvSpPr/>
          <p:nvPr/>
        </p:nvSpPr>
        <p:spPr>
          <a:xfrm>
            <a:off x="822960" y="128016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ループ1円"/>
          <p:cNvSpPr/>
          <p:nvPr/>
        </p:nvSpPr>
        <p:spPr>
          <a:xfrm>
            <a:off x="1005840" y="1600200"/>
            <a:ext cx="731520" cy="73152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pic>
        <p:nvPicPr>
          <p:cNvPr id="5" name="ループ1アイコン" descr="ループ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774" y="1761134"/>
            <a:ext cx="409651" cy="409651"/>
          </a:xfrm>
          <a:prstGeom prst="rect">
            <a:avLst/>
          </a:prstGeom>
        </p:spPr>
      </p:pic>
      <p:sp>
        <p:nvSpPr>
          <p:cNvPr id="6" name="ループ題1"/>
          <p:cNvSpPr txBox="1"/>
          <p:nvPr/>
        </p:nvSpPr>
        <p:spPr>
          <a:xfrm>
            <a:off x="1874520" y="15087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結果を記録</a:t>
            </a:r>
            <a:endParaRPr lang="en-US" sz="1600" dirty="0"/>
          </a:p>
        </p:txBody>
      </p:sp>
      <p:sp>
        <p:nvSpPr>
          <p:cNvPr id="7" name="ループ文1"/>
          <p:cNvSpPr txBox="1"/>
          <p:nvPr/>
        </p:nvSpPr>
        <p:spPr>
          <a:xfrm>
            <a:off x="1874520" y="19659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面談後の落ちた理由・印象</a:t>
            </a:r>
            <a:endParaRPr lang="en-US" sz="1200" dirty="0"/>
          </a:p>
        </p:txBody>
      </p:sp>
      <p:sp>
        <p:nvSpPr>
          <p:cNvPr id="8" name="ループカード2"/>
          <p:cNvSpPr/>
          <p:nvPr/>
        </p:nvSpPr>
        <p:spPr>
          <a:xfrm>
            <a:off x="5120640" y="128016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ループ2円"/>
          <p:cNvSpPr/>
          <p:nvPr/>
        </p:nvSpPr>
        <p:spPr>
          <a:xfrm>
            <a:off x="5303520" y="1600200"/>
            <a:ext cx="731520" cy="73152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pic>
        <p:nvPicPr>
          <p:cNvPr id="10" name="ループ2アイコン" descr="ループ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454" y="1761134"/>
            <a:ext cx="409651" cy="409651"/>
          </a:xfrm>
          <a:prstGeom prst="rect">
            <a:avLst/>
          </a:prstGeom>
        </p:spPr>
      </p:pic>
      <p:sp>
        <p:nvSpPr>
          <p:cNvPr id="11" name="ループ題2"/>
          <p:cNvSpPr txBox="1"/>
          <p:nvPr/>
        </p:nvSpPr>
        <p:spPr>
          <a:xfrm>
            <a:off x="6172200" y="15087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成功パターンにする</a:t>
            </a:r>
            <a:endParaRPr lang="en-US" sz="1600" dirty="0"/>
          </a:p>
        </p:txBody>
      </p:sp>
      <p:sp>
        <p:nvSpPr>
          <p:cNvPr id="12" name="ループ文2"/>
          <p:cNvSpPr txBox="1"/>
          <p:nvPr/>
        </p:nvSpPr>
        <p:spPr>
          <a:xfrm>
            <a:off x="6172200" y="19659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通った書類と質疑応答集</a:t>
            </a:r>
            <a:endParaRPr lang="en-US" sz="1200" dirty="0"/>
          </a:p>
        </p:txBody>
      </p:sp>
      <p:sp>
        <p:nvSpPr>
          <p:cNvPr id="13" name="ループカード3"/>
          <p:cNvSpPr/>
          <p:nvPr/>
        </p:nvSpPr>
        <p:spPr>
          <a:xfrm>
            <a:off x="5120640" y="297180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ループ3円"/>
          <p:cNvSpPr/>
          <p:nvPr/>
        </p:nvSpPr>
        <p:spPr>
          <a:xfrm>
            <a:off x="5303520" y="3291840"/>
            <a:ext cx="731520" cy="73152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pic>
        <p:nvPicPr>
          <p:cNvPr id="15" name="ループ3アイコン" descr="ループ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454" y="3452774"/>
            <a:ext cx="409651" cy="409651"/>
          </a:xfrm>
          <a:prstGeom prst="rect">
            <a:avLst/>
          </a:prstGeom>
        </p:spPr>
      </p:pic>
      <p:sp>
        <p:nvSpPr>
          <p:cNvPr id="16" name="ループ題3"/>
          <p:cNvSpPr txBox="1"/>
          <p:nvPr/>
        </p:nvSpPr>
        <p:spPr>
          <a:xfrm>
            <a:off x="6172200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全エンジニアに還元</a:t>
            </a:r>
            <a:endParaRPr lang="en-US" sz="1600" dirty="0"/>
          </a:p>
        </p:txBody>
      </p:sp>
      <p:sp>
        <p:nvSpPr>
          <p:cNvPr id="17" name="ループ文3"/>
          <p:cNvSpPr txBox="1"/>
          <p:nvPr/>
        </p:nvSpPr>
        <p:spPr>
          <a:xfrm>
            <a:off x="6172200" y="3657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匿名化して全員で共有</a:t>
            </a:r>
            <a:endParaRPr lang="en-US" sz="1200" dirty="0"/>
          </a:p>
        </p:txBody>
      </p:sp>
      <p:sp>
        <p:nvSpPr>
          <p:cNvPr id="18" name="ループカード4"/>
          <p:cNvSpPr/>
          <p:nvPr/>
        </p:nvSpPr>
        <p:spPr>
          <a:xfrm>
            <a:off x="822960" y="2971800"/>
            <a:ext cx="32004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ループ4円"/>
          <p:cNvSpPr/>
          <p:nvPr/>
        </p:nvSpPr>
        <p:spPr>
          <a:xfrm>
            <a:off x="1005840" y="3291840"/>
            <a:ext cx="731520" cy="731520"/>
          </a:xfrm>
          <a:prstGeom prst="ellipse">
            <a:avLst/>
          </a:prstGeom>
          <a:solidFill>
            <a:srgbClr val="F5B971"/>
          </a:solidFill>
          <a:ln w="12700">
            <a:solidFill>
              <a:srgbClr val="F5B971"/>
            </a:solidFill>
            <a:prstDash val="solid"/>
          </a:ln>
        </p:spPr>
      </p:sp>
      <p:pic>
        <p:nvPicPr>
          <p:cNvPr id="20" name="ループ4アイコン" descr="ループ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774" y="3452774"/>
            <a:ext cx="409651" cy="409651"/>
          </a:xfrm>
          <a:prstGeom prst="rect">
            <a:avLst/>
          </a:prstGeom>
        </p:spPr>
      </p:pic>
      <p:sp>
        <p:nvSpPr>
          <p:cNvPr id="21" name="ループ題4"/>
          <p:cNvSpPr txBox="1"/>
          <p:nvPr/>
        </p:nvSpPr>
        <p:spPr>
          <a:xfrm>
            <a:off x="1874520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成約率が上がる</a:t>
            </a:r>
            <a:endParaRPr lang="en-US" sz="1600" dirty="0"/>
          </a:p>
        </p:txBody>
      </p:sp>
      <p:sp>
        <p:nvSpPr>
          <p:cNvPr id="22" name="ループ文4"/>
          <p:cNvSpPr txBox="1"/>
          <p:nvPr/>
        </p:nvSpPr>
        <p:spPr>
          <a:xfrm>
            <a:off x="1874520" y="3657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次の応募から、効果が出る</a:t>
            </a:r>
            <a:endParaRPr lang="en-US" sz="1200" dirty="0"/>
          </a:p>
        </p:txBody>
      </p:sp>
      <p:sp>
        <p:nvSpPr>
          <p:cNvPr id="23" name="ループ矢印1"/>
          <p:cNvSpPr/>
          <p:nvPr/>
        </p:nvSpPr>
        <p:spPr>
          <a:xfrm>
            <a:off x="4160520" y="1783080"/>
            <a:ext cx="82296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ループ矢印2"/>
          <p:cNvSpPr/>
          <p:nvPr/>
        </p:nvSpPr>
        <p:spPr>
          <a:xfrm>
            <a:off x="6492240" y="2697480"/>
            <a:ext cx="365760" cy="256032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ループ矢印3"/>
          <p:cNvSpPr/>
          <p:nvPr/>
        </p:nvSpPr>
        <p:spPr>
          <a:xfrm>
            <a:off x="4160520" y="3474720"/>
            <a:ext cx="822960" cy="365760"/>
          </a:xfrm>
          <a:prstGeom prst="lef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ループ矢印4"/>
          <p:cNvSpPr/>
          <p:nvPr/>
        </p:nvSpPr>
        <p:spPr>
          <a:xfrm>
            <a:off x="2194560" y="2697480"/>
            <a:ext cx="365760" cy="256032"/>
          </a:xfrm>
          <a:prstGeom prst="up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ループ注記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くり返すほど、精度が上がります。件数が集まる GP だから、貯まる資産です。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費用は、成約したときだけの成功報酬</a:t>
            </a:r>
            <a:endParaRPr lang="en-US" sz="2800" dirty="0"/>
          </a:p>
        </p:txBody>
      </p:sp>
      <p:sp>
        <p:nvSpPr>
          <p:cNvPr id="3" name="初期カード"/>
          <p:cNvSpPr/>
          <p:nvPr/>
        </p:nvSpPr>
        <p:spPr>
          <a:xfrm>
            <a:off x="457200" y="1234440"/>
            <a:ext cx="39776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初期題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初期費用（成約時に1回）</a:t>
            </a:r>
            <a:endParaRPr lang="en-US" sz="1400" dirty="0"/>
          </a:p>
        </p:txBody>
      </p:sp>
      <p:sp>
        <p:nvSpPr>
          <p:cNvPr id="5" name="初期率"/>
          <p:cNvSpPr txBox="1"/>
          <p:nvPr/>
        </p:nvSpPr>
        <p:spPr>
          <a:xfrm>
            <a:off x="64008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7%</a:t>
            </a:r>
            <a:endParaRPr lang="en-US" sz="6000" dirty="0"/>
          </a:p>
        </p:txBody>
      </p:sp>
      <p:sp>
        <p:nvSpPr>
          <p:cNvPr id="6" name="初期例"/>
          <p:cNvSpPr txBox="1"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月額70万円の案件なら 4.9万円</a:t>
            </a:r>
            <a:endParaRPr lang="en-US" sz="1400" dirty="0"/>
          </a:p>
        </p:txBody>
      </p:sp>
      <p:sp>
        <p:nvSpPr>
          <p:cNvPr id="7" name="月額カード"/>
          <p:cNvSpPr/>
          <p:nvPr/>
        </p:nvSpPr>
        <p:spPr>
          <a:xfrm>
            <a:off x="4709160" y="1234440"/>
            <a:ext cx="39776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月額題"/>
          <p:cNvSpPr txBox="1"/>
          <p:nvPr/>
        </p:nvSpPr>
        <p:spPr>
          <a:xfrm>
            <a:off x="48920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月額費用（契約が続く間）</a:t>
            </a:r>
            <a:endParaRPr lang="en-US" sz="1400" dirty="0"/>
          </a:p>
        </p:txBody>
      </p:sp>
      <p:sp>
        <p:nvSpPr>
          <p:cNvPr id="9" name="月額率"/>
          <p:cNvSpPr txBox="1"/>
          <p:nvPr/>
        </p:nvSpPr>
        <p:spPr>
          <a:xfrm>
            <a:off x="489204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3%</a:t>
            </a:r>
            <a:endParaRPr lang="en-US" sz="6000" dirty="0"/>
          </a:p>
        </p:txBody>
      </p:sp>
      <p:sp>
        <p:nvSpPr>
          <p:cNvPr id="10" name="月額例"/>
          <p:cNvSpPr txBox="1"/>
          <p:nvPr/>
        </p:nvSpPr>
        <p:spPr>
          <a:xfrm>
            <a:off x="489204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月額70万円の案件なら 2.1万円／月</a:t>
            </a:r>
            <a:endParaRPr lang="en-US" sz="1400" dirty="0"/>
          </a:p>
        </p:txBody>
      </p:sp>
      <p:sp>
        <p:nvSpPr>
          <p:cNvPr id="11" name="費用補足"/>
          <p:cNvSpPr txBox="1"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率の基準は、ビジネスパートナーが元請け側から受け取る案件の金額です。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加入費・月会費・先払いはありません。契約が終われば、月額も止まります。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この率は、たたき台の案です。ご意見をいただいて調整します。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ビジネスパートナーの負担はどれくらいか</a:t>
            </a:r>
            <a:endParaRPr lang="en-US" sz="2800" dirty="0"/>
          </a:p>
        </p:txBody>
      </p:sp>
      <p:graphicFrame>
        <p:nvGraphicFramePr>
          <p:cNvPr id="3" name="試算グラフ" descr=""/>
          <p:cNvGraphicFramePr/>
          <p:nvPr/>
        </p:nvGraphicFramePr>
        <p:xfrm>
          <a:off x="457200" y="118872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試算説明カード"/>
          <p:cNvSpPr/>
          <p:nvPr/>
        </p:nvSpPr>
        <p:spPr>
          <a:xfrm>
            <a:off x="5486400" y="1188720"/>
            <a:ext cx="3200400" cy="329184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試算説明"/>
          <p:cNvSpPr txBox="1"/>
          <p:nvPr/>
        </p:nvSpPr>
        <p:spPr>
          <a:xfrm>
            <a:off x="5669280" y="132588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取り分は、仮に20%（月14万円）としています。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GPへの報酬は、取り分の約27%です。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GPで成約が約1.4倍以上に増えれば、単独より得になります。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安心して始めていただくために</a:t>
            </a:r>
            <a:endParaRPr lang="en-US" sz="2800" dirty="0"/>
          </a:p>
        </p:txBody>
      </p:sp>
      <p:sp>
        <p:nvSpPr>
          <p:cNvPr id="3" name="約束カード1"/>
          <p:cNvSpPr/>
          <p:nvPr/>
        </p:nvSpPr>
        <p:spPr>
          <a:xfrm>
            <a:off x="457200" y="118872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約束1円"/>
          <p:cNvSpPr/>
          <p:nvPr/>
        </p:nvSpPr>
        <p:spPr>
          <a:xfrm>
            <a:off x="594360" y="1298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約束1アイコン" descr="約束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399032"/>
            <a:ext cx="256032" cy="256032"/>
          </a:xfrm>
          <a:prstGeom prst="rect">
            <a:avLst/>
          </a:prstGeom>
        </p:spPr>
      </p:pic>
      <p:sp>
        <p:nvSpPr>
          <p:cNvPr id="6" name="約束題1"/>
          <p:cNvSpPr txBox="1"/>
          <p:nvPr/>
        </p:nvSpPr>
        <p:spPr>
          <a:xfrm>
            <a:off x="1188720" y="1298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先払いはゼロ</a:t>
            </a:r>
            <a:endParaRPr lang="en-US" sz="1400" dirty="0"/>
          </a:p>
        </p:txBody>
      </p:sp>
      <p:sp>
        <p:nvSpPr>
          <p:cNvPr id="7" name="約束文1"/>
          <p:cNvSpPr txBox="1"/>
          <p:nvPr/>
        </p:nvSpPr>
        <p:spPr>
          <a:xfrm>
            <a:off x="64008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加入費・月会費は無料。</a:t>
            </a:r>
            <a:endParaRPr lang="en-US" sz="1400" dirty="0"/>
          </a:p>
        </p:txBody>
      </p:sp>
      <p:sp>
        <p:nvSpPr>
          <p:cNvPr id="8" name="約束カード2"/>
          <p:cNvSpPr/>
          <p:nvPr/>
        </p:nvSpPr>
        <p:spPr>
          <a:xfrm>
            <a:off x="3291840" y="118872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約束2円"/>
          <p:cNvSpPr/>
          <p:nvPr/>
        </p:nvSpPr>
        <p:spPr>
          <a:xfrm>
            <a:off x="3429000" y="1298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約束2アイコン" descr="約束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399032"/>
            <a:ext cx="256032" cy="256032"/>
          </a:xfrm>
          <a:prstGeom prst="rect">
            <a:avLst/>
          </a:prstGeom>
        </p:spPr>
      </p:pic>
      <p:sp>
        <p:nvSpPr>
          <p:cNvPr id="11" name="約束題2"/>
          <p:cNvSpPr txBox="1"/>
          <p:nvPr/>
        </p:nvSpPr>
        <p:spPr>
          <a:xfrm>
            <a:off x="4023360" y="1298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仕組みを全部見せる</a:t>
            </a:r>
            <a:endParaRPr lang="en-US" sz="1400" dirty="0"/>
          </a:p>
        </p:txBody>
      </p:sp>
      <p:sp>
        <p:nvSpPr>
          <p:cNvPr id="12" name="約束文2"/>
          <p:cNvSpPr txBox="1"/>
          <p:nvPr/>
        </p:nvSpPr>
        <p:spPr>
          <a:xfrm>
            <a:off x="347472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報酬の計算式と流れを、先にすべて開示します。</a:t>
            </a:r>
            <a:endParaRPr lang="en-US" sz="1400" dirty="0"/>
          </a:p>
        </p:txBody>
      </p:sp>
      <p:sp>
        <p:nvSpPr>
          <p:cNvPr id="13" name="約束カード3"/>
          <p:cNvSpPr/>
          <p:nvPr/>
        </p:nvSpPr>
        <p:spPr>
          <a:xfrm>
            <a:off x="6126480" y="118872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約束3円"/>
          <p:cNvSpPr/>
          <p:nvPr/>
        </p:nvSpPr>
        <p:spPr>
          <a:xfrm>
            <a:off x="6263640" y="1298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約束3アイコン" descr="約束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399032"/>
            <a:ext cx="256032" cy="256032"/>
          </a:xfrm>
          <a:prstGeom prst="rect">
            <a:avLst/>
          </a:prstGeom>
        </p:spPr>
      </p:pic>
      <p:sp>
        <p:nvSpPr>
          <p:cNvPr id="16" name="約束題3"/>
          <p:cNvSpPr txBox="1"/>
          <p:nvPr/>
        </p:nvSpPr>
        <p:spPr>
          <a:xfrm>
            <a:off x="6858000" y="1298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いつでも抜けられる</a:t>
            </a:r>
            <a:endParaRPr lang="en-US" sz="1400" dirty="0"/>
          </a:p>
        </p:txBody>
      </p:sp>
      <p:sp>
        <p:nvSpPr>
          <p:cNvPr id="17" name="約束文3"/>
          <p:cNvSpPr txBox="1"/>
          <p:nvPr/>
        </p:nvSpPr>
        <p:spPr>
          <a:xfrm>
            <a:off x="630936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退会は自由です。違約金もありません。</a:t>
            </a:r>
            <a:endParaRPr lang="en-US" sz="1400" dirty="0"/>
          </a:p>
        </p:txBody>
      </p:sp>
      <p:sp>
        <p:nvSpPr>
          <p:cNvPr id="18" name="約束カード4"/>
          <p:cNvSpPr/>
          <p:nvPr/>
        </p:nvSpPr>
        <p:spPr>
          <a:xfrm>
            <a:off x="457200" y="297180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約束4円"/>
          <p:cNvSpPr/>
          <p:nvPr/>
        </p:nvSpPr>
        <p:spPr>
          <a:xfrm>
            <a:off x="594360" y="3081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約束4アイコン" descr="約束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182112"/>
            <a:ext cx="256032" cy="256032"/>
          </a:xfrm>
          <a:prstGeom prst="rect">
            <a:avLst/>
          </a:prstGeom>
        </p:spPr>
      </p:pic>
      <p:sp>
        <p:nvSpPr>
          <p:cNvPr id="21" name="約束題4"/>
          <p:cNvSpPr txBox="1"/>
          <p:nvPr/>
        </p:nvSpPr>
        <p:spPr>
          <a:xfrm>
            <a:off x="1188720" y="30815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小さく始める</a:t>
            </a:r>
            <a:endParaRPr lang="en-US" sz="1400" dirty="0"/>
          </a:p>
        </p:txBody>
      </p:sp>
      <p:sp>
        <p:nvSpPr>
          <p:cNvPr id="22" name="約束文4"/>
          <p:cNvSpPr txBox="1"/>
          <p:nvPr/>
        </p:nvSpPr>
        <p:spPr>
          <a:xfrm>
            <a:off x="64008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まず、1〜2社で試します。</a:t>
            </a:r>
            <a:endParaRPr lang="en-US" sz="1400" dirty="0"/>
          </a:p>
        </p:txBody>
      </p:sp>
      <p:sp>
        <p:nvSpPr>
          <p:cNvPr id="23" name="約束カード5"/>
          <p:cNvSpPr/>
          <p:nvPr/>
        </p:nvSpPr>
        <p:spPr>
          <a:xfrm>
            <a:off x="3291840" y="297180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約束5円"/>
          <p:cNvSpPr/>
          <p:nvPr/>
        </p:nvSpPr>
        <p:spPr>
          <a:xfrm>
            <a:off x="3429000" y="3081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約束5アイコン" descr="約束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3182112"/>
            <a:ext cx="256032" cy="256032"/>
          </a:xfrm>
          <a:prstGeom prst="rect">
            <a:avLst/>
          </a:prstGeom>
        </p:spPr>
      </p:pic>
      <p:sp>
        <p:nvSpPr>
          <p:cNvPr id="26" name="約束題5"/>
          <p:cNvSpPr txBox="1"/>
          <p:nvPr/>
        </p:nvSpPr>
        <p:spPr>
          <a:xfrm>
            <a:off x="4023360" y="30815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急がない</a:t>
            </a:r>
            <a:endParaRPr lang="en-US" sz="1400" dirty="0"/>
          </a:p>
        </p:txBody>
      </p:sp>
      <p:sp>
        <p:nvSpPr>
          <p:cNvPr id="27" name="約束文5"/>
          <p:cNvSpPr txBox="1"/>
          <p:nvPr/>
        </p:nvSpPr>
        <p:spPr>
          <a:xfrm>
            <a:off x="347472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お返事は、納得してからで構いません。</a:t>
            </a:r>
            <a:endParaRPr lang="en-US" sz="1400" dirty="0"/>
          </a:p>
        </p:txBody>
      </p:sp>
      <p:sp>
        <p:nvSpPr>
          <p:cNvPr id="28" name="約束カード6"/>
          <p:cNvSpPr/>
          <p:nvPr/>
        </p:nvSpPr>
        <p:spPr>
          <a:xfrm>
            <a:off x="6126480" y="297180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9" name="約束6円"/>
          <p:cNvSpPr/>
          <p:nvPr/>
        </p:nvSpPr>
        <p:spPr>
          <a:xfrm>
            <a:off x="6263640" y="3081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約束6アイコン" descr="約束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3182112"/>
            <a:ext cx="256032" cy="256032"/>
          </a:xfrm>
          <a:prstGeom prst="rect">
            <a:avLst/>
          </a:prstGeom>
        </p:spPr>
      </p:pic>
      <p:sp>
        <p:nvSpPr>
          <p:cNvPr id="31" name="約束題6"/>
          <p:cNvSpPr txBox="1"/>
          <p:nvPr/>
        </p:nvSpPr>
        <p:spPr>
          <a:xfrm>
            <a:off x="6858000" y="30815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重複所属は話し合い</a:t>
            </a:r>
            <a:endParaRPr lang="en-US" sz="1400" dirty="0"/>
          </a:p>
        </p:txBody>
      </p:sp>
      <p:sp>
        <p:nvSpPr>
          <p:cNvPr id="32" name="約束文6"/>
          <p:cNvSpPr txBox="1"/>
          <p:nvPr/>
        </p:nvSpPr>
        <p:spPr>
          <a:xfrm>
            <a:off x="630936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ビジネスパートナー同士で話し合います。分からない場合は先着順とし、規約に明記します。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まず小さく試して、数字で確かめる</a:t>
            </a:r>
            <a:endParaRPr lang="en-US" sz="2800" dirty="0"/>
          </a:p>
        </p:txBody>
      </p:sp>
      <p:sp>
        <p:nvSpPr>
          <p:cNvPr id="3" name="段階カード1"/>
          <p:cNvSpPr/>
          <p:nvPr/>
        </p:nvSpPr>
        <p:spPr>
          <a:xfrm>
            <a:off x="457200" y="123444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段階1円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pic>
        <p:nvPicPr>
          <p:cNvPr id="5" name="段階1アイコン" descr="段階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1512418"/>
            <a:ext cx="358445" cy="358445"/>
          </a:xfrm>
          <a:prstGeom prst="rect">
            <a:avLst/>
          </a:prstGeom>
        </p:spPr>
      </p:pic>
      <p:sp>
        <p:nvSpPr>
          <p:cNvPr id="6" name="段階題1"/>
          <p:cNvSpPr txBox="1"/>
          <p:nvPr/>
        </p:nvSpPr>
        <p:spPr>
          <a:xfrm>
            <a:off x="1417320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試す</a:t>
            </a:r>
            <a:endParaRPr lang="en-US" sz="2000" dirty="0"/>
          </a:p>
        </p:txBody>
      </p:sp>
      <p:sp>
        <p:nvSpPr>
          <p:cNvPr id="7" name="段階文1"/>
          <p:cNvSpPr txBox="1"/>
          <p:nvPr/>
        </p:nvSpPr>
        <p:spPr>
          <a:xfrm>
            <a:off x="640080" y="21945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エンジニア1〜2人・案件5〜10件で、費用のかからない形で始めます。</a:t>
            </a:r>
            <a:endParaRPr lang="en-US" sz="1400" dirty="0"/>
          </a:p>
        </p:txBody>
      </p:sp>
      <p:sp>
        <p:nvSpPr>
          <p:cNvPr id="8" name="段階矢印1"/>
          <p:cNvSpPr/>
          <p:nvPr/>
        </p:nvSpPr>
        <p:spPr>
          <a:xfrm>
            <a:off x="3035808" y="2194560"/>
            <a:ext cx="237744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段階カード2"/>
          <p:cNvSpPr/>
          <p:nvPr/>
        </p:nvSpPr>
        <p:spPr>
          <a:xfrm>
            <a:off x="3291840" y="123444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段階2円"/>
          <p:cNvSpPr/>
          <p:nvPr/>
        </p:nvSpPr>
        <p:spPr>
          <a:xfrm>
            <a:off x="3474720" y="1371600"/>
            <a:ext cx="640080" cy="64008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pic>
        <p:nvPicPr>
          <p:cNvPr id="11" name="段階2アイコン" descr="段階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538" y="1512418"/>
            <a:ext cx="358445" cy="358445"/>
          </a:xfrm>
          <a:prstGeom prst="rect">
            <a:avLst/>
          </a:prstGeom>
        </p:spPr>
      </p:pic>
      <p:sp>
        <p:nvSpPr>
          <p:cNvPr id="12" name="段階題2"/>
          <p:cNvSpPr txBox="1"/>
          <p:nvPr/>
        </p:nvSpPr>
        <p:spPr>
          <a:xfrm>
            <a:off x="4251960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測る</a:t>
            </a:r>
            <a:endParaRPr lang="en-US" sz="2000" dirty="0"/>
          </a:p>
        </p:txBody>
      </p:sp>
      <p:sp>
        <p:nvSpPr>
          <p:cNvPr id="13" name="段階文2"/>
          <p:cNvSpPr txBox="1"/>
          <p:nvPr/>
        </p:nvSpPr>
        <p:spPr>
          <a:xfrm>
            <a:off x="3474720" y="21945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応募から延長まで、1件ずつ記録します。</a:t>
            </a:r>
            <a:endParaRPr lang="en-US" sz="1400" dirty="0"/>
          </a:p>
        </p:txBody>
      </p:sp>
      <p:sp>
        <p:nvSpPr>
          <p:cNvPr id="14" name="段階矢印2"/>
          <p:cNvSpPr/>
          <p:nvPr/>
        </p:nvSpPr>
        <p:spPr>
          <a:xfrm>
            <a:off x="5870448" y="2194560"/>
            <a:ext cx="237744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段階カード3"/>
          <p:cNvSpPr/>
          <p:nvPr/>
        </p:nvSpPr>
        <p:spPr>
          <a:xfrm>
            <a:off x="6126480" y="123444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段階3円"/>
          <p:cNvSpPr/>
          <p:nvPr/>
        </p:nvSpPr>
        <p:spPr>
          <a:xfrm>
            <a:off x="6309360" y="1371600"/>
            <a:ext cx="640080" cy="640080"/>
          </a:xfrm>
          <a:prstGeom prst="ellipse">
            <a:avLst/>
          </a:prstGeom>
          <a:solidFill>
            <a:srgbClr val="F5B971"/>
          </a:solidFill>
          <a:ln w="12700">
            <a:solidFill>
              <a:srgbClr val="F5B971"/>
            </a:solidFill>
            <a:prstDash val="solid"/>
          </a:ln>
        </p:spPr>
      </p:sp>
      <p:pic>
        <p:nvPicPr>
          <p:cNvPr id="17" name="段階3アイコン" descr="段階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78" y="1512418"/>
            <a:ext cx="358445" cy="358445"/>
          </a:xfrm>
          <a:prstGeom prst="rect">
            <a:avLst/>
          </a:prstGeom>
        </p:spPr>
      </p:pic>
      <p:sp>
        <p:nvSpPr>
          <p:cNvPr id="18" name="段階題3"/>
          <p:cNvSpPr txBox="1"/>
          <p:nvPr/>
        </p:nvSpPr>
        <p:spPr>
          <a:xfrm>
            <a:off x="7086600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広げる</a:t>
            </a:r>
            <a:endParaRPr lang="en-US" sz="2000" dirty="0"/>
          </a:p>
        </p:txBody>
      </p:sp>
      <p:sp>
        <p:nvSpPr>
          <p:cNvPr id="19" name="段階文3"/>
          <p:cNvSpPr txBox="1"/>
          <p:nvPr/>
        </p:nvSpPr>
        <p:spPr>
          <a:xfrm>
            <a:off x="6309360" y="21945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効果を確かめてから、ビジネスパートナーを増やします。</a:t>
            </a:r>
            <a:endParaRPr lang="en-US" sz="1400" dirty="0"/>
          </a:p>
        </p:txBody>
      </p:sp>
      <p:sp>
        <p:nvSpPr>
          <p:cNvPr id="20" name="指標題"/>
          <p:cNvSpPr txBox="1"/>
          <p:nvPr/>
        </p:nvSpPr>
        <p:spPr>
          <a:xfrm>
            <a:off x="4572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測る数字</a:t>
            </a:r>
            <a:endParaRPr lang="en-US" sz="1200" dirty="0"/>
          </a:p>
        </p:txBody>
      </p:sp>
      <p:sp>
        <p:nvSpPr>
          <p:cNvPr id="21" name="指標箱1"/>
          <p:cNvSpPr/>
          <p:nvPr/>
        </p:nvSpPr>
        <p:spPr>
          <a:xfrm>
            <a:off x="457200" y="402336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指標1"/>
          <p:cNvSpPr txBox="1"/>
          <p:nvPr/>
        </p:nvSpPr>
        <p:spPr>
          <a:xfrm>
            <a:off x="45720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書類通過率</a:t>
            </a:r>
            <a:endParaRPr lang="en-US" sz="1200" dirty="0"/>
          </a:p>
        </p:txBody>
      </p:sp>
      <p:sp>
        <p:nvSpPr>
          <p:cNvPr id="23" name="指標箱2"/>
          <p:cNvSpPr/>
          <p:nvPr/>
        </p:nvSpPr>
        <p:spPr>
          <a:xfrm>
            <a:off x="2121408" y="402336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4" name="指標2"/>
          <p:cNvSpPr txBox="1"/>
          <p:nvPr/>
        </p:nvSpPr>
        <p:spPr>
          <a:xfrm>
            <a:off x="2121408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面談通過率</a:t>
            </a:r>
            <a:endParaRPr lang="en-US" sz="1200" dirty="0"/>
          </a:p>
        </p:txBody>
      </p:sp>
      <p:sp>
        <p:nvSpPr>
          <p:cNvPr id="25" name="指標箱3"/>
          <p:cNvSpPr/>
          <p:nvPr/>
        </p:nvSpPr>
        <p:spPr>
          <a:xfrm>
            <a:off x="3785616" y="402336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指標3"/>
          <p:cNvSpPr txBox="1"/>
          <p:nvPr/>
        </p:nvSpPr>
        <p:spPr>
          <a:xfrm>
            <a:off x="3785616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成約率</a:t>
            </a:r>
            <a:endParaRPr lang="en-US" sz="1200" dirty="0"/>
          </a:p>
        </p:txBody>
      </p:sp>
      <p:sp>
        <p:nvSpPr>
          <p:cNvPr id="27" name="指標箱4"/>
          <p:cNvSpPr/>
          <p:nvPr/>
        </p:nvSpPr>
        <p:spPr>
          <a:xfrm>
            <a:off x="5449824" y="402336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8" name="指標4"/>
          <p:cNvSpPr txBox="1"/>
          <p:nvPr/>
        </p:nvSpPr>
        <p:spPr>
          <a:xfrm>
            <a:off x="5449824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成約までの日数</a:t>
            </a:r>
            <a:endParaRPr lang="en-US" sz="1200" dirty="0"/>
          </a:p>
        </p:txBody>
      </p:sp>
      <p:sp>
        <p:nvSpPr>
          <p:cNvPr id="29" name="指標箱5"/>
          <p:cNvSpPr/>
          <p:nvPr/>
        </p:nvSpPr>
        <p:spPr>
          <a:xfrm>
            <a:off x="7114032" y="402336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指標5"/>
          <p:cNvSpPr txBox="1"/>
          <p:nvPr/>
        </p:nvSpPr>
        <p:spPr>
          <a:xfrm>
            <a:off x="7114032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延長率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オプション：成約のあと、育てる方向</a:t>
            </a:r>
            <a:endParaRPr lang="en-US" sz="2800" dirty="0"/>
          </a:p>
        </p:txBody>
      </p:sp>
      <p:sp>
        <p:nvSpPr>
          <p:cNvPr id="3" name="オプション札"/>
          <p:cNvSpPr/>
          <p:nvPr/>
        </p:nvSpPr>
        <p:spPr>
          <a:xfrm>
            <a:off x="7315200" y="411480"/>
            <a:ext cx="137160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オプション札文"/>
          <p:cNvSpPr txBox="1"/>
          <p:nvPr/>
        </p:nvSpPr>
        <p:spPr>
          <a:xfrm>
            <a:off x="7315200" y="411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オプション</a:t>
            </a:r>
            <a:endParaRPr lang="en-US" sz="1400" dirty="0"/>
          </a:p>
        </p:txBody>
      </p:sp>
      <p:sp>
        <p:nvSpPr>
          <p:cNvPr id="5" name="オプションカード1"/>
          <p:cNvSpPr/>
          <p:nvPr/>
        </p:nvSpPr>
        <p:spPr>
          <a:xfrm>
            <a:off x="457200" y="1234440"/>
            <a:ext cx="40233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オプション1円"/>
          <p:cNvSpPr/>
          <p:nvPr/>
        </p:nvSpPr>
        <p:spPr>
          <a:xfrm>
            <a:off x="685800" y="1417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オプション1アイコン" descr="オプション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578254"/>
            <a:ext cx="409651" cy="409651"/>
          </a:xfrm>
          <a:prstGeom prst="rect">
            <a:avLst/>
          </a:prstGeom>
        </p:spPr>
      </p:pic>
      <p:sp>
        <p:nvSpPr>
          <p:cNvPr id="8" name="オプション題1"/>
          <p:cNvSpPr txBox="1"/>
          <p:nvPr/>
        </p:nvSpPr>
        <p:spPr>
          <a:xfrm>
            <a:off x="1554480" y="1417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配属後のフォロー</a:t>
            </a:r>
            <a:endParaRPr lang="en-US" sz="1800" dirty="0"/>
          </a:p>
        </p:txBody>
      </p:sp>
      <p:sp>
        <p:nvSpPr>
          <p:cNvPr id="9" name="オプション文1"/>
          <p:cNvSpPr txBox="1"/>
          <p:nvPr/>
        </p:nvSpPr>
        <p:spPr>
          <a:xfrm>
            <a:off x="685800" y="23317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最初の1か月に、困りごとや相性を短くヒアリング。早めに手を打てば、契約の延長につながります。</a:t>
            </a:r>
            <a:endParaRPr lang="en-US" sz="1400" dirty="0"/>
          </a:p>
        </p:txBody>
      </p:sp>
      <p:sp>
        <p:nvSpPr>
          <p:cNvPr id="10" name="オプションカード2"/>
          <p:cNvSpPr/>
          <p:nvPr/>
        </p:nvSpPr>
        <p:spPr>
          <a:xfrm>
            <a:off x="4663440" y="1234440"/>
            <a:ext cx="40233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オプション2円"/>
          <p:cNvSpPr/>
          <p:nvPr/>
        </p:nvSpPr>
        <p:spPr>
          <a:xfrm>
            <a:off x="4892040" y="1417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オプション2アイコン" descr="オプション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974" y="1578254"/>
            <a:ext cx="409651" cy="409651"/>
          </a:xfrm>
          <a:prstGeom prst="rect">
            <a:avLst/>
          </a:prstGeom>
        </p:spPr>
      </p:pic>
      <p:sp>
        <p:nvSpPr>
          <p:cNvPr id="13" name="オプション題2"/>
          <p:cNvSpPr txBox="1"/>
          <p:nvPr/>
        </p:nvSpPr>
        <p:spPr>
          <a:xfrm>
            <a:off x="5760720" y="1417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スキルの差を見える化</a:t>
            </a:r>
            <a:endParaRPr lang="en-US" sz="1800" dirty="0"/>
          </a:p>
        </p:txBody>
      </p:sp>
      <p:sp>
        <p:nvSpPr>
          <p:cNvPr id="14" name="オプション文2"/>
          <p:cNvSpPr txBox="1"/>
          <p:nvPr/>
        </p:nvSpPr>
        <p:spPr>
          <a:xfrm>
            <a:off x="4892040" y="23317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案件で求められた技術と、エンジニアの経験の差を記録し、次に学ぶことを提案します。</a:t>
            </a:r>
            <a:endParaRPr lang="en-US" sz="1400" dirty="0"/>
          </a:p>
        </p:txBody>
      </p:sp>
      <p:sp>
        <p:nvSpPr>
          <p:cNvPr id="15" name="オプション補足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エンジニアを育てたい、という想いに一番近い部分です。必要に応じて、あとから加えられます。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阿部さんにお願いしたいこと</a:t>
            </a:r>
            <a:endParaRPr lang="en-US" sz="2800" dirty="0"/>
          </a:p>
        </p:txBody>
      </p:sp>
      <p:sp>
        <p:nvSpPr>
          <p:cNvPr id="3" name="お願い1円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お願い1アイコン" descr="お願い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1375258"/>
            <a:ext cx="358445" cy="358445"/>
          </a:xfrm>
          <a:prstGeom prst="rect">
            <a:avLst/>
          </a:prstGeom>
        </p:spPr>
      </p:pic>
      <p:sp>
        <p:nvSpPr>
          <p:cNvPr id="5" name="お願い題1"/>
          <p:cNvSpPr txBox="1"/>
          <p:nvPr/>
        </p:nvSpPr>
        <p:spPr>
          <a:xfrm>
            <a:off x="1325880" y="1188720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お知り合いのビジネスパートナーへのご紹介</a:t>
            </a:r>
            <a:endParaRPr lang="en-US" sz="1600" dirty="0"/>
          </a:p>
        </p:txBody>
      </p:sp>
      <p:sp>
        <p:nvSpPr>
          <p:cNvPr id="6" name="お願い文1"/>
          <p:cNvSpPr txBox="1"/>
          <p:nvPr/>
        </p:nvSpPr>
        <p:spPr>
          <a:xfrm>
            <a:off x="1325880" y="160020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最初のビジネスパートナーへのお声がけを、お願いしたいです。</a:t>
            </a:r>
            <a:endParaRPr lang="en-US" sz="1400" dirty="0"/>
          </a:p>
        </p:txBody>
      </p:sp>
      <p:sp>
        <p:nvSpPr>
          <p:cNvPr id="7" name="お願い2円"/>
          <p:cNvSpPr/>
          <p:nvPr/>
        </p:nvSpPr>
        <p:spPr>
          <a:xfrm>
            <a:off x="457200" y="21488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お願い2アイコン" descr="お願い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8" y="2289658"/>
            <a:ext cx="358445" cy="358445"/>
          </a:xfrm>
          <a:prstGeom prst="rect">
            <a:avLst/>
          </a:prstGeom>
        </p:spPr>
      </p:pic>
      <p:sp>
        <p:nvSpPr>
          <p:cNvPr id="9" name="お願い題2"/>
          <p:cNvSpPr txBox="1"/>
          <p:nvPr/>
        </p:nvSpPr>
        <p:spPr>
          <a:xfrm>
            <a:off x="1325880" y="2103120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成約の確認（監査）</a:t>
            </a:r>
            <a:endParaRPr lang="en-US" sz="1600" dirty="0"/>
          </a:p>
        </p:txBody>
      </p:sp>
      <p:sp>
        <p:nvSpPr>
          <p:cNvPr id="10" name="お願い文2"/>
          <p:cNvSpPr txBox="1"/>
          <p:nvPr/>
        </p:nvSpPr>
        <p:spPr>
          <a:xfrm>
            <a:off x="1325880" y="251460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報酬の申告が正しいか、信頼できる立場で見ていただきたいです。</a:t>
            </a:r>
            <a:endParaRPr lang="en-US" sz="1400" dirty="0"/>
          </a:p>
        </p:txBody>
      </p:sp>
      <p:sp>
        <p:nvSpPr>
          <p:cNvPr id="11" name="お願い3円"/>
          <p:cNvSpPr/>
          <p:nvPr/>
        </p:nvSpPr>
        <p:spPr>
          <a:xfrm>
            <a:off x="457200" y="3063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お願い3アイコン" descr="お願い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3204058"/>
            <a:ext cx="358445" cy="358445"/>
          </a:xfrm>
          <a:prstGeom prst="rect">
            <a:avLst/>
          </a:prstGeom>
        </p:spPr>
      </p:pic>
      <p:sp>
        <p:nvSpPr>
          <p:cNvPr id="13" name="お願い題3"/>
          <p:cNvSpPr txBox="1"/>
          <p:nvPr/>
        </p:nvSpPr>
        <p:spPr>
          <a:xfrm>
            <a:off x="1325880" y="3017520"/>
            <a:ext cx="7360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仕組みへのご意見</a:t>
            </a:r>
            <a:endParaRPr lang="en-US" sz="1600" dirty="0"/>
          </a:p>
        </p:txBody>
      </p:sp>
      <p:sp>
        <p:nvSpPr>
          <p:cNvPr id="14" name="お願い文3"/>
          <p:cNvSpPr txBox="1"/>
          <p:nvPr/>
        </p:nvSpPr>
        <p:spPr>
          <a:xfrm>
            <a:off x="1325880" y="342900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現場をよくご存じの目で、率やルールを一緒に決めてください。</a:t>
            </a:r>
            <a:endParaRPr lang="en-US" sz="1400" dirty="0"/>
          </a:p>
        </p:txBody>
      </p:sp>
      <p:sp>
        <p:nvSpPr>
          <p:cNvPr id="15" name="お支払い枠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お支払い文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阿部さんへの報酬は、成果が見える形で、お支払いの時期と割合を一緒に相談して決めます。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Parks（仮）企画書 たたき台</dc:title>
  <dc:subject>PptxGenJS Presentation</dc:subject>
  <dc:creator>tezzo</dc:creator>
  <cp:lastModifiedBy>tezzo</cp:lastModifiedBy>
  <cp:revision>1</cp:revision>
  <dcterms:created xsi:type="dcterms:W3CDTF">2026-10-13T22:46:01Z</dcterms:created>
  <dcterms:modified xsi:type="dcterms:W3CDTF">2026-10-13T22:46:01Z</dcterms:modified>
</cp:coreProperties>
</file>