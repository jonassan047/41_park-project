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5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16485F92-9BE7-A7E3-EF36-B53A3307E266}">
          <p14:sldIdLst>
            <p14:sldId id="256"/>
            <p14:sldId id="257"/>
            <p14:sldId id="265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-46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A6D06-0D78-437D-9F0D-905D6BD4567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E745A-8430-431F-B969-4E42882C86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561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締め：みなさまで結束（グループ化）すれば、受けられる案件が増え、人が足りない案件も埋められ、決まるほど案件が集まる。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Parks（仮）｜ご提案（たたき台）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 smtClean="0">
                <a:solidFill>
                  <a:schemeClr val="bg1"/>
                </a:solidFill>
              </a:rPr>
              <a:t>PARKS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ja-JP" sz="1600" dirty="0" smtClean="0">
                <a:solidFill>
                  <a:schemeClr val="accent4"/>
                </a:solidFill>
              </a:rPr>
              <a:t>SES</a:t>
            </a:r>
            <a:r>
              <a:rPr lang="ja-JP" altLang="en-US" sz="1600" dirty="0" smtClean="0">
                <a:solidFill>
                  <a:schemeClr val="accent4"/>
                </a:solidFill>
              </a:rPr>
              <a:t>企業とエンジニアが、気楽に参加できる場</a:t>
            </a:r>
            <a:endParaRPr lang="en-US" sz="1600" dirty="0"/>
          </a:p>
          <a:p>
            <a:pPr marL="0" indent="0" algn="l">
              <a:buNone/>
            </a:pPr>
            <a:r>
              <a:rPr lang="ja-JP" altLang="en-US" sz="1600" dirty="0" smtClean="0">
                <a:solidFill>
                  <a:schemeClr val="accent4"/>
                </a:solidFill>
              </a:rPr>
              <a:t>エンジニアの成約率を、ぐっと引き上げる仕組み</a:t>
            </a:r>
            <a:endParaRPr lang="en-US" sz="1600" dirty="0"/>
          </a:p>
          <a:p>
            <a:pPr marL="0" indent="0" algn="l">
              <a:buNone/>
            </a:pPr>
            <a:r>
              <a:rPr lang="en-US" altLang="ja-JP" sz="1600" dirty="0" smtClean="0">
                <a:solidFill>
                  <a:schemeClr val="accent4"/>
                </a:solidFill>
              </a:rPr>
              <a:t>SES</a:t>
            </a:r>
            <a:r>
              <a:rPr lang="ja-JP" altLang="en-US" sz="1600" dirty="0" smtClean="0">
                <a:solidFill>
                  <a:schemeClr val="accent4"/>
                </a:solidFill>
              </a:rPr>
              <a:t>企業のみなさまへのご提案です</a:t>
            </a:r>
            <a:endParaRPr lang="en-US" altLang="ja-JP" sz="1600" dirty="0" smtClean="0">
              <a:solidFill>
                <a:schemeClr val="accent4"/>
              </a:solidFill>
            </a:endParaRPr>
          </a:p>
          <a:p>
            <a:pPr marL="0" indent="0" algn="l">
              <a:buNone/>
            </a:pPr>
            <a:endParaRPr lang="en-US" altLang="ja-JP" sz="1600" dirty="0" smtClean="0">
              <a:solidFill>
                <a:schemeClr val="accent4"/>
              </a:solidFill>
            </a:endParaRPr>
          </a:p>
          <a:p>
            <a:pPr marL="0" indent="0" algn="l">
              <a:buNone/>
            </a:pPr>
            <a:r>
              <a:rPr lang="en-US" sz="1200" dirty="0" smtClean="0">
                <a:solidFill>
                  <a:schemeClr val="accent4"/>
                </a:solidFill>
              </a:rPr>
              <a:t>2026</a:t>
            </a:r>
            <a:r>
              <a:rPr lang="en-US" sz="1200" dirty="0">
                <a:solidFill>
                  <a:schemeClr val="accent4"/>
                </a:solidFill>
              </a:rPr>
              <a:t>年10月14日</a:t>
            </a:r>
            <a:endParaRPr lang="en-US" sz="1600" dirty="0"/>
          </a:p>
        </p:txBody>
      </p:sp>
      <p:sp>
        <p:nvSpPr>
          <p:cNvPr id="4" name="表紙円"/>
          <p:cNvSpPr/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 descr="表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394996" y="31165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 smtClean="0">
                <a:solidFill>
                  <a:schemeClr val="tx1"/>
                </a:solidFill>
              </a:rPr>
              <a:t>プロジェクトに賭ける私の想い</a:t>
            </a:r>
            <a:endParaRPr lang="en-US" sz="2800" dirty="0"/>
          </a:p>
        </p:txBody>
      </p:sp>
      <p:grpSp>
        <p:nvGrpSpPr>
          <p:cNvPr id="14" name="グループ化 13"/>
          <p:cNvGrpSpPr/>
          <p:nvPr/>
        </p:nvGrpSpPr>
        <p:grpSpPr>
          <a:xfrm>
            <a:off x="463421" y="2223721"/>
            <a:ext cx="8229600" cy="2377440"/>
            <a:chOff x="339013" y="2472538"/>
            <a:chExt cx="8229600" cy="2377440"/>
          </a:xfrm>
        </p:grpSpPr>
        <p:sp>
          <p:nvSpPr>
            <p:cNvPr id="3" name="想い1円"/>
            <p:cNvSpPr/>
            <p:nvPr/>
          </p:nvSpPr>
          <p:spPr>
            <a:xfrm>
              <a:off x="339013" y="2472538"/>
              <a:ext cx="640080" cy="6400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  <p:pic>
          <p:nvPicPr>
            <p:cNvPr id="4" name="想い1アイコン" descr="想い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831" y="2613356"/>
              <a:ext cx="358445" cy="358445"/>
            </a:xfrm>
            <a:prstGeom prst="rect">
              <a:avLst/>
            </a:prstGeom>
          </p:spPr>
        </p:pic>
        <p:sp>
          <p:nvSpPr>
            <p:cNvPr id="5" name="想い文1"/>
            <p:cNvSpPr txBox="1"/>
            <p:nvPr/>
          </p:nvSpPr>
          <p:spPr>
            <a:xfrm>
              <a:off x="1207693" y="2472538"/>
              <a:ext cx="7360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ja-JP" sz="1800" b="1" dirty="0" smtClean="0">
                  <a:solidFill>
                    <a:schemeClr val="tx1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SES</a:t>
              </a:r>
              <a:r>
                <a:rPr lang="ja-JP" altLang="en-US" sz="1800" b="1" dirty="0" smtClean="0">
                  <a:solidFill>
                    <a:schemeClr val="tx1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企業を横のつながりで活性化し、結びつきを強くしたい</a:t>
              </a:r>
              <a:endParaRPr lang="en-US" sz="1800" dirty="0"/>
            </a:p>
          </p:txBody>
        </p:sp>
        <p:sp>
          <p:nvSpPr>
            <p:cNvPr id="6" name="想い2円"/>
            <p:cNvSpPr/>
            <p:nvPr/>
          </p:nvSpPr>
          <p:spPr>
            <a:xfrm>
              <a:off x="339013" y="3341218"/>
              <a:ext cx="640080" cy="6400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  <p:pic>
          <p:nvPicPr>
            <p:cNvPr id="7" name="想い2アイコン" descr="想い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831" y="3482036"/>
              <a:ext cx="358445" cy="358445"/>
            </a:xfrm>
            <a:prstGeom prst="rect">
              <a:avLst/>
            </a:prstGeom>
          </p:spPr>
        </p:pic>
        <p:sp>
          <p:nvSpPr>
            <p:cNvPr id="8" name="想い文2"/>
            <p:cNvSpPr txBox="1"/>
            <p:nvPr/>
          </p:nvSpPr>
          <p:spPr>
            <a:xfrm>
              <a:off x="1207693" y="3341218"/>
              <a:ext cx="7360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1800" b="1" dirty="0" smtClean="0">
                  <a:solidFill>
                    <a:schemeClr val="tx1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届いた案件を迅速にスキルのマッチしたエンジニアに届けたい</a:t>
              </a:r>
              <a:endParaRPr lang="en-US" sz="1800" dirty="0"/>
            </a:p>
          </p:txBody>
        </p:sp>
        <p:sp>
          <p:nvSpPr>
            <p:cNvPr id="9" name="想い3円"/>
            <p:cNvSpPr/>
            <p:nvPr/>
          </p:nvSpPr>
          <p:spPr>
            <a:xfrm>
              <a:off x="339013" y="4209898"/>
              <a:ext cx="640080" cy="6400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  <p:pic>
          <p:nvPicPr>
            <p:cNvPr id="10" name="想い3アイコン" descr="想い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9831" y="4350716"/>
              <a:ext cx="358445" cy="358445"/>
            </a:xfrm>
            <a:prstGeom prst="rect">
              <a:avLst/>
            </a:prstGeom>
          </p:spPr>
        </p:pic>
        <p:sp>
          <p:nvSpPr>
            <p:cNvPr id="11" name="想い文3"/>
            <p:cNvSpPr txBox="1"/>
            <p:nvPr/>
          </p:nvSpPr>
          <p:spPr>
            <a:xfrm>
              <a:off x="1207693" y="4209898"/>
              <a:ext cx="7360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1800" b="1" dirty="0" smtClean="0">
                  <a:solidFill>
                    <a:schemeClr val="tx1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エンジニアの職務経歴を的確に伝え、成約率をアップしたい</a:t>
              </a:r>
              <a:endParaRPr lang="en-US" sz="1800" dirty="0"/>
            </a:p>
          </p:txBody>
        </p:sp>
      </p:grpSp>
      <p:grpSp>
        <p:nvGrpSpPr>
          <p:cNvPr id="15" name="グループ化 14"/>
          <p:cNvGrpSpPr/>
          <p:nvPr/>
        </p:nvGrpSpPr>
        <p:grpSpPr>
          <a:xfrm>
            <a:off x="394996" y="1092926"/>
            <a:ext cx="8298025" cy="722819"/>
            <a:chOff x="394996" y="1092926"/>
            <a:chExt cx="8298025" cy="722819"/>
          </a:xfrm>
        </p:grpSpPr>
        <p:sp>
          <p:nvSpPr>
            <p:cNvPr id="12" name="経験帯"/>
            <p:cNvSpPr/>
            <p:nvPr/>
          </p:nvSpPr>
          <p:spPr>
            <a:xfrm>
              <a:off x="463421" y="1092926"/>
              <a:ext cx="8229600" cy="685800"/>
            </a:xfrm>
            <a:prstGeom prst="roundRect">
              <a:avLst>
                <a:gd name="adj" fmla="val 16000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  <p:sp>
          <p:nvSpPr>
            <p:cNvPr id="13" name="経験文"/>
            <p:cNvSpPr txBox="1"/>
            <p:nvPr/>
          </p:nvSpPr>
          <p:spPr>
            <a:xfrm>
              <a:off x="394996" y="1129945"/>
              <a:ext cx="82296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chemeClr val="bg1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エンジニアを15年以上続けてきた私だから、提案できます</a:t>
              </a:r>
              <a:endParaRPr lang="en-US" sz="18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dirty="0" smtClean="0">
                <a:solidFill>
                  <a:schemeClr val="tx1"/>
                </a:solidFill>
                <a:latin typeface="Meiryo"/>
                <a:ea typeface="Meiryo"/>
              </a:rPr>
              <a:t>SES</a:t>
            </a:r>
            <a:r>
              <a:rPr lang="ja-JP" altLang="en-US" sz="2800" dirty="0" smtClean="0">
                <a:solidFill>
                  <a:schemeClr val="tx1"/>
                </a:solidFill>
                <a:latin typeface="Meiryo"/>
                <a:ea typeface="Meiryo"/>
              </a:rPr>
              <a:t>各社が結束</a:t>
            </a:r>
            <a:r>
              <a:rPr lang="ja-JP" altLang="en-US" sz="2800" dirty="0" smtClean="0">
                <a:solidFill>
                  <a:schemeClr val="tx1"/>
                </a:solidFill>
                <a:latin typeface="Meiryo"/>
                <a:ea typeface="Meiryo"/>
              </a:rPr>
              <a:t>すれば、仕事は増えます</a:t>
            </a:r>
            <a:endParaRPr lang="en-US" sz="2800" dirty="0">
              <a:latin typeface="Meiryo"/>
              <a:ea typeface="Meiryo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4" name="仲間0"/>
          <p:cNvSpPr/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2B4A6F"/>
                </a:solidFill>
                <a:latin typeface="Meiryo"/>
                <a:ea typeface="Meiryo"/>
              </a:rPr>
              <a:t>SES</a:t>
            </a:r>
            <a:r>
              <a:rPr kumimoji="1" lang="ja-JP" altLang="en-US" sz="1000" b="1" dirty="0" smtClean="0">
                <a:solidFill>
                  <a:srgbClr val="2B4A6F"/>
                </a:solidFill>
                <a:latin typeface="Meiryo"/>
                <a:ea typeface="Meiryo"/>
              </a:rPr>
              <a:t>企業</a:t>
            </a:r>
            <a:r>
              <a:rPr kumimoji="1" lang="en-US" altLang="ja-JP" sz="1000" b="1" dirty="0" smtClean="0">
                <a:solidFill>
                  <a:srgbClr val="2B4A6F"/>
                </a:solidFill>
                <a:latin typeface="Meiryo"/>
                <a:ea typeface="Meiryo"/>
              </a:rPr>
              <a:t>A</a:t>
            </a:r>
            <a:endParaRPr kumimoji="1" lang="ja-JP" altLang="en-US" sz="1000" b="1" dirty="0" smtClean="0">
              <a:solidFill>
                <a:srgbClr val="2B4A6F"/>
              </a:solidFill>
              <a:latin typeface="Meiryo"/>
              <a:ea typeface="Meiryo"/>
            </a:endParaRPr>
          </a:p>
          <a:p>
            <a:pPr algn="ctr"/>
            <a:r>
              <a:rPr kumimoji="1" lang="ja-JP" altLang="en-US" sz="900" dirty="0" smtClean="0">
                <a:solidFill>
                  <a:srgbClr val="2B4A6F"/>
                </a:solidFill>
                <a:latin typeface="Meiryo"/>
                <a:ea typeface="Meiryo"/>
              </a:rPr>
              <a:t>エンジニア数名</a:t>
            </a:r>
            <a:endParaRPr kumimoji="1" lang="ja-JP" altLang="en-US" sz="9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5" name="仲間1"/>
          <p:cNvSpPr/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en-US" altLang="ja-JP" sz="1000" b="1" dirty="0">
                <a:solidFill>
                  <a:srgbClr val="2B4A6F"/>
                </a:solidFill>
                <a:ea typeface="Meiryo"/>
              </a:rPr>
              <a:t>SES</a:t>
            </a:r>
            <a:r>
              <a:rPr kumimoji="1" lang="ja-JP" altLang="en-US" sz="1000" b="1" dirty="0" smtClean="0">
                <a:solidFill>
                  <a:srgbClr val="2B4A6F"/>
                </a:solidFill>
                <a:ea typeface="Meiryo"/>
              </a:rPr>
              <a:t>企業</a:t>
            </a:r>
            <a:r>
              <a:rPr kumimoji="1" lang="en-US" altLang="ja-JP" sz="1000" b="1" dirty="0" smtClean="0">
                <a:solidFill>
                  <a:srgbClr val="2B4A6F"/>
                </a:solidFill>
                <a:ea typeface="Meiryo"/>
              </a:rPr>
              <a:t>B</a:t>
            </a:r>
          </a:p>
          <a:p>
            <a:pPr algn="ctr"/>
            <a:r>
              <a:rPr kumimoji="1" lang="ja-JP" altLang="en-US" sz="900" dirty="0" smtClean="0">
                <a:solidFill>
                  <a:srgbClr val="2B4A6F"/>
                </a:solidFill>
                <a:latin typeface="Meiryo"/>
                <a:ea typeface="Meiryo"/>
              </a:rPr>
              <a:t>エンジニア数名</a:t>
            </a:r>
            <a:endParaRPr kumimoji="1" lang="ja-JP" altLang="en-US" sz="9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6" name="仲間2"/>
          <p:cNvSpPr/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en-US" altLang="ja-JP" sz="1000" b="1" dirty="0">
                <a:solidFill>
                  <a:srgbClr val="2B4A6F"/>
                </a:solidFill>
                <a:ea typeface="Meiryo"/>
              </a:rPr>
              <a:t>SES</a:t>
            </a:r>
            <a:r>
              <a:rPr kumimoji="1" lang="ja-JP" altLang="en-US" sz="1000" b="1" dirty="0" smtClean="0">
                <a:solidFill>
                  <a:srgbClr val="2B4A6F"/>
                </a:solidFill>
                <a:ea typeface="Meiryo"/>
              </a:rPr>
              <a:t>企業</a:t>
            </a:r>
            <a:r>
              <a:rPr kumimoji="1" lang="en-US" altLang="ja-JP" sz="1000" b="1" dirty="0" smtClean="0">
                <a:solidFill>
                  <a:srgbClr val="2B4A6F"/>
                </a:solidFill>
                <a:ea typeface="Meiryo"/>
              </a:rPr>
              <a:t>C</a:t>
            </a:r>
            <a:endParaRPr kumimoji="1" lang="ja-JP" altLang="en-US" sz="1000" b="1" dirty="0" smtClean="0">
              <a:solidFill>
                <a:srgbClr val="2B4A6F"/>
              </a:solidFill>
              <a:latin typeface="Meiryo"/>
              <a:ea typeface="Meiryo"/>
            </a:endParaRPr>
          </a:p>
          <a:p>
            <a:pPr algn="ctr"/>
            <a:r>
              <a:rPr kumimoji="1" lang="ja-JP" altLang="en-US" sz="900" dirty="0" smtClean="0">
                <a:solidFill>
                  <a:srgbClr val="2B4A6F"/>
                </a:solidFill>
                <a:latin typeface="Meiryo"/>
                <a:ea typeface="Meiryo"/>
              </a:rPr>
              <a:t>エンジニア数名</a:t>
            </a:r>
            <a:endParaRPr kumimoji="1" lang="ja-JP" altLang="en-US" sz="9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17" name="結束矢印1"/>
          <p:cNvSpPr/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/>
          <p:cNvGrpSpPr/>
          <p:nvPr/>
        </p:nvGrpSpPr>
        <p:grpSpPr>
          <a:xfrm>
            <a:off x="3246016" y="1216025"/>
            <a:ext cx="1670050" cy="2089150"/>
            <a:chOff x="2082800" y="1219200"/>
            <a:chExt cx="1670050" cy="2089150"/>
          </a:xfrm>
        </p:grpSpPr>
        <p:sp>
          <p:nvSpPr>
            <p:cNvPr id="39" name="結束帯"/>
            <p:cNvSpPr/>
            <p:nvPr/>
          </p:nvSpPr>
          <p:spPr>
            <a:xfrm>
              <a:off x="2082800" y="1219200"/>
              <a:ext cx="1670050" cy="2089150"/>
            </a:xfrm>
            <a:prstGeom prst="roundRect">
              <a:avLst>
                <a:gd name="adj" fmla="val 12000"/>
              </a:avLst>
            </a:prstGeom>
            <a:solidFill>
              <a:srgbClr val="4A7FB5"/>
            </a:solidFill>
            <a:ln w="12700">
              <a:solidFill>
                <a:srgbClr val="4A7F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tIns="0" rIns="50800" bIns="0" rtlCol="0" anchor="ctr"/>
            <a:lstStyle/>
            <a:p>
              <a:pPr algn="ctr"/>
              <a:endParaRPr kumimoji="1" lang="ja-JP" altLang="en-US" b="1" dirty="0">
                <a:solidFill>
                  <a:srgbClr val="FFFFFF"/>
                </a:solidFill>
                <a:latin typeface="Meiryo"/>
                <a:ea typeface="Meiryo"/>
              </a:endParaRPr>
            </a:p>
          </p:txBody>
        </p:sp>
        <p:sp>
          <p:nvSpPr>
            <p:cNvPr id="18" name="GP円"/>
            <p:cNvSpPr/>
            <p:nvPr/>
          </p:nvSpPr>
          <p:spPr>
            <a:xfrm>
              <a:off x="2209800" y="1625599"/>
              <a:ext cx="1435359" cy="1219200"/>
            </a:xfrm>
            <a:prstGeom prst="ellipse">
              <a:avLst/>
            </a:prstGeom>
            <a:solidFill>
              <a:srgbClr val="4A7FB5"/>
            </a:solidFill>
            <a:ln w="12700">
              <a:solidFill>
                <a:srgbClr val="4A7F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2200" b="1" dirty="0" smtClean="0">
                  <a:solidFill>
                    <a:srgbClr val="FFFFFF"/>
                  </a:solidFill>
                  <a:latin typeface="Meiryo"/>
                  <a:ea typeface="Meiryo"/>
                </a:rPr>
                <a:t>GP</a:t>
              </a:r>
            </a:p>
            <a:p>
              <a:pPr algn="ctr"/>
              <a:r>
                <a:rPr kumimoji="1" lang="ja-JP" altLang="en-US" sz="900" dirty="0" smtClean="0">
                  <a:solidFill>
                    <a:srgbClr val="FFFFFF"/>
                  </a:solidFill>
                  <a:latin typeface="Meiryo"/>
                  <a:ea typeface="Meiryo"/>
                </a:rPr>
                <a:t>（グループ</a:t>
              </a:r>
              <a:r>
                <a:rPr kumimoji="1" lang="ja-JP" altLang="en-US" sz="900" dirty="0" smtClean="0">
                  <a:solidFill>
                    <a:srgbClr val="FFFFFF"/>
                  </a:solidFill>
                  <a:latin typeface="Meiryo"/>
                  <a:ea typeface="Meiryo"/>
                </a:rPr>
                <a:t>）</a:t>
              </a:r>
              <a:endParaRPr kumimoji="1" lang="en-US" altLang="ja-JP" sz="900" dirty="0" smtClean="0">
                <a:solidFill>
                  <a:srgbClr val="FFFFFF"/>
                </a:solidFill>
                <a:latin typeface="Meiryo"/>
                <a:ea typeface="Meiryo"/>
              </a:endParaRPr>
            </a:p>
            <a:p>
              <a:pPr algn="ctr"/>
              <a:r>
                <a:rPr kumimoji="1" lang="ja-JP" altLang="en-US" sz="900" dirty="0">
                  <a:solidFill>
                    <a:srgbClr val="FFFFFF"/>
                  </a:solidFill>
                  <a:latin typeface="Meiryo"/>
                  <a:ea typeface="Meiryo"/>
                </a:rPr>
                <a:t>多数のエンジニア</a:t>
              </a:r>
              <a:endParaRPr kumimoji="1" lang="ja-JP" altLang="en-US" sz="900" dirty="0">
                <a:solidFill>
                  <a:srgbClr val="FFFFFF"/>
                </a:solidFill>
                <a:latin typeface="Meiryo"/>
                <a:ea typeface="Meiryo"/>
              </a:endParaRPr>
            </a:p>
          </p:txBody>
        </p:sp>
      </p:grpSp>
      <p:sp>
        <p:nvSpPr>
          <p:cNvPr id="19" name="結束矢印2"/>
          <p:cNvSpPr/>
          <p:nvPr/>
        </p:nvSpPr>
        <p:spPr>
          <a:xfrm>
            <a:off x="3119016" y="2122973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ループ化 3"/>
          <p:cNvGrpSpPr/>
          <p:nvPr/>
        </p:nvGrpSpPr>
        <p:grpSpPr>
          <a:xfrm>
            <a:off x="2148116" y="1174750"/>
            <a:ext cx="939800" cy="2133600"/>
            <a:chOff x="3911600" y="1174619"/>
            <a:chExt cx="939800" cy="2133600"/>
          </a:xfrm>
        </p:grpSpPr>
        <p:sp>
          <p:nvSpPr>
            <p:cNvPr id="20" name="案件0"/>
            <p:cNvSpPr/>
            <p:nvPr/>
          </p:nvSpPr>
          <p:spPr>
            <a:xfrm>
              <a:off x="3911600" y="1174619"/>
              <a:ext cx="939800" cy="457200"/>
            </a:xfrm>
            <a:prstGeom prst="roundRect">
              <a:avLst>
                <a:gd name="adj" fmla="val 12000"/>
              </a:avLst>
            </a:prstGeom>
            <a:solidFill>
              <a:srgbClr val="F5B971"/>
            </a:solidFill>
            <a:ln w="12700">
              <a:solidFill>
                <a:srgbClr val="F5B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tIns="0" rIns="50800" bIns="0" rtlCol="0" anchor="ctr"/>
            <a:lstStyle/>
            <a:p>
              <a:pPr algn="ctr"/>
              <a:r>
                <a:rPr kumimoji="1" lang="ja-JP" altLang="en-US" sz="1200" b="1" smtClean="0">
                  <a:solidFill>
                    <a:srgbClr val="2B4A6F"/>
                  </a:solidFill>
                  <a:latin typeface="Meiryo"/>
                  <a:ea typeface="Meiryo"/>
                </a:rPr>
                <a:t>案件</a:t>
              </a:r>
              <a:endParaRPr kumimoji="1" lang="ja-JP" altLang="en-US" sz="1200" b="1">
                <a:solidFill>
                  <a:srgbClr val="2B4A6F"/>
                </a:solidFill>
                <a:latin typeface="Meiryo"/>
                <a:ea typeface="Meiryo"/>
              </a:endParaRPr>
            </a:p>
          </p:txBody>
        </p:sp>
        <p:sp>
          <p:nvSpPr>
            <p:cNvPr id="21" name="案件1"/>
            <p:cNvSpPr/>
            <p:nvPr/>
          </p:nvSpPr>
          <p:spPr>
            <a:xfrm>
              <a:off x="3911600" y="1733419"/>
              <a:ext cx="939800" cy="457200"/>
            </a:xfrm>
            <a:prstGeom prst="roundRect">
              <a:avLst>
                <a:gd name="adj" fmla="val 12000"/>
              </a:avLst>
            </a:prstGeom>
            <a:solidFill>
              <a:srgbClr val="F5B971"/>
            </a:solidFill>
            <a:ln w="12700">
              <a:solidFill>
                <a:srgbClr val="F5B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tIns="0" rIns="50800" bIns="0" rtlCol="0" anchor="ctr"/>
            <a:lstStyle/>
            <a:p>
              <a:pPr algn="ctr"/>
              <a:r>
                <a:rPr kumimoji="1" lang="ja-JP" altLang="en-US" sz="1200" b="1" dirty="0" smtClean="0">
                  <a:solidFill>
                    <a:srgbClr val="2B4A6F"/>
                  </a:solidFill>
                  <a:latin typeface="Meiryo"/>
                  <a:ea typeface="Meiryo"/>
                </a:rPr>
                <a:t>案件</a:t>
              </a:r>
              <a:endParaRPr kumimoji="1" lang="ja-JP" altLang="en-US" sz="1200" b="1" dirty="0">
                <a:solidFill>
                  <a:srgbClr val="2B4A6F"/>
                </a:solidFill>
                <a:latin typeface="Meiryo"/>
                <a:ea typeface="Meiryo"/>
              </a:endParaRPr>
            </a:p>
          </p:txBody>
        </p:sp>
        <p:sp>
          <p:nvSpPr>
            <p:cNvPr id="22" name="案件2"/>
            <p:cNvSpPr/>
            <p:nvPr/>
          </p:nvSpPr>
          <p:spPr>
            <a:xfrm>
              <a:off x="3911600" y="2292219"/>
              <a:ext cx="939800" cy="457200"/>
            </a:xfrm>
            <a:prstGeom prst="roundRect">
              <a:avLst>
                <a:gd name="adj" fmla="val 12000"/>
              </a:avLst>
            </a:prstGeom>
            <a:solidFill>
              <a:srgbClr val="F5B971"/>
            </a:solidFill>
            <a:ln w="12700">
              <a:solidFill>
                <a:srgbClr val="F5B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tIns="0" rIns="50800" bIns="0" rtlCol="0" anchor="ctr"/>
            <a:lstStyle/>
            <a:p>
              <a:pPr algn="ctr"/>
              <a:r>
                <a:rPr kumimoji="1" lang="ja-JP" altLang="en-US" sz="1200" b="1" smtClean="0">
                  <a:solidFill>
                    <a:srgbClr val="2B4A6F"/>
                  </a:solidFill>
                  <a:latin typeface="Meiryo"/>
                  <a:ea typeface="Meiryo"/>
                </a:rPr>
                <a:t>案件</a:t>
              </a:r>
              <a:endParaRPr kumimoji="1" lang="ja-JP" altLang="en-US" sz="1200" b="1">
                <a:solidFill>
                  <a:srgbClr val="2B4A6F"/>
                </a:solidFill>
                <a:latin typeface="Meiryo"/>
                <a:ea typeface="Meiryo"/>
              </a:endParaRPr>
            </a:p>
          </p:txBody>
        </p:sp>
        <p:sp>
          <p:nvSpPr>
            <p:cNvPr id="23" name="案件3"/>
            <p:cNvSpPr/>
            <p:nvPr/>
          </p:nvSpPr>
          <p:spPr>
            <a:xfrm>
              <a:off x="3911600" y="2851019"/>
              <a:ext cx="939800" cy="457200"/>
            </a:xfrm>
            <a:prstGeom prst="roundRect">
              <a:avLst>
                <a:gd name="adj" fmla="val 12000"/>
              </a:avLst>
            </a:prstGeom>
            <a:solidFill>
              <a:srgbClr val="F5B971"/>
            </a:solidFill>
            <a:ln w="12700">
              <a:solidFill>
                <a:srgbClr val="F5B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tIns="0" rIns="50800" bIns="0" rtlCol="0" anchor="ctr"/>
            <a:lstStyle/>
            <a:p>
              <a:pPr algn="ctr"/>
              <a:r>
                <a:rPr kumimoji="1" lang="ja-JP" altLang="en-US" sz="1200" b="1" dirty="0" smtClean="0">
                  <a:solidFill>
                    <a:srgbClr val="2B4A6F"/>
                  </a:solidFill>
                  <a:latin typeface="Meiryo"/>
                  <a:ea typeface="Meiryo"/>
                </a:rPr>
                <a:t>案件</a:t>
              </a:r>
              <a:endParaRPr kumimoji="1" lang="ja-JP" altLang="en-US" sz="1200" b="1" dirty="0">
                <a:solidFill>
                  <a:srgbClr val="2B4A6F"/>
                </a:solidFill>
                <a:latin typeface="Meiryo"/>
                <a:ea typeface="Meiryo"/>
              </a:endParaRPr>
            </a:p>
          </p:txBody>
        </p:sp>
      </p:grpSp>
      <p:sp>
        <p:nvSpPr>
          <p:cNvPr id="24" name="結束説明"/>
          <p:cNvSpPr txBox="1"/>
          <p:nvPr/>
        </p:nvSpPr>
        <p:spPr>
          <a:xfrm>
            <a:off x="420916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smtClean="0">
                <a:solidFill>
                  <a:srgbClr val="2B4A6F"/>
                </a:solidFill>
                <a:latin typeface="Meiryo"/>
                <a:ea typeface="Meiryo"/>
              </a:rPr>
              <a:t>みなさまの案件とエンジニアを、ひとつのグループに</a:t>
            </a:r>
            <a:endParaRPr kumimoji="1" lang="ja-JP" altLang="en-US" sz="12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26" name="利点0"/>
          <p:cNvSpPr/>
          <p:nvPr/>
        </p:nvSpPr>
        <p:spPr>
          <a:xfrm>
            <a:off x="5080000" y="11684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利点0円"/>
          <p:cNvSpPr/>
          <p:nvPr/>
        </p:nvSpPr>
        <p:spPr>
          <a:xfrm>
            <a:off x="5232400" y="12954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利点0アイコン" descr="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1416050"/>
            <a:ext cx="215900" cy="215900"/>
          </a:xfrm>
          <a:prstGeom prst="rect">
            <a:avLst/>
          </a:prstGeom>
        </p:spPr>
      </p:pic>
      <p:sp>
        <p:nvSpPr>
          <p:cNvPr id="29" name="利点0文"/>
          <p:cNvSpPr txBox="1"/>
          <p:nvPr/>
        </p:nvSpPr>
        <p:spPr>
          <a:xfrm>
            <a:off x="5816600" y="11683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en-US" altLang="ja-JP" sz="1200" b="1" smtClean="0">
                <a:solidFill>
                  <a:srgbClr val="2B4A6F"/>
                </a:solidFill>
                <a:latin typeface="Meiryo"/>
                <a:ea typeface="Meiryo"/>
              </a:rPr>
              <a:t>1</a:t>
            </a:r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社では受けきれない案件も、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みんなで受けられる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0" name="利点1"/>
          <p:cNvSpPr/>
          <p:nvPr/>
        </p:nvSpPr>
        <p:spPr>
          <a:xfrm>
            <a:off x="5080000" y="20066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利点1円"/>
          <p:cNvSpPr/>
          <p:nvPr/>
        </p:nvSpPr>
        <p:spPr>
          <a:xfrm>
            <a:off x="5232400" y="21336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利点1アイコン" descr="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050" y="2254250"/>
            <a:ext cx="215900" cy="215900"/>
          </a:xfrm>
          <a:prstGeom prst="rect">
            <a:avLst/>
          </a:prstGeom>
        </p:spPr>
      </p:pic>
      <p:sp>
        <p:nvSpPr>
          <p:cNvPr id="33" name="利点1文"/>
          <p:cNvSpPr txBox="1"/>
          <p:nvPr/>
        </p:nvSpPr>
        <p:spPr>
          <a:xfrm>
            <a:off x="5816600" y="20065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人が足りない案件も、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仲間のエンジニアで埋められる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4" name="利点2"/>
          <p:cNvSpPr/>
          <p:nvPr/>
        </p:nvSpPr>
        <p:spPr>
          <a:xfrm>
            <a:off x="5080000" y="28448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利点2円"/>
          <p:cNvSpPr/>
          <p:nvPr/>
        </p:nvSpPr>
        <p:spPr>
          <a:xfrm>
            <a:off x="5232400" y="29718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利点2アイコン" descr="ループ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3092450"/>
            <a:ext cx="215900" cy="215900"/>
          </a:xfrm>
          <a:prstGeom prst="rect">
            <a:avLst/>
          </a:prstGeom>
        </p:spPr>
      </p:pic>
      <p:sp>
        <p:nvSpPr>
          <p:cNvPr id="37" name="利点2文"/>
          <p:cNvSpPr txBox="1"/>
          <p:nvPr/>
        </p:nvSpPr>
        <p:spPr>
          <a:xfrm>
            <a:off x="5816600" y="28447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決まるほど信頼が増え、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案件が集まってくる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8" name="結束帯"/>
          <p:cNvSpPr/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kumimoji="1" lang="ja-JP" altLang="en-US" b="1" smtClean="0">
                <a:solidFill>
                  <a:srgbClr val="FFFFFF"/>
                </a:solidFill>
                <a:latin typeface="Meiryo"/>
                <a:ea typeface="Meiryo"/>
              </a:rPr>
              <a:t>ひとりで待つより、みんなで取りにいく</a:t>
            </a:r>
            <a:endParaRPr kumimoji="1" lang="ja-JP" altLang="en-US" b="1">
              <a:solidFill>
                <a:srgbClr val="FFFFFF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203</Words>
  <Application>Microsoft Office PowerPoint</Application>
  <PresentationFormat>画面に合わせる (16:9)</PresentationFormat>
  <Paragraphs>39</Paragraphs>
  <Slides>3</Slides>
  <Notes>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Parks Blue</vt:lpstr>
      <vt:lpstr>PARKS</vt:lpstr>
      <vt:lpstr>プロジェクトに賭ける私の想い</vt:lpstr>
      <vt:lpstr>SES各社が結束すれば、仕事は増えます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rock@jona.jp</cp:lastModifiedBy>
  <cp:revision>12</cp:revision>
  <dcterms:created xsi:type="dcterms:W3CDTF">2026-10-13T22:51:16Z</dcterms:created>
  <dcterms:modified xsi:type="dcterms:W3CDTF">2026-10-14T07:26:49Z</dcterms:modified>
</cp:coreProperties>
</file>