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36053c39bc4a66" /><Relationship Type="http://schemas.openxmlformats.org/officeDocument/2006/relationships/extended-properties" Target="/docProps/app.xml" Id="Rf3418dba3ba24a5d" /><Relationship Type="http://schemas.openxmlformats.org/officeDocument/2006/relationships/officeDocument" Target="/ppt/presentation.xml" Id="Rdd2befc0526544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47a69dce714a4f"/>
  </p:sldMasterIdLst>
  <p:notesMasterIdLst>
    <p:notesMasterId xmlns:r="http://schemas.openxmlformats.org/officeDocument/2006/relationships" r:id="R1c21f76d8bc744a4"/>
  </p:notesMasterIdLst>
  <p:sldIdLst>
    <p:sldId xmlns:r="http://schemas.openxmlformats.org/officeDocument/2006/relationships" id="256" r:id="R0081fc12a57443fd"/>
    <p:sldId xmlns:r="http://schemas.openxmlformats.org/officeDocument/2006/relationships" id="257" r:id="R6cffc90a98ff4535"/>
    <p:sldId xmlns:r="http://schemas.openxmlformats.org/officeDocument/2006/relationships" id="258" r:id="Rbe8ac7abe7ea478a"/>
    <p:sldId xmlns:r="http://schemas.openxmlformats.org/officeDocument/2006/relationships" id="259" r:id="R4946b5fc38f8428a"/>
    <p:sldId xmlns:r="http://schemas.openxmlformats.org/officeDocument/2006/relationships" id="260" r:id="Raa5a94a66ad944fd"/>
    <p:sldId xmlns:r="http://schemas.openxmlformats.org/officeDocument/2006/relationships" id="261" r:id="R1cdefe28800a4f36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22178caf954fd5" /><Relationship Type="http://schemas.openxmlformats.org/officeDocument/2006/relationships/slideMaster" Target="/ppt/slideMasters/slideMaster1.xml" Id="Re947a69dce714a4f" /><Relationship Type="http://schemas.openxmlformats.org/officeDocument/2006/relationships/notesMaster" Target="/ppt/notesMasters/notesMaster1.xml" Id="R1c21f76d8bc744a4" /><Relationship Type="http://schemas.openxmlformats.org/officeDocument/2006/relationships/presProps" Target="/ppt/presProps.xml" Id="R9000e6677eae4bff" /><Relationship Type="http://schemas.openxmlformats.org/officeDocument/2006/relationships/viewProps" Target="/ppt/viewProps.xml" Id="R5be7a08641e44be6" /><Relationship Type="http://schemas.openxmlformats.org/officeDocument/2006/relationships/tableStyles" Target="/ppt/tableStyles.xml" Id="Rb630f006c3ee4e8c" /><Relationship Type="http://schemas.openxmlformats.org/officeDocument/2006/relationships/slide" Target="/ppt/slides/slide1.xml" Id="R0081fc12a57443fd" /><Relationship Type="http://schemas.openxmlformats.org/officeDocument/2006/relationships/slide" Target="/ppt/slides/slide2.xml" Id="R6cffc90a98ff4535" /><Relationship Type="http://schemas.openxmlformats.org/officeDocument/2006/relationships/slide" Target="/ppt/slides/slide3.xml" Id="Rbe8ac7abe7ea478a" /><Relationship Type="http://schemas.openxmlformats.org/officeDocument/2006/relationships/slide" Target="/ppt/slides/slide4.xml" Id="R4946b5fc38f8428a" /><Relationship Type="http://schemas.openxmlformats.org/officeDocument/2006/relationships/slide" Target="/ppt/slides/slide5.xml" Id="Raa5a94a66ad944fd" /><Relationship Type="http://schemas.openxmlformats.org/officeDocument/2006/relationships/slide" Target="/ppt/slides/slide6.xml" Id="R1cdefe28800a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aa9a432083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567e41417b48cf" /><Relationship Type="http://schemas.openxmlformats.org/officeDocument/2006/relationships/notesMaster" Target="/ppt/notesMasters/notesMaster1.xml" Id="Rc3e3078556ce4f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5e816193ab4e66" /><Relationship Type="http://schemas.openxmlformats.org/officeDocument/2006/relationships/notesMaster" Target="/ppt/notesMasters/notesMaster1.xml" Id="R062a16102c1743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8e51caa29a4199" /><Relationship Type="http://schemas.openxmlformats.org/officeDocument/2006/relationships/notesMaster" Target="/ppt/notesMasters/notesMaster1.xml" Id="Re9e9776ed08a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ee5054167a487d" /><Relationship Type="http://schemas.openxmlformats.org/officeDocument/2006/relationships/notesMaster" Target="/ppt/notesMasters/notesMaster1.xml" Id="Rf9d268558c02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6094ed38b14387" /><Relationship Type="http://schemas.openxmlformats.org/officeDocument/2006/relationships/notesMaster" Target="/ppt/notesMasters/notesMaster1.xml" Id="R9409487eabb242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8c690e08894f1a" /><Relationship Type="http://schemas.openxmlformats.org/officeDocument/2006/relationships/notesMaster" Target="/ppt/notesMasters/notesMaster1.xml" Id="Rc83593a0998d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みなさま（ビジネスパートナー）のお悩み</a:t>
            </a:r>
            <a:r>
              <a:t>4</a:t>
            </a:r>
            <a:r>
              <a:t>つ。このシステムがまとめて解決する。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応募数・面談数・成約数を記録し、導入前後の実績を比較する。実績値は未取得のため数値は記載しない。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画面イメージ（提案段階）。みなさまが案件条件と候補人材を確認し、エンジニアがスキルシート・面談対策Q&amp;Aを確認して応募する流れ。人物イラスト：unDraw「Web Developer」画像。配布元画像URL: https://images.ctfassets.net/httuqftbm1yv/5VExncPEFf1WgMg9Hc2Rl2/3a1c9d00081d5bc75764f19aeff5d21d/undraw_web_developer_p3e5.png. 利用条件: https://undraw.co/license.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締め：みなさまで結束（グループ化）すれば、受けられる案件が増え、人が足りない案件も埋められ、決まるほど案件が集まる。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2b10e12cc42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11f42ff4a46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e3b7d0f55470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">
    <p:bg>
      <p:bgPr>
        <a:solidFill xmlns:a="http://schemas.openxmlformats.org/drawingml/2006/main">
          <a:srgbClr val="3B6EA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43BB16-1DDF-4046-84DF-3AA64AF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0"/>
            <a:ext cx="310896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24865E-C06C-41B4-B74A-831C385C4851}"/>
              </a:ext>
            </a:extLst>
          </p:cNvPr>
          <p:cNvSpPr>
            <a:spLocks xmlns:a="http://schemas.openxmlformats.org/drawingml/2006/main" noGrp="1"/>
          </p:cNvSpPr>
          <p:nvPr>
            <p:ph type="title" idx="101" hasCustomPrompt="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4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A8B1229F-9B68-4E73-9E7B-2B006A5EECE2}"/>
              </a:ext>
            </a:extLst>
          </p:cNvPr>
          <p:cNvSpPr>
            <a:spLocks xmlns:a="http://schemas.openxmlformats.org/drawingml/2006/main" noGrp="1"/>
          </p:cNvSpPr>
          <p:nvPr>
            <p:ph type="body" idx="102" hasCustomPrompt="1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600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16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9BAE88-7494-45AF-8A61-205A42B218BC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8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8327C5E-2A13-4AF0-A21D-14A24E85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Parks　ご提案</a:t>
            </a:r>
            <a:endParaRPr sz="10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45B7EE-D5A5-4EC1-8951-B9C077DA1CA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fb1fe8cee64b5c" /><Relationship Type="http://schemas.openxmlformats.org/officeDocument/2006/relationships/slideLayout" Target="/ppt/slideLayouts/slideLayout1.xml" Id="R00f1a4db3b134043" /><Relationship Type="http://schemas.openxmlformats.org/officeDocument/2006/relationships/slideLayout" Target="/ppt/slideLayouts/slideLayout2.xml" Id="R2819effbd2574fc4" /><Relationship Type="http://schemas.openxmlformats.org/officeDocument/2006/relationships/slideLayout" Target="/ppt/slideLayouts/slideLayout3.xml" Id="R9ae936bdcacd44c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7E22AE1-628F-498B-B847-C4756F45783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f1a4db3b134043"/>
    <p:sldLayoutId xmlns:r="http://schemas.openxmlformats.org/officeDocument/2006/relationships" id="2147483650" r:id="R2819effbd2574fc4"/>
    <p:sldLayoutId xmlns:r="http://schemas.openxmlformats.org/officeDocument/2006/relationships" id="2147483651" r:id="R9ae936bdcacd44c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5606f923744546" /><Relationship Type="http://schemas.openxmlformats.org/officeDocument/2006/relationships/image" Target="/ppt/media/image.png" Id="R6939b2b47bf74a50" /><Relationship Type="http://schemas.openxmlformats.org/officeDocument/2006/relationships/notesSlide" Target="/ppt/notesSlides/notesSlide1.xml" Id="R3415a505db7e45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376497d3464679" /><Relationship Type="http://schemas.openxmlformats.org/officeDocument/2006/relationships/image" Target="/ppt/media/image2.png" Id="Re126edd2cde7436a" /><Relationship Type="http://schemas.openxmlformats.org/officeDocument/2006/relationships/image" Target="/ppt/media/image3.png" Id="Rd23127b3c27147e8" /><Relationship Type="http://schemas.openxmlformats.org/officeDocument/2006/relationships/image" Target="/ppt/media/image4.png" Id="R75c02b350ca4494a" /><Relationship Type="http://schemas.openxmlformats.org/officeDocument/2006/relationships/notesSlide" Target="/ppt/notesSlides/notesSlide2.xml" Id="Re8981693d3074c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f209fd151f4c8a" /><Relationship Type="http://schemas.openxmlformats.org/officeDocument/2006/relationships/image" Target="/ppt/media/image5.png" Id="Re3524a9521ae4e90" /><Relationship Type="http://schemas.openxmlformats.org/officeDocument/2006/relationships/image" Target="/ppt/media/image2.png" Id="R5446cc7bfa05457b" /><Relationship Type="http://schemas.openxmlformats.org/officeDocument/2006/relationships/image" Target="/ppt/media/image6.png" Id="R64f1d980b9804977" /><Relationship Type="http://schemas.openxmlformats.org/officeDocument/2006/relationships/image" Target="/ppt/media/image4.png" Id="R58b12cc7bb0f4df5" /><Relationship Type="http://schemas.openxmlformats.org/officeDocument/2006/relationships/notesSlide" Target="/ppt/notesSlides/notesSlide3.xml" Id="Re158ea1adfee45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a4fc409f834fa7" /><Relationship Type="http://schemas.openxmlformats.org/officeDocument/2006/relationships/image" Target="/ppt/media/image5.png" Id="Rc21686b59c1f4ae9" /><Relationship Type="http://schemas.openxmlformats.org/officeDocument/2006/relationships/image" Target="/ppt/media/image6.png" Id="R8b1552808bb84eaf" /><Relationship Type="http://schemas.openxmlformats.org/officeDocument/2006/relationships/image" Target="/ppt/media/image7.png" Id="R4c099c121ca34c8d" /><Relationship Type="http://schemas.openxmlformats.org/officeDocument/2006/relationships/image" Target="/ppt/media/image8.png" Id="Rd61a5731c7344826" /><Relationship Type="http://schemas.openxmlformats.org/officeDocument/2006/relationships/notesSlide" Target="/ppt/notesSlides/notesSlide4.xml" Id="R4dc35ca559594a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749c7cd4fc470a" /><Relationship Type="http://schemas.openxmlformats.org/officeDocument/2006/relationships/image" Target="/ppt/media/image9.png" Id="Re063e58b68514af7" /><Relationship Type="http://schemas.openxmlformats.org/officeDocument/2006/relationships/notesSlide" Target="/ppt/notesSlides/notesSlide5.xml" Id="Rb03653811da84d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0e31db20c34ed9" /><Relationship Type="http://schemas.openxmlformats.org/officeDocument/2006/relationships/image" Target="/ppt/media/image2.png" Id="R75b55306b33649ac" /><Relationship Type="http://schemas.openxmlformats.org/officeDocument/2006/relationships/image" Target="/ppt/media/image10.png" Id="Rb9f93c2655cc4407" /><Relationship Type="http://schemas.openxmlformats.org/officeDocument/2006/relationships/image" Target="/ppt/media/image8.png" Id="R2d5f3437d0e140c4" /><Relationship Type="http://schemas.openxmlformats.org/officeDocument/2006/relationships/notesSlide" Target="/ppt/notesSlides/notesSlide6.xml" Id="Rcb28f807e02949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2665E87F-9269-4579-B069-F2EE3CD858E4}"/>
              </a:ext>
            </a:extLst>
          </p:cNvPr>
          <p:cNvSpPr>
            <a:spLocks xmlns:a="http://schemas.openxmlformats.org/drawingml/2006/main" noGrp="1"/>
          </p:cNvSpPr>
          <p:nvPr>
            <p:ph type="title" idx="101"/>
          </p:nvPr>
        </p:nvSpPr>
        <p:spPr>
          <a:xfrm xmlns:a="http://schemas.openxmlformats.org/drawingml/2006/main">
            <a:off x="548640" y="1188720"/>
            <a:ext cx="53035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Parks</a:t>
            </a:r>
            <a:endParaRPr sz="4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AB85B8-A400-4ADD-ABC1-7F97E0C4AD2F}"/>
              </a:ext>
            </a:extLst>
          </p:cNvPr>
          <p:cNvSpPr>
            <a:spLocks xmlns:a="http://schemas.openxmlformats.org/drawingml/2006/main" noGrp="1"/>
          </p:cNvSpPr>
          <p:nvPr>
            <p:ph type="body" idx="102"/>
          </p:nvPr>
        </p:nvSpPr>
        <p:spPr>
          <a:xfrm xmlns:a="http://schemas.openxmlformats.org/drawingml/2006/main">
            <a:off x="548640" y="2743200"/>
            <a:ext cx="530352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案件と人材の出会いを増やし、提案機会を広げる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みなさま向けプラットフォーム</a:t>
            </a:r>
            <a:r>
              <a:rPr sz="1600">
                <a:solidFill>
                  <a:schemeClr val="accent4"/>
                </a:solidFill>
              </a:rPr>
              <a:t>のご提案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chemeClr val="accent4"/>
                </a:solidFill>
              </a:rPr>
              <a:t>みなさまへ</a:t>
            </a:r>
            <a:endParaRPr sz="1600"/>
          </a:p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chemeClr val="accent4"/>
                </a:solidFill>
              </a:rPr>
              <a:t>2026年10月14日</a:t>
            </a:r>
            <a:endParaRPr sz="1600"/>
          </a:p>
        </p:txBody>
      </p:sp>
      <p:sp>
        <p:nvSpPr>
          <p:cNvPr id="4" name="表紙円">
            <a:extLst xmlns:a="http://schemas.openxmlformats.org/drawingml/2006/main">
              <a:ext uri="{FF2B5EF4-FFF2-40B4-BE49-F238E27FC236}">
                <a16:creationId xmlns:a16="http://schemas.microsoft.com/office/drawing/2014/main" id="{1BDBE7D6-639F-4539-933E-E458AD4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920240"/>
            <a:ext cx="1280160" cy="1280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5" name="表紙アイコン">
            <a:extLst xmlns:a="http://schemas.openxmlformats.org/drawingml/2006/main">
              <a:ext uri="{FF2B5EF4-FFF2-40B4-BE49-F238E27FC236}">
                <a16:creationId xmlns:a16="http://schemas.microsoft.com/office/drawing/2014/main" id="{CF21632C-439F-45C4-BA32-3C51CA0F2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9b2b47bf74a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5355" y="2201875"/>
            <a:ext cx="716890" cy="716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50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58147C-DC96-43A2-A47A-AD04B877554C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みなさまの提案機会を、グループ全体で広げる</a:t>
            </a:r>
            <a:endParaRPr sz="2800"/>
          </a:p>
        </p:txBody>
      </p:sp>
      <p:sp>
        <p:nvSpPr>
          <p:cNvPr id="3" name="想い1円">
            <a:extLst xmlns:a="http://schemas.openxmlformats.org/drawingml/2006/main">
              <a:ext uri="{FF2B5EF4-FFF2-40B4-BE49-F238E27FC236}">
                <a16:creationId xmlns:a16="http://schemas.microsoft.com/office/drawing/2014/main" id="{484D0F79-3B0F-4FAC-9640-FFFD3F46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4" name="想い1アイコン">
            <a:extLst xmlns:a="http://schemas.openxmlformats.org/drawingml/2006/main">
              <a:ext uri="{FF2B5EF4-FFF2-40B4-BE49-F238E27FC236}">
                <a16:creationId xmlns:a16="http://schemas.microsoft.com/office/drawing/2014/main" id="{4D9EB7FE-57C5-49BF-AFF2-9EA85F42A7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6edd2cde743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137525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5" name="想い文1">
            <a:extLst xmlns:a="http://schemas.openxmlformats.org/drawingml/2006/main">
              <a:ext uri="{FF2B5EF4-FFF2-40B4-BE49-F238E27FC236}">
                <a16:creationId xmlns:a16="http://schemas.microsoft.com/office/drawing/2014/main" id="{78108E5A-854F-4982-9E87-359C098F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23444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案件に合う人材を、グループ内から探せる</a:t>
            </a:r>
            <a:endParaRPr sz="1800"/>
          </a:p>
        </p:txBody>
      </p:sp>
      <p:sp>
        <p:nvSpPr>
          <p:cNvPr id="6" name="想い2円">
            <a:extLst xmlns:a="http://schemas.openxmlformats.org/drawingml/2006/main">
              <a:ext uri="{FF2B5EF4-FFF2-40B4-BE49-F238E27FC236}">
                <a16:creationId xmlns:a16="http://schemas.microsoft.com/office/drawing/2014/main" id="{AB663356-3F83-4398-B587-55E0EE32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7" name="想い2アイコン">
            <a:extLst xmlns:a="http://schemas.openxmlformats.org/drawingml/2006/main">
              <a:ext uri="{FF2B5EF4-FFF2-40B4-BE49-F238E27FC236}">
                <a16:creationId xmlns:a16="http://schemas.microsoft.com/office/drawing/2014/main" id="{522F114D-20B7-4F63-A127-D6C71A250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127b3c27147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224393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8" name="想い文2">
            <a:extLst xmlns:a="http://schemas.openxmlformats.org/drawingml/2006/main">
              <a:ext uri="{FF2B5EF4-FFF2-40B4-BE49-F238E27FC236}">
                <a16:creationId xmlns:a16="http://schemas.microsoft.com/office/drawing/2014/main" id="{1DFB9ADF-8D92-4DA6-A6E8-CF469183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0312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スキルシートと面談の準備を支援できる</a:t>
            </a:r>
            <a:endParaRPr sz="1800"/>
          </a:p>
        </p:txBody>
      </p:sp>
      <p:sp>
        <p:nvSpPr>
          <p:cNvPr id="9" name="想い3円">
            <a:extLst xmlns:a="http://schemas.openxmlformats.org/drawingml/2006/main">
              <a:ext uri="{FF2B5EF4-FFF2-40B4-BE49-F238E27FC236}">
                <a16:creationId xmlns:a16="http://schemas.microsoft.com/office/drawing/2014/main" id="{62E83D0D-281B-4F3B-8F6D-1F0B9D2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pic>
        <p:nvPicPr>
          <p:cNvPr id="10" name="想い3アイコン">
            <a:extLst xmlns:a="http://schemas.openxmlformats.org/drawingml/2006/main">
              <a:ext uri="{FF2B5EF4-FFF2-40B4-BE49-F238E27FC236}">
                <a16:creationId xmlns:a16="http://schemas.microsoft.com/office/drawing/2014/main" id="{28CE2F51-872B-4FE4-BEDA-FD33CFD5CA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02b350ca449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018" y="3112618"/>
            <a:ext cx="358445" cy="358445"/>
          </a:xfrm>
          <a:prstGeom xmlns:a="http://schemas.openxmlformats.org/drawingml/2006/main" prst="rect">
            <a:avLst/>
          </a:prstGeom>
        </p:spPr>
      </p:pic>
      <p:sp>
        <p:nvSpPr>
          <p:cNvPr id="11" name="想い文3">
            <a:extLst xmlns:a="http://schemas.openxmlformats.org/drawingml/2006/main">
              <a:ext uri="{FF2B5EF4-FFF2-40B4-BE49-F238E27FC236}">
                <a16:creationId xmlns:a16="http://schemas.microsoft.com/office/drawing/2014/main" id="{4F3E8182-10BA-4495-9AFC-F32A977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7360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応募結果を記録し、次の提案に活かせる</a:t>
            </a:r>
            <a:endParaRPr sz="1800"/>
          </a:p>
        </p:txBody>
      </p:sp>
      <p:sp>
        <p:nvSpPr>
          <p:cNvPr id="12" name="経験帯">
            <a:extLst xmlns:a="http://schemas.openxmlformats.org/drawingml/2006/main">
              <a:ext uri="{FF2B5EF4-FFF2-40B4-BE49-F238E27FC236}">
                <a16:creationId xmlns:a16="http://schemas.microsoft.com/office/drawing/2014/main" id="{95EEB37B-8FCA-4CCB-878F-E7915C9D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3" name="経験文">
            <a:extLst xmlns:a="http://schemas.openxmlformats.org/drawingml/2006/main">
              <a:ext uri="{FF2B5EF4-FFF2-40B4-BE49-F238E27FC236}">
                <a16:creationId xmlns:a16="http://schemas.microsoft.com/office/drawing/2014/main" id="{97AAE8E1-DDA7-446A-A568-22A39FC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chemeClr val="bg1"/>
                </a:solidFill>
                <a:latin typeface="Meiryo"/>
                <a:ea typeface="Meiryo"/>
                <a:cs typeface="Meiryo"/>
              </a:rPr>
              <a:t>エンジニアとして15年以上の経験をもとに構想</a:t>
            </a:r>
            <a:endParaRPr sz="1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2C085C8-E587-4DF8-B25A-06207EC2A7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  <p:sp>
        <p:nvSpPr>
          <p:cNvPr id="26" name="イラスト・椅子">
            <a:extLst xmlns:a="http://schemas.openxmlformats.org/drawingml/2006/main">
              <a:ext uri="{FF2B5EF4-FFF2-40B4-BE49-F238E27FC236}">
                <a16:creationId xmlns:a16="http://schemas.microsoft.com/office/drawing/2014/main" id="{CDCDCA05-E947-4003-8B2C-7D6F5013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3286125"/>
            <a:ext cx="238125" cy="4667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案件を確認する人・頭">
            <a:extLst xmlns:a="http://schemas.openxmlformats.org/drawingml/2006/main">
              <a:ext uri="{FF2B5EF4-FFF2-40B4-BE49-F238E27FC236}">
                <a16:creationId xmlns:a16="http://schemas.microsoft.com/office/drawing/2014/main" id="{8F314355-2381-4B9B-A9CA-C6303C6C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3000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案件を確認する人・髪">
            <a:extLst xmlns:a="http://schemas.openxmlformats.org/drawingml/2006/main">
              <a:ext uri="{FF2B5EF4-FFF2-40B4-BE49-F238E27FC236}">
                <a16:creationId xmlns:a16="http://schemas.microsoft.com/office/drawing/2014/main" id="{9C8BBC7C-1DA9-4C19-A143-AD988E61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0505" y="2983230"/>
            <a:ext cx="197168" cy="120015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案件を確認する人・胴">
            <a:extLst xmlns:a="http://schemas.openxmlformats.org/drawingml/2006/main">
              <a:ext uri="{FF2B5EF4-FFF2-40B4-BE49-F238E27FC236}">
                <a16:creationId xmlns:a16="http://schemas.microsoft.com/office/drawing/2014/main" id="{CBC116F0-75BB-4897-91F8-D8615FE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7643" y="3188970"/>
            <a:ext cx="308610" cy="334328"/>
          </a:xfrm>
          <a:prstGeom xmlns:a="http://schemas.openxmlformats.org/drawingml/2006/main" prst="roundRect">
            <a:avLst>
              <a:gd name="adj" fmla="val 24691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案件を確認する人・腕">
            <a:extLst xmlns:a="http://schemas.openxmlformats.org/drawingml/2006/main">
              <a:ext uri="{FF2B5EF4-FFF2-40B4-BE49-F238E27FC236}">
                <a16:creationId xmlns:a16="http://schemas.microsoft.com/office/drawing/2014/main" id="{9ED088D0-8D27-4C64-BC4E-7676991D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810" y="3291840"/>
            <a:ext cx="248603" cy="685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案件を確認する人・脚1">
            <a:extLst xmlns:a="http://schemas.openxmlformats.org/drawingml/2006/main">
              <a:ext uri="{FF2B5EF4-FFF2-40B4-BE49-F238E27FC236}">
                <a16:creationId xmlns:a16="http://schemas.microsoft.com/office/drawing/2014/main" id="{95FDB1A3-7DF1-4E1D-9A79-79831318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1933" y="3489008"/>
            <a:ext cx="85725" cy="2057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案件を確認する人・脚2">
            <a:extLst xmlns:a="http://schemas.openxmlformats.org/drawingml/2006/main">
              <a:ext uri="{FF2B5EF4-FFF2-40B4-BE49-F238E27FC236}">
                <a16:creationId xmlns:a16="http://schemas.microsoft.com/office/drawing/2014/main" id="{193A8A20-E3D7-4C07-976A-2A2DB93E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4810" y="3489008"/>
            <a:ext cx="85725" cy="2057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イラスト・机">
            <a:extLst xmlns:a="http://schemas.openxmlformats.org/drawingml/2006/main">
              <a:ext uri="{FF2B5EF4-FFF2-40B4-BE49-F238E27FC236}">
                <a16:creationId xmlns:a16="http://schemas.microsoft.com/office/drawing/2014/main" id="{23DC889F-0FA1-40BC-9ED1-31DF4A79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5" y="3676650"/>
            <a:ext cx="12477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イラスト・机脚">
            <a:extLst xmlns:a="http://schemas.openxmlformats.org/drawingml/2006/main">
              <a:ext uri="{FF2B5EF4-FFF2-40B4-BE49-F238E27FC236}">
                <a16:creationId xmlns:a16="http://schemas.microsoft.com/office/drawing/2014/main" id="{44C86CBA-3BAA-4128-815A-C397D04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3752850"/>
            <a:ext cx="57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イラスト・机脚">
            <a:extLst xmlns:a="http://schemas.openxmlformats.org/drawingml/2006/main">
              <a:ext uri="{FF2B5EF4-FFF2-40B4-BE49-F238E27FC236}">
                <a16:creationId xmlns:a16="http://schemas.microsoft.com/office/drawing/2014/main" id="{2752A9B0-E44C-41B8-A257-22D5A5FB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752850"/>
            <a:ext cx="57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イラスト・PC画面">
            <a:extLst xmlns:a="http://schemas.openxmlformats.org/drawingml/2006/main">
              <a:ext uri="{FF2B5EF4-FFF2-40B4-BE49-F238E27FC236}">
                <a16:creationId xmlns:a16="http://schemas.microsoft.com/office/drawing/2014/main" id="{D22EC1E2-0BF5-46B6-A8D6-16C36FBE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305175"/>
            <a:ext cx="3619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イラスト・PC画面内">
            <a:extLst xmlns:a="http://schemas.openxmlformats.org/drawingml/2006/main">
              <a:ext uri="{FF2B5EF4-FFF2-40B4-BE49-F238E27FC236}">
                <a16:creationId xmlns:a16="http://schemas.microsoft.com/office/drawing/2014/main" id="{712BFD2D-FC86-4C66-8689-B8FA2EF1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343275"/>
            <a:ext cx="285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イラスト・PC台">
            <a:extLst xmlns:a="http://schemas.openxmlformats.org/drawingml/2006/main">
              <a:ext uri="{FF2B5EF4-FFF2-40B4-BE49-F238E27FC236}">
                <a16:creationId xmlns:a16="http://schemas.microsoft.com/office/drawing/2014/main" id="{89188FCE-7FA2-4CAD-B1EE-96F1FF9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581400"/>
            <a:ext cx="485775" cy="571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イラスト・画面内表示">
            <a:extLst xmlns:a="http://schemas.openxmlformats.org/drawingml/2006/main">
              <a:ext uri="{FF2B5EF4-FFF2-40B4-BE49-F238E27FC236}">
                <a16:creationId xmlns:a16="http://schemas.microsoft.com/office/drawing/2014/main" id="{6C86766C-DB38-4390-A54E-67338C2A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3400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イラスト・画面内文字">
            <a:extLst xmlns:a="http://schemas.openxmlformats.org/drawingml/2006/main">
              <a:ext uri="{FF2B5EF4-FFF2-40B4-BE49-F238E27FC236}">
                <a16:creationId xmlns:a16="http://schemas.microsoft.com/office/drawing/2014/main" id="{3897C433-D872-4413-954E-A2F7E85F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3409950"/>
            <a:ext cx="952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1438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0545AB9-3814-4388-93B0-B71BF608F89D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みなさまが直面する4つの機会損失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6C95E26-366E-4617-A71B-FA18106AC66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  <p:sp>
        <p:nvSpPr>
          <p:cNvPr id="14" name="悩み0カード">
            <a:extLst xmlns:a="http://schemas.openxmlformats.org/drawingml/2006/main">
              <a:ext uri="{FF2B5EF4-FFF2-40B4-BE49-F238E27FC236}">
                <a16:creationId xmlns:a16="http://schemas.microsoft.com/office/drawing/2014/main" id="{AB880AF1-7071-48A5-A7F2-8E0B8DA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176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悩み0円">
            <a:extLst xmlns:a="http://schemas.openxmlformats.org/drawingml/2006/main">
              <a:ext uri="{FF2B5EF4-FFF2-40B4-BE49-F238E27FC236}">
                <a16:creationId xmlns:a16="http://schemas.microsoft.com/office/drawing/2014/main" id="{AEBF90E4-2CE1-443B-B605-121090E8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47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7" name="悩み0アイコン">
            <a:extLst xmlns:a="http://schemas.openxmlformats.org/drawingml/2006/main">
              <a:ext uri="{FF2B5EF4-FFF2-40B4-BE49-F238E27FC236}">
                <a16:creationId xmlns:a16="http://schemas.microsoft.com/office/drawing/2014/main" id="{93BF8D7D-1CCC-4B16-8781-D722F1C25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24a9521ae4e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50" y="1593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悩み0題">
            <a:extLst xmlns:a="http://schemas.openxmlformats.org/drawingml/2006/main">
              <a:ext uri="{FF2B5EF4-FFF2-40B4-BE49-F238E27FC236}">
                <a16:creationId xmlns:a16="http://schemas.microsoft.com/office/drawing/2014/main" id="{3A132DE8-DD81-492B-A246-37B8F5ED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3461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案件の選択肢が少ない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悩み0文">
            <a:extLst xmlns:a="http://schemas.openxmlformats.org/drawingml/2006/main">
              <a:ext uri="{FF2B5EF4-FFF2-40B4-BE49-F238E27FC236}">
                <a16:creationId xmlns:a16="http://schemas.microsoft.com/office/drawing/2014/main" id="{F7D43283-5920-4295-9179-D88C5DC9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7271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案件は個別に待つしかなく、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合う案件に出会いにくい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悩み1カード">
            <a:extLst xmlns:a="http://schemas.openxmlformats.org/drawingml/2006/main">
              <a:ext uri="{FF2B5EF4-FFF2-40B4-BE49-F238E27FC236}">
                <a16:creationId xmlns:a16="http://schemas.microsoft.com/office/drawing/2014/main" id="{4E837392-105A-46F2-B247-62F73FB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176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悩み1円">
            <a:extLst xmlns:a="http://schemas.openxmlformats.org/drawingml/2006/main">
              <a:ext uri="{FF2B5EF4-FFF2-40B4-BE49-F238E27FC236}">
                <a16:creationId xmlns:a16="http://schemas.microsoft.com/office/drawing/2014/main" id="{548D8F87-2392-4563-B855-ABD2723A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14478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悩み1アイコン">
            <a:extLst xmlns:a="http://schemas.openxmlformats.org/drawingml/2006/main">
              <a:ext uri="{FF2B5EF4-FFF2-40B4-BE49-F238E27FC236}">
                <a16:creationId xmlns:a16="http://schemas.microsoft.com/office/drawing/2014/main" id="{82916ED5-00ED-49EA-B236-9C14F4E1FB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6cc7bfa05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450" y="1593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悩み1題">
            <a:extLst xmlns:a="http://schemas.openxmlformats.org/drawingml/2006/main">
              <a:ext uri="{FF2B5EF4-FFF2-40B4-BE49-F238E27FC236}">
                <a16:creationId xmlns:a16="http://schemas.microsoft.com/office/drawing/2014/main" id="{6CC98E58-15DE-4314-92B7-9F238B8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3461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人が足りず、取りこぼす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悩み1文">
            <a:extLst xmlns:a="http://schemas.openxmlformats.org/drawingml/2006/main">
              <a:ext uri="{FF2B5EF4-FFF2-40B4-BE49-F238E27FC236}">
                <a16:creationId xmlns:a16="http://schemas.microsoft.com/office/drawing/2014/main" id="{A1F7574C-A5F9-4C93-94F1-D1A7CA95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17271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せっかくの案件に、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出せるエンジニアがいない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悩み2カード">
            <a:extLst xmlns:a="http://schemas.openxmlformats.org/drawingml/2006/main">
              <a:ext uri="{FF2B5EF4-FFF2-40B4-BE49-F238E27FC236}">
                <a16:creationId xmlns:a16="http://schemas.microsoft.com/office/drawing/2014/main" id="{140454E9-B2E1-48D8-8E97-2DD54F28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892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悩み2円">
            <a:extLst xmlns:a="http://schemas.openxmlformats.org/drawingml/2006/main">
              <a:ext uri="{FF2B5EF4-FFF2-40B4-BE49-F238E27FC236}">
                <a16:creationId xmlns:a16="http://schemas.microsoft.com/office/drawing/2014/main" id="{382C0F04-4D18-478E-9B45-9A78951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194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7" name="悩み2アイコン">
            <a:extLst xmlns:a="http://schemas.openxmlformats.org/drawingml/2006/main">
              <a:ext uri="{FF2B5EF4-FFF2-40B4-BE49-F238E27FC236}">
                <a16:creationId xmlns:a16="http://schemas.microsoft.com/office/drawing/2014/main" id="{D7AB8FE1-B0F2-48F1-B5E7-2F9814E0F8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1d980b980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450" y="2965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8" name="悩み2題">
            <a:extLst xmlns:a="http://schemas.openxmlformats.org/drawingml/2006/main">
              <a:ext uri="{FF2B5EF4-FFF2-40B4-BE49-F238E27FC236}">
                <a16:creationId xmlns:a16="http://schemas.microsoft.com/office/drawing/2014/main" id="{19434B8F-674A-4E08-8E33-A4291CA7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27177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書類・面談で落ちる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9" name="悩み2文">
            <a:extLst xmlns:a="http://schemas.openxmlformats.org/drawingml/2006/main">
              <a:ext uri="{FF2B5EF4-FFF2-40B4-BE49-F238E27FC236}">
                <a16:creationId xmlns:a16="http://schemas.microsoft.com/office/drawing/2014/main" id="{3008BC41-F0AE-4C1C-B4C6-E39AACD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30987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スキルシートや受け答えの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準備が追いつかない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0" name="悩み3カード">
            <a:extLst xmlns:a="http://schemas.openxmlformats.org/drawingml/2006/main">
              <a:ext uri="{FF2B5EF4-FFF2-40B4-BE49-F238E27FC236}">
                <a16:creationId xmlns:a16="http://schemas.microsoft.com/office/drawing/2014/main" id="{87060EAA-1FB1-4345-AEC3-7B8FC5A9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89200"/>
            <a:ext cx="4038600" cy="1219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悩み3円">
            <a:extLst xmlns:a="http://schemas.openxmlformats.org/drawingml/2006/main">
              <a:ext uri="{FF2B5EF4-FFF2-40B4-BE49-F238E27FC236}">
                <a16:creationId xmlns:a16="http://schemas.microsoft.com/office/drawing/2014/main" id="{D1198070-20D7-479C-8943-7A78019D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819400"/>
            <a:ext cx="558800" cy="55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悩み3アイコン">
            <a:extLst xmlns:a="http://schemas.openxmlformats.org/drawingml/2006/main">
              <a:ext uri="{FF2B5EF4-FFF2-40B4-BE49-F238E27FC236}">
                <a16:creationId xmlns:a16="http://schemas.microsoft.com/office/drawing/2014/main" id="{512EF2C6-F326-4ACF-A2AF-A42A7F771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12cc7bb0f4d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7450" y="29654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3" name="悩み3題">
            <a:extLst xmlns:a="http://schemas.openxmlformats.org/drawingml/2006/main">
              <a:ext uri="{FF2B5EF4-FFF2-40B4-BE49-F238E27FC236}">
                <a16:creationId xmlns:a16="http://schemas.microsoft.com/office/drawing/2014/main" id="{8CE6F708-06AE-40E3-BAE1-635226F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2717799"/>
            <a:ext cx="294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ノウハウがたまらない</a:t>
            </a:r>
            <a:endParaRPr sz="15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4" name="悩み3文">
            <a:extLst xmlns:a="http://schemas.openxmlformats.org/drawingml/2006/main">
              <a:ext uri="{FF2B5EF4-FFF2-40B4-BE49-F238E27FC236}">
                <a16:creationId xmlns:a16="http://schemas.microsoft.com/office/drawing/2014/main" id="{A22147E1-F2E6-43E0-AF0B-A2351056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098799"/>
            <a:ext cx="294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落ちた理由も、通った型も、</a:t>
            </a:r>
          </a:p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社内に残らない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5" name="解決帯">
            <a:extLst xmlns:a="http://schemas.openxmlformats.org/drawingml/2006/main">
              <a:ext uri="{FF2B5EF4-FFF2-40B4-BE49-F238E27FC236}">
                <a16:creationId xmlns:a16="http://schemas.microsoft.com/office/drawing/2014/main" id="{667F6612-73B3-466A-97A0-6CC7897C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案件・人材・応募支援をつなぐ仕組みをご提案します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6" name="イラスト・記録カード">
            <a:extLst xmlns:a="http://schemas.openxmlformats.org/drawingml/2006/main">
              <a:ext uri="{FF2B5EF4-FFF2-40B4-BE49-F238E27FC236}">
                <a16:creationId xmlns:a16="http://schemas.microsoft.com/office/drawing/2014/main" id="{7DB7855B-9D99-4826-B673-2B65055F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800350"/>
            <a:ext cx="619125" cy="7334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8DE"/>
            </a:solidFill>
            <a:prstDash val="solid"/>
          </a:ln>
        </p:spPr>
      </p:sp>
      <p:sp>
        <p:nvSpPr>
          <p:cNvPr id="37" name="イラスト・記録カード見出し">
            <a:extLst xmlns:a="http://schemas.openxmlformats.org/drawingml/2006/main">
              <a:ext uri="{FF2B5EF4-FFF2-40B4-BE49-F238E27FC236}">
                <a16:creationId xmlns:a16="http://schemas.microsoft.com/office/drawing/2014/main" id="{24A58182-E723-47BA-9EC3-614AB982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876550"/>
            <a:ext cx="4667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イラスト・記録行1">
            <a:extLst xmlns:a="http://schemas.openxmlformats.org/drawingml/2006/main">
              <a:ext uri="{FF2B5EF4-FFF2-40B4-BE49-F238E27FC236}">
                <a16:creationId xmlns:a16="http://schemas.microsoft.com/office/drawing/2014/main" id="{4245D9EC-6F1C-4035-892F-D4AB0BF7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3009900"/>
            <a:ext cx="342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イラスト・記録行2">
            <a:extLst xmlns:a="http://schemas.openxmlformats.org/drawingml/2006/main">
              <a:ext uri="{FF2B5EF4-FFF2-40B4-BE49-F238E27FC236}">
                <a16:creationId xmlns:a16="http://schemas.microsoft.com/office/drawing/2014/main" id="{397BA3BF-3CD7-4854-8AFD-0A8355BE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310515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イラスト・記録行3">
            <a:extLst xmlns:a="http://schemas.openxmlformats.org/drawingml/2006/main">
              <a:ext uri="{FF2B5EF4-FFF2-40B4-BE49-F238E27FC236}">
                <a16:creationId xmlns:a16="http://schemas.microsoft.com/office/drawing/2014/main" id="{606FECDF-92C6-478B-98DA-769A019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3200400"/>
            <a:ext cx="304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イラスト・記録者の頭">
            <a:extLst xmlns:a="http://schemas.openxmlformats.org/drawingml/2006/main">
              <a:ext uri="{FF2B5EF4-FFF2-40B4-BE49-F238E27FC236}">
                <a16:creationId xmlns:a16="http://schemas.microsoft.com/office/drawing/2014/main" id="{76E9B668-88EE-48F1-8780-324D6EFD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2924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イラスト・記録者の髪">
            <a:extLst xmlns:a="http://schemas.openxmlformats.org/drawingml/2006/main">
              <a:ext uri="{FF2B5EF4-FFF2-40B4-BE49-F238E27FC236}">
                <a16:creationId xmlns:a16="http://schemas.microsoft.com/office/drawing/2014/main" id="{93EEE5C4-F8D9-409A-9880-DD15A582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2905125"/>
            <a:ext cx="200025" cy="1143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イラスト・記録者の胴">
            <a:extLst xmlns:a="http://schemas.openxmlformats.org/drawingml/2006/main">
              <a:ext uri="{FF2B5EF4-FFF2-40B4-BE49-F238E27FC236}">
                <a16:creationId xmlns:a16="http://schemas.microsoft.com/office/drawing/2014/main" id="{487565F7-BFE8-48D4-84A1-B1B34EA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3124200"/>
            <a:ext cx="295275" cy="38100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イラスト・記録者の腕">
            <a:extLst xmlns:a="http://schemas.openxmlformats.org/drawingml/2006/main">
              <a:ext uri="{FF2B5EF4-FFF2-40B4-BE49-F238E27FC236}">
                <a16:creationId xmlns:a16="http://schemas.microsoft.com/office/drawing/2014/main" id="{9109A7EC-5FAA-4905-A18A-024CDBFE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3181350"/>
            <a:ext cx="1905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イラスト・記録者の脚">
            <a:extLst xmlns:a="http://schemas.openxmlformats.org/drawingml/2006/main">
              <a:ext uri="{FF2B5EF4-FFF2-40B4-BE49-F238E27FC236}">
                <a16:creationId xmlns:a16="http://schemas.microsoft.com/office/drawing/2014/main" id="{30F5CB9E-B094-4739-9465-A6B0BE68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3457575"/>
            <a:ext cx="857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イラスト・記録者の脚">
            <a:extLst xmlns:a="http://schemas.openxmlformats.org/drawingml/2006/main">
              <a:ext uri="{FF2B5EF4-FFF2-40B4-BE49-F238E27FC236}">
                <a16:creationId xmlns:a16="http://schemas.microsoft.com/office/drawing/2014/main" id="{32B42137-83BC-416B-B34D-B767B850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457575"/>
            <a:ext cx="857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29284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01EE16-739E-4555-BF6A-D1D7781E683C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応募から成約までの準備と効果検証を支援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D05FC1-8A33-420C-80FC-3E7F2053C49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  <p:sp>
        <p:nvSpPr>
          <p:cNvPr id="14" name="グラフ注記">
            <a:extLst xmlns:a="http://schemas.openxmlformats.org/drawingml/2006/main">
              <a:ext uri="{FF2B5EF4-FFF2-40B4-BE49-F238E27FC236}">
                <a16:creationId xmlns:a16="http://schemas.microsoft.com/office/drawing/2014/main" id="{70FF0310-5289-435C-95D2-E2BF6885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3000"/>
            <a:ext cx="3251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導入前後の実績を比較し、効果を確認します</a:t>
            </a:r>
            <a:endParaRPr sz="10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6" name="見出し今">
            <a:extLst xmlns:a="http://schemas.openxmlformats.org/drawingml/2006/main">
              <a:ext uri="{FF2B5EF4-FFF2-40B4-BE49-F238E27FC236}">
                <a16:creationId xmlns:a16="http://schemas.microsoft.com/office/drawing/2014/main" id="{BB023A56-10B7-4637-8576-3CB7DCDE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092200"/>
            <a:ext cx="17780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6E6E6E"/>
                </a:solidFill>
                <a:latin typeface="Meiryo"/>
                <a:ea typeface="Meiryo"/>
                <a:cs typeface="Meiryo"/>
              </a:rPr>
              <a:t>これまで</a:t>
            </a:r>
            <a:endParaRPr sz="1100" b="1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7" name="見出し後">
            <a:extLst xmlns:a="http://schemas.openxmlformats.org/drawingml/2006/main">
              <a:ext uri="{FF2B5EF4-FFF2-40B4-BE49-F238E27FC236}">
                <a16:creationId xmlns:a16="http://schemas.microsoft.com/office/drawing/2014/main" id="{30105586-D882-43D6-B605-63984EC1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92200"/>
            <a:ext cx="27432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このシステムで</a:t>
            </a:r>
            <a:endParaRPr sz="11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8" name="今0">
            <a:extLst xmlns:a="http://schemas.openxmlformats.org/drawingml/2006/main">
              <a:ext uri="{FF2B5EF4-FFF2-40B4-BE49-F238E27FC236}">
                <a16:creationId xmlns:a16="http://schemas.microsoft.com/office/drawing/2014/main" id="{297359FC-47BE-4700-AB42-982DEEAD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462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合わない人を出す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改善矢印0">
            <a:extLst xmlns:a="http://schemas.openxmlformats.org/drawingml/2006/main">
              <a:ext uri="{FF2B5EF4-FFF2-40B4-BE49-F238E27FC236}">
                <a16:creationId xmlns:a16="http://schemas.microsoft.com/office/drawing/2014/main" id="{F1238645-45B8-49DF-9B1E-F3CEAEA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15113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後0">
            <a:extLst xmlns:a="http://schemas.openxmlformats.org/drawingml/2006/main">
              <a:ext uri="{FF2B5EF4-FFF2-40B4-BE49-F238E27FC236}">
                <a16:creationId xmlns:a16="http://schemas.microsoft.com/office/drawing/2014/main" id="{75EEF49C-08CB-4069-A362-B247486D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3462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後0円">
            <a:extLst xmlns:a="http://schemas.openxmlformats.org/drawingml/2006/main">
              <a:ext uri="{FF2B5EF4-FFF2-40B4-BE49-F238E27FC236}">
                <a16:creationId xmlns:a16="http://schemas.microsoft.com/office/drawing/2014/main" id="{FA36D012-11D6-4E79-BF35-1F21E841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435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3" name="後0アイコン">
            <a:extLst xmlns:a="http://schemas.openxmlformats.org/drawingml/2006/main">
              <a:ext uri="{FF2B5EF4-FFF2-40B4-BE49-F238E27FC236}">
                <a16:creationId xmlns:a16="http://schemas.microsoft.com/office/drawing/2014/main" id="{605A9542-1C72-4CA8-AC5F-6A860BEE7F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686b59c1f4a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367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22" name="後0文">
            <a:extLst xmlns:a="http://schemas.openxmlformats.org/drawingml/2006/main">
              <a:ext uri="{FF2B5EF4-FFF2-40B4-BE49-F238E27FC236}">
                <a16:creationId xmlns:a16="http://schemas.microsoft.com/office/drawing/2014/main" id="{D104406B-CAAB-48E3-8E52-C29DFFFC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461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いちばん合う人を選ぶ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今1">
            <a:extLst xmlns:a="http://schemas.openxmlformats.org/drawingml/2006/main">
              <a:ext uri="{FF2B5EF4-FFF2-40B4-BE49-F238E27FC236}">
                <a16:creationId xmlns:a16="http://schemas.microsoft.com/office/drawing/2014/main" id="{05F9261A-7B28-4514-A221-B4A68F67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66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書類で落ちる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改善矢印1">
            <a:extLst xmlns:a="http://schemas.openxmlformats.org/drawingml/2006/main">
              <a:ext uri="{FF2B5EF4-FFF2-40B4-BE49-F238E27FC236}">
                <a16:creationId xmlns:a16="http://schemas.microsoft.com/office/drawing/2014/main" id="{1354B2EA-7A42-4DE9-9A0F-D028972A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1717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後1">
            <a:extLst xmlns:a="http://schemas.openxmlformats.org/drawingml/2006/main">
              <a:ext uri="{FF2B5EF4-FFF2-40B4-BE49-F238E27FC236}">
                <a16:creationId xmlns:a16="http://schemas.microsoft.com/office/drawing/2014/main" id="{F2513FAB-F60A-4294-9F71-D318698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0066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後1円">
            <a:extLst xmlns:a="http://schemas.openxmlformats.org/drawingml/2006/main">
              <a:ext uri="{FF2B5EF4-FFF2-40B4-BE49-F238E27FC236}">
                <a16:creationId xmlns:a16="http://schemas.microsoft.com/office/drawing/2014/main" id="{170D8CA6-34BE-4C7D-8C61-98478749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095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後1アイコン">
            <a:extLst xmlns:a="http://schemas.openxmlformats.org/drawingml/2006/main">
              <a:ext uri="{FF2B5EF4-FFF2-40B4-BE49-F238E27FC236}">
                <a16:creationId xmlns:a16="http://schemas.microsoft.com/office/drawing/2014/main" id="{DA0CA0C9-6DEC-4E5B-AEE2-4E468C36BB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552808bb84e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1971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0" name="後1文">
            <a:extLst xmlns:a="http://schemas.openxmlformats.org/drawingml/2006/main">
              <a:ext uri="{FF2B5EF4-FFF2-40B4-BE49-F238E27FC236}">
                <a16:creationId xmlns:a16="http://schemas.microsoft.com/office/drawing/2014/main" id="{5864A1DD-9C12-4F22-848E-80A3BE68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65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理想のスキルシートを作る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1" name="今2">
            <a:extLst xmlns:a="http://schemas.openxmlformats.org/drawingml/2006/main">
              <a:ext uri="{FF2B5EF4-FFF2-40B4-BE49-F238E27FC236}">
                <a16:creationId xmlns:a16="http://schemas.microsoft.com/office/drawing/2014/main" id="{D5E0CBCA-504A-4F2A-864D-439BEBCB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面談で落ちる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2" name="改善矢印2">
            <a:extLst xmlns:a="http://schemas.openxmlformats.org/drawingml/2006/main">
              <a:ext uri="{FF2B5EF4-FFF2-40B4-BE49-F238E27FC236}">
                <a16:creationId xmlns:a16="http://schemas.microsoft.com/office/drawing/2014/main" id="{8A3DF1A3-7859-48AD-85F9-831030A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8321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後2">
            <a:extLst xmlns:a="http://schemas.openxmlformats.org/drawingml/2006/main">
              <a:ext uri="{FF2B5EF4-FFF2-40B4-BE49-F238E27FC236}">
                <a16:creationId xmlns:a16="http://schemas.microsoft.com/office/drawing/2014/main" id="{510AAF63-57E2-4FFF-B85A-5AC1229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6670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後2円">
            <a:extLst xmlns:a="http://schemas.openxmlformats.org/drawingml/2006/main">
              <a:ext uri="{FF2B5EF4-FFF2-40B4-BE49-F238E27FC236}">
                <a16:creationId xmlns:a16="http://schemas.microsoft.com/office/drawing/2014/main" id="{A0836E6A-7118-46EF-B309-8CE5FF78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7559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5" name="後2アイコン">
            <a:extLst xmlns:a="http://schemas.openxmlformats.org/drawingml/2006/main">
              <a:ext uri="{FF2B5EF4-FFF2-40B4-BE49-F238E27FC236}">
                <a16:creationId xmlns:a16="http://schemas.microsoft.com/office/drawing/2014/main" id="{C874BA8D-1C6F-4428-A3BD-64F7F54D9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99c121ca34c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8575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36" name="後2文">
            <a:extLst xmlns:a="http://schemas.openxmlformats.org/drawingml/2006/main">
              <a:ext uri="{FF2B5EF4-FFF2-40B4-BE49-F238E27FC236}">
                <a16:creationId xmlns:a16="http://schemas.microsoft.com/office/drawing/2014/main" id="{1DAA7AA3-7A46-4F6E-AE43-9F36127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69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面談対策の</a:t>
            </a: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Q&amp;A</a:t>
            </a:r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で準備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7" name="今3">
            <a:extLst xmlns:a="http://schemas.openxmlformats.org/drawingml/2006/main">
              <a:ext uri="{FF2B5EF4-FFF2-40B4-BE49-F238E27FC236}">
                <a16:creationId xmlns:a16="http://schemas.microsoft.com/office/drawing/2014/main" id="{7B551BC5-6F03-4F3F-93BD-08E54B7F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7400"/>
            <a:ext cx="17780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F2F2F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6E6E6E"/>
                </a:solidFill>
                <a:latin typeface="Meiryo"/>
                <a:ea typeface="Meiryo"/>
                <a:cs typeface="Meiryo"/>
              </a:rPr>
              <a:t>落ちた理由が残らない</a:t>
            </a:r>
            <a:endParaRPr sz="1100">
              <a:solidFill>
                <a:srgbClr val="6E6E6E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8" name="改善矢印3">
            <a:extLst xmlns:a="http://schemas.openxmlformats.org/drawingml/2006/main">
              <a:ext uri="{FF2B5EF4-FFF2-40B4-BE49-F238E27FC236}">
                <a16:creationId xmlns:a16="http://schemas.microsoft.com/office/drawing/2014/main" id="{30B71788-0862-49F4-890F-7EF92B4D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4925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後3">
            <a:extLst xmlns:a="http://schemas.openxmlformats.org/drawingml/2006/main">
              <a:ext uri="{FF2B5EF4-FFF2-40B4-BE49-F238E27FC236}">
                <a16:creationId xmlns:a16="http://schemas.microsoft.com/office/drawing/2014/main" id="{08FD2501-E7A1-4AC8-A510-FED8634E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327400"/>
            <a:ext cx="2717800" cy="5588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後3円">
            <a:extLst xmlns:a="http://schemas.openxmlformats.org/drawingml/2006/main">
              <a:ext uri="{FF2B5EF4-FFF2-40B4-BE49-F238E27FC236}">
                <a16:creationId xmlns:a16="http://schemas.microsoft.com/office/drawing/2014/main" id="{93E0FD99-AEA2-4189-ABDE-B5B9881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3416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1" name="後3アイコン">
            <a:extLst xmlns:a="http://schemas.openxmlformats.org/drawingml/2006/main">
              <a:ext uri="{FF2B5EF4-FFF2-40B4-BE49-F238E27FC236}">
                <a16:creationId xmlns:a16="http://schemas.microsoft.com/office/drawing/2014/main" id="{D8FA900C-483E-43BB-A084-BC0967DC8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a5731c7344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3517900"/>
            <a:ext cx="177800" cy="177800"/>
          </a:xfrm>
          <a:prstGeom xmlns:a="http://schemas.openxmlformats.org/drawingml/2006/main" prst="rect">
            <a:avLst/>
          </a:prstGeom>
        </p:spPr>
      </p:pic>
      <p:sp>
        <p:nvSpPr>
          <p:cNvPr id="42" name="後3文">
            <a:extLst xmlns:a="http://schemas.openxmlformats.org/drawingml/2006/main">
              <a:ext uri="{FF2B5EF4-FFF2-40B4-BE49-F238E27FC236}">
                <a16:creationId xmlns:a16="http://schemas.microsoft.com/office/drawing/2014/main" id="{11986946-729A-48C8-B0AD-99EC3F89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7399"/>
            <a:ext cx="20574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結果をためて次に活かす</a:t>
            </a:r>
            <a:endParaRPr sz="12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3" name="決まる帯">
            <a:extLst xmlns:a="http://schemas.openxmlformats.org/drawingml/2006/main">
              <a:ext uri="{FF2B5EF4-FFF2-40B4-BE49-F238E27FC236}">
                <a16:creationId xmlns:a16="http://schemas.microsoft.com/office/drawing/2014/main" id="{F3FB01FB-13B2-4115-9E45-A6CC978E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8229600" cy="508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応募数・面談数・成約数を記録して検証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" name="成約率ラベル">
            <a:extLst xmlns:a="http://schemas.openxmlformats.org/drawingml/2006/main">
              <a:ext uri="{FF2B5EF4-FFF2-40B4-BE49-F238E27FC236}">
                <a16:creationId xmlns:a16="http://schemas.microsoft.com/office/drawing/2014/main" id="{D9000E45-0CD3-4965-B6D6-C6D95590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25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7A8CA3"/>
                </a:solidFill>
                <a:latin typeface="Meiryo"/>
                <a:ea typeface="Meiryo"/>
                <a:cs typeface="Meiryo"/>
              </a:rPr>
              <a:t>効果測定の指標</a:t>
            </a:r>
            <a:endParaRPr sz="1200">
              <a:solidFill>
                <a:srgbClr val="7A8CA3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" name="成約率数字">
            <a:extLst xmlns:a="http://schemas.openxmlformats.org/drawingml/2006/main">
              <a:ext uri="{FF2B5EF4-FFF2-40B4-BE49-F238E27FC236}">
                <a16:creationId xmlns:a16="http://schemas.microsoft.com/office/drawing/2014/main" id="{318B5CE5-D92A-4153-8430-411D47C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325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成約までを計測</a:t>
            </a:r>
            <a:endParaRPr sz="1400" b="1">
              <a:solidFill>
                <a:srgbClr val="4A7FB5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44" name="測定項目">
            <a:extLst xmlns:a="http://schemas.openxmlformats.org/drawingml/2006/main">
              <a:ext uri="{FF2B5EF4-FFF2-40B4-BE49-F238E27FC236}">
                <a16:creationId xmlns:a16="http://schemas.microsoft.com/office/drawing/2014/main" id="{B453735C-B472-4CB2-86A5-264C3CC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325116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応募数・応募率</a:t>
            </a:r>
          </a:p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面談設定数</a:t>
            </a:r>
          </a:p>
          <a:p xmlns:a="http://schemas.openxmlformats.org/drawingml/2006/main">
            <a:pPr algn="l">
              <a:buNone/>
              <a:defRPr sz="165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65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成約数・成約率</a:t>
            </a:r>
          </a:p>
        </p:txBody>
      </p:sp>
      <p:sp>
        <p:nvSpPr>
          <p:cNvPr id="45" name="効果検証イラスト・図表枠">
            <a:extLst xmlns:a="http://schemas.openxmlformats.org/drawingml/2006/main">
              <a:ext uri="{FF2B5EF4-FFF2-40B4-BE49-F238E27FC236}">
                <a16:creationId xmlns:a16="http://schemas.microsoft.com/office/drawing/2014/main" id="{F1030F3A-2B7C-4C50-B406-417C4BAF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2200275"/>
            <a:ext cx="10096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46" name="効果検証イラスト・軸">
            <a:extLst xmlns:a="http://schemas.openxmlformats.org/drawingml/2006/main">
              <a:ext uri="{FF2B5EF4-FFF2-40B4-BE49-F238E27FC236}">
                <a16:creationId xmlns:a16="http://schemas.microsoft.com/office/drawing/2014/main" id="{4A28E0F8-F0F7-4EA1-86A9-C58D73C3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295275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効果検証イラスト・棒1">
            <a:extLst xmlns:a="http://schemas.openxmlformats.org/drawingml/2006/main">
              <a:ext uri="{FF2B5EF4-FFF2-40B4-BE49-F238E27FC236}">
                <a16:creationId xmlns:a16="http://schemas.microsoft.com/office/drawing/2014/main" id="{9F8C426D-CAD0-43EB-BCB4-EACC0348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743200"/>
            <a:ext cx="1238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効果検証イラスト・棒2">
            <a:extLst xmlns:a="http://schemas.openxmlformats.org/drawingml/2006/main">
              <a:ext uri="{FF2B5EF4-FFF2-40B4-BE49-F238E27FC236}">
                <a16:creationId xmlns:a16="http://schemas.microsoft.com/office/drawing/2014/main" id="{21041526-A036-476D-BB0F-5B6DB7F1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2600325"/>
            <a:ext cx="123825" cy="352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効果検証イラスト・棒3">
            <a:extLst xmlns:a="http://schemas.openxmlformats.org/drawingml/2006/main">
              <a:ext uri="{FF2B5EF4-FFF2-40B4-BE49-F238E27FC236}">
                <a16:creationId xmlns:a16="http://schemas.microsoft.com/office/drawing/2014/main" id="{6068C944-CA17-4E27-99E0-1A6016F6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2390775"/>
            <a:ext cx="123825" cy="561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効果検証イラスト・人物頭">
            <a:extLst xmlns:a="http://schemas.openxmlformats.org/drawingml/2006/main">
              <a:ext uri="{FF2B5EF4-FFF2-40B4-BE49-F238E27FC236}">
                <a16:creationId xmlns:a16="http://schemas.microsoft.com/office/drawing/2014/main" id="{0356DE34-DA42-4A97-AB1E-7D7E15F4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効果検証イラスト・人物髪">
            <a:extLst xmlns:a="http://schemas.openxmlformats.org/drawingml/2006/main">
              <a:ext uri="{FF2B5EF4-FFF2-40B4-BE49-F238E27FC236}">
                <a16:creationId xmlns:a16="http://schemas.microsoft.com/office/drawing/2014/main" id="{0663C90E-34FA-4D97-8304-18F6C20D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3190875"/>
            <a:ext cx="200025" cy="11430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効果検証イラスト・人物胴">
            <a:extLst xmlns:a="http://schemas.openxmlformats.org/drawingml/2006/main">
              <a:ext uri="{FF2B5EF4-FFF2-40B4-BE49-F238E27FC236}">
                <a16:creationId xmlns:a16="http://schemas.microsoft.com/office/drawing/2014/main" id="{D85DC0D1-9794-4644-A7E2-32659491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3400425"/>
            <a:ext cx="2952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効果検証イラスト・人物腕">
            <a:extLst xmlns:a="http://schemas.openxmlformats.org/drawingml/2006/main">
              <a:ext uri="{FF2B5EF4-FFF2-40B4-BE49-F238E27FC236}">
                <a16:creationId xmlns:a16="http://schemas.microsoft.com/office/drawing/2014/main" id="{0AFA72EC-EE61-46EB-ABDF-F3AC8393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3286125"/>
            <a:ext cx="2000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効果検証イラスト・指し棒">
            <a:extLst xmlns:a="http://schemas.openxmlformats.org/drawingml/2006/main">
              <a:ext uri="{FF2B5EF4-FFF2-40B4-BE49-F238E27FC236}">
                <a16:creationId xmlns:a16="http://schemas.microsoft.com/office/drawing/2014/main" id="{E9F880AE-6C2D-4CDD-9E92-0CB469F1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3209925"/>
            <a:ext cx="2095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46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17895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50A9ED-1A23-48EC-918B-5D48316DFBD7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 b="1">
                <a:solidFill>
                  <a:schemeClr val="tx1"/>
                </a:solidFill>
              </a:rPr>
              <a:t>案件を選び、応募準備へ進む画面</a:t>
            </a:r>
            <a:endParaRPr sz="2800"/>
          </a:p>
        </p:txBody>
      </p:sp>
      <p:sp>
        <p:nvSpPr>
          <p:cNvPr id="3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E8792DE-B8C9-48FE-ADC8-3F1099C89B5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  <p:sp>
        <p:nvSpPr>
          <p:cNvPr id="36" name="画面イメージ注記">
            <a:extLst xmlns:a="http://schemas.openxmlformats.org/drawingml/2006/main">
              <a:ext uri="{FF2B5EF4-FFF2-40B4-BE49-F238E27FC236}">
                <a16:creationId xmlns:a16="http://schemas.microsoft.com/office/drawing/2014/main" id="{9E6EA592-0E5D-4F7A-9DDE-18D04695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画面イメージ（提案段階）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4CA573-824C-4CB8-A5B3-7A4491D92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3e58b68514af7"/>
          <a:stretch xmlns:a="http://schemas.openxmlformats.org/drawingml/2006/main"/>
        </p:blipFill>
        <p:spPr>
          <a:xfrm xmlns:a="http://schemas.openxmlformats.org/drawingml/2006/main">
            <a:off x="413687" y="1304925"/>
            <a:ext cx="3630326" cy="2524125"/>
          </a:xfrm>
          <a:prstGeom xmlns:a="http://schemas.openxmlformats.org/drawingml/2006/main" prst="rect">
            <a:avLst/>
          </a:prstGeom>
        </p:spPr>
      </p:pic>
      <p:sp>
        <p:nvSpPr>
          <p:cNvPr id="38" name="画面フレーム">
            <a:extLst xmlns:a="http://schemas.openxmlformats.org/drawingml/2006/main">
              <a:ext uri="{FF2B5EF4-FFF2-40B4-BE49-F238E27FC236}">
                <a16:creationId xmlns:a16="http://schemas.microsoft.com/office/drawing/2014/main" id="{1814733C-B5B9-4C06-9005-A2764B4B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81100"/>
            <a:ext cx="45910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E9F5"/>
            </a:solidFill>
            <a:prstDash val="solid"/>
          </a:ln>
        </p:spPr>
      </p:sp>
      <p:sp>
        <p:nvSpPr>
          <p:cNvPr id="39" name="アプリヘッダー">
            <a:extLst xmlns:a="http://schemas.openxmlformats.org/drawingml/2006/main">
              <a:ext uri="{FF2B5EF4-FFF2-40B4-BE49-F238E27FC236}">
                <a16:creationId xmlns:a16="http://schemas.microsoft.com/office/drawing/2014/main" id="{24E06F89-0D4E-4A45-863A-E2164F33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81100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solidFill>
              <a:srgbClr val="2B4A6F"/>
            </a:solidFill>
            <a:prstDash val="solid"/>
          </a:ln>
        </p:spPr>
      </p:sp>
      <p:sp>
        <p:nvSpPr>
          <p:cNvPr id="40" name="ブランド名">
            <a:extLst xmlns:a="http://schemas.openxmlformats.org/drawingml/2006/main">
              <a:ext uri="{FF2B5EF4-FFF2-40B4-BE49-F238E27FC236}">
                <a16:creationId xmlns:a16="http://schemas.microsoft.com/office/drawing/2014/main" id="{8F38CDC9-D00F-4D6B-89D2-CA69580B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382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Parks</a:t>
            </a:r>
          </a:p>
        </p:txBody>
      </p:sp>
      <p:sp>
        <p:nvSpPr>
          <p:cNvPr id="41" name="利用者表示">
            <a:extLst xmlns:a="http://schemas.openxmlformats.org/drawingml/2006/main">
              <a:ext uri="{FF2B5EF4-FFF2-40B4-BE49-F238E27FC236}">
                <a16:creationId xmlns:a16="http://schemas.microsoft.com/office/drawing/2014/main" id="{64F05F04-BE76-4C50-991B-AD91421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38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buNone/>
              <a:defRPr sz="900" b="0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みなさま</a:t>
            </a:r>
          </a:p>
        </p:txBody>
      </p:sp>
      <p:sp>
        <p:nvSpPr>
          <p:cNvPr id="42" name="サイドメニュー背景">
            <a:extLst xmlns:a="http://schemas.openxmlformats.org/drawingml/2006/main">
              <a:ext uri="{FF2B5EF4-FFF2-40B4-BE49-F238E27FC236}">
                <a16:creationId xmlns:a16="http://schemas.microsoft.com/office/drawing/2014/main" id="{FA9AFC2D-3AB9-470E-AB4C-74123CDB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8953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選択メニュー背景">
            <a:extLst xmlns:a="http://schemas.openxmlformats.org/drawingml/2006/main">
              <a:ext uri="{FF2B5EF4-FFF2-40B4-BE49-F238E27FC236}">
                <a16:creationId xmlns:a16="http://schemas.microsoft.com/office/drawing/2014/main" id="{7174EBBA-E6B9-4D8F-905C-A2F2245C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657350"/>
            <a:ext cx="762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選択メニュー">
            <a:extLst xmlns:a="http://schemas.openxmlformats.org/drawingml/2006/main">
              <a:ext uri="{FF2B5EF4-FFF2-40B4-BE49-F238E27FC236}">
                <a16:creationId xmlns:a16="http://schemas.microsoft.com/office/drawing/2014/main" id="{C5817EBA-CDD8-4B54-97BA-249BD40D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45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案件一覧</a:t>
            </a:r>
          </a:p>
        </p:txBody>
      </p:sp>
      <p:sp>
        <p:nvSpPr>
          <p:cNvPr id="45" name="人材メニュー">
            <a:extLst xmlns:a="http://schemas.openxmlformats.org/drawingml/2006/main">
              <a:ext uri="{FF2B5EF4-FFF2-40B4-BE49-F238E27FC236}">
                <a16:creationId xmlns:a16="http://schemas.microsoft.com/office/drawing/2014/main" id="{D30CA8B7-31EF-4E68-9B93-A297B668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431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人材情報</a:t>
            </a:r>
          </a:p>
        </p:txBody>
      </p:sp>
      <p:sp>
        <p:nvSpPr>
          <p:cNvPr id="46" name="応募状況メニュー">
            <a:extLst xmlns:a="http://schemas.openxmlformats.org/drawingml/2006/main">
              <a:ext uri="{FF2B5EF4-FFF2-40B4-BE49-F238E27FC236}">
                <a16:creationId xmlns:a16="http://schemas.microsoft.com/office/drawing/2014/main" id="{9CDA84E6-F04A-4095-9D62-D5A8CE1F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応募状況</a:t>
            </a:r>
          </a:p>
        </p:txBody>
      </p:sp>
      <p:sp>
        <p:nvSpPr>
          <p:cNvPr id="47" name="画面見出し">
            <a:extLst xmlns:a="http://schemas.openxmlformats.org/drawingml/2006/main">
              <a:ext uri="{FF2B5EF4-FFF2-40B4-BE49-F238E27FC236}">
                <a16:creationId xmlns:a16="http://schemas.microsoft.com/office/drawing/2014/main" id="{4F7D08FC-BEFB-48B7-8D4A-C4542EB2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2877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案件を確認</a:t>
            </a:r>
          </a:p>
        </p:txBody>
      </p:sp>
      <p:sp>
        <p:nvSpPr>
          <p:cNvPr id="48" name="案件条件パネル">
            <a:extLst xmlns:a="http://schemas.openxmlformats.org/drawingml/2006/main">
              <a:ext uri="{FF2B5EF4-FFF2-40B4-BE49-F238E27FC236}">
                <a16:creationId xmlns:a16="http://schemas.microsoft.com/office/drawing/2014/main" id="{9C5361B3-F9F4-4F3A-91AE-5A33670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9547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案件条件ラベル">
            <a:extLst xmlns:a="http://schemas.openxmlformats.org/drawingml/2006/main">
              <a:ext uri="{FF2B5EF4-FFF2-40B4-BE49-F238E27FC236}">
                <a16:creationId xmlns:a16="http://schemas.microsoft.com/office/drawing/2014/main" id="{4294512B-D818-4125-9BCD-BD1AFE99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3357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825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募集内容・条件</a:t>
            </a:r>
          </a:p>
        </p:txBody>
      </p:sp>
      <p:sp>
        <p:nvSpPr>
          <p:cNvPr id="50" name="案件条件説明">
            <a:extLst xmlns:a="http://schemas.openxmlformats.org/drawingml/2006/main">
              <a:ext uri="{FF2B5EF4-FFF2-40B4-BE49-F238E27FC236}">
                <a16:creationId xmlns:a16="http://schemas.microsoft.com/office/drawing/2014/main" id="{3B022B63-4F30-4428-9C73-E176E066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050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仕事内容と必須スキルを確認</a:t>
            </a:r>
          </a:p>
        </p:txBody>
      </p:sp>
      <p:sp>
        <p:nvSpPr>
          <p:cNvPr id="51" name="候補者見出し">
            <a:extLst xmlns:a="http://schemas.openxmlformats.org/drawingml/2006/main">
              <a:ext uri="{FF2B5EF4-FFF2-40B4-BE49-F238E27FC236}">
                <a16:creationId xmlns:a16="http://schemas.microsoft.com/office/drawing/2014/main" id="{7E0770FA-6F4E-48BC-9946-FB1F7904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05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人材候補を選択</a:t>
            </a:r>
          </a:p>
        </p:txBody>
      </p:sp>
      <p:sp>
        <p:nvSpPr>
          <p:cNvPr id="52" name="候補者行1">
            <a:extLst xmlns:a="http://schemas.openxmlformats.org/drawingml/2006/main">
              <a:ext uri="{FF2B5EF4-FFF2-40B4-BE49-F238E27FC236}">
                <a16:creationId xmlns:a16="http://schemas.microsoft.com/office/drawing/2014/main" id="{58080522-02E5-45E2-9165-DAFA088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3429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CE9F5"/>
            </a:solidFill>
            <a:prstDash val="solid"/>
          </a:ln>
        </p:spPr>
      </p:sp>
      <p:sp>
        <p:nvSpPr>
          <p:cNvPr id="53" name="候補者選択1">
            <a:extLst xmlns:a="http://schemas.openxmlformats.org/drawingml/2006/main">
              <a:ext uri="{FF2B5EF4-FFF2-40B4-BE49-F238E27FC236}">
                <a16:creationId xmlns:a16="http://schemas.microsoft.com/office/drawing/2014/main" id="{A03D405B-D0D4-497B-8C1B-AD8FBBD3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DB8DE"/>
            </a:solidFill>
            <a:prstDash val="solid"/>
          </a:ln>
        </p:spPr>
      </p:sp>
      <p:sp>
        <p:nvSpPr>
          <p:cNvPr id="54" name="候補者名1">
            <a:extLst xmlns:a="http://schemas.openxmlformats.org/drawingml/2006/main">
              <a:ext uri="{FF2B5EF4-FFF2-40B4-BE49-F238E27FC236}">
                <a16:creationId xmlns:a16="http://schemas.microsoft.com/office/drawing/2014/main" id="{A3A8B6ED-BB21-40F7-8E95-FA9F022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790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A</a:t>
            </a:r>
          </a:p>
        </p:txBody>
      </p:sp>
      <p:sp>
        <p:nvSpPr>
          <p:cNvPr id="55" name="候補者詳細1">
            <a:extLst xmlns:a="http://schemas.openxmlformats.org/drawingml/2006/main">
              <a:ext uri="{FF2B5EF4-FFF2-40B4-BE49-F238E27FC236}">
                <a16:creationId xmlns:a16="http://schemas.microsoft.com/office/drawing/2014/main" id="{492647CD-22D7-4513-8317-D334FD95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813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56" name="候補者状態1">
            <a:extLst xmlns:a="http://schemas.openxmlformats.org/drawingml/2006/main">
              <a:ext uri="{FF2B5EF4-FFF2-40B4-BE49-F238E27FC236}">
                <a16:creationId xmlns:a16="http://schemas.microsoft.com/office/drawing/2014/main" id="{1786C8D7-1392-4AFE-A27B-77017C78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buNone/>
              <a:defRPr sz="788" b="0">
                <a:solidFill>
                  <a:srgbClr val="6F8198"/>
                </a:solidFill>
                <a:latin typeface="Meiryo"/>
                <a:ea typeface="Meiryo"/>
                <a:cs typeface="Meiryo"/>
              </a:defRPr>
            </a:pPr>
            <a:r>
              <a:rPr sz="788" b="0">
                <a:solidFill>
                  <a:srgbClr val="6F8198"/>
                </a:solidFill>
                <a:latin typeface="Meiryo"/>
                <a:ea typeface="Meiryo"/>
                <a:cs typeface="Meiryo"/>
              </a:rPr>
              <a:t>内容を見る</a:t>
            </a:r>
          </a:p>
        </p:txBody>
      </p:sp>
      <p:sp>
        <p:nvSpPr>
          <p:cNvPr id="57" name="候補者行2">
            <a:extLst xmlns:a="http://schemas.openxmlformats.org/drawingml/2006/main">
              <a:ext uri="{FF2B5EF4-FFF2-40B4-BE49-F238E27FC236}">
                <a16:creationId xmlns:a16="http://schemas.microsoft.com/office/drawing/2014/main" id="{981B789E-8C95-4264-A659-A01FD100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342900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8F1F9"/>
          </a:solidFill>
          <a:ln xmlns:a="http://schemas.openxmlformats.org/drawingml/2006/main" w="9525">
            <a:solidFill>
              <a:srgbClr val="4A7FB5"/>
            </a:solidFill>
            <a:prstDash val="solid"/>
          </a:ln>
        </p:spPr>
      </p:sp>
      <p:sp>
        <p:nvSpPr>
          <p:cNvPr id="58" name="候補者選択2">
            <a:extLst xmlns:a="http://schemas.openxmlformats.org/drawingml/2006/main">
              <a:ext uri="{FF2B5EF4-FFF2-40B4-BE49-F238E27FC236}">
                <a16:creationId xmlns:a16="http://schemas.microsoft.com/office/drawing/2014/main" id="{5248F78E-F687-4770-8C7D-32C8DB9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9525">
            <a:solidFill>
              <a:srgbClr val="4A7FB5"/>
            </a:solidFill>
            <a:prstDash val="solid"/>
          </a:ln>
        </p:spPr>
      </p:sp>
      <p:sp>
        <p:nvSpPr>
          <p:cNvPr id="59" name="選択マーク2">
            <a:extLst xmlns:a="http://schemas.openxmlformats.org/drawingml/2006/main">
              <a:ext uri="{FF2B5EF4-FFF2-40B4-BE49-F238E27FC236}">
                <a16:creationId xmlns:a16="http://schemas.microsoft.com/office/drawing/2014/main" id="{6C3F2AE6-A993-4E07-8041-8FC3B453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候補者名2">
            <a:extLst xmlns:a="http://schemas.openxmlformats.org/drawingml/2006/main">
              <a:ext uri="{FF2B5EF4-FFF2-40B4-BE49-F238E27FC236}">
                <a16:creationId xmlns:a16="http://schemas.microsoft.com/office/drawing/2014/main" id="{A1260CD7-7152-4AA4-AC04-5064BB57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7905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候補者 B</a:t>
            </a:r>
          </a:p>
        </p:txBody>
      </p:sp>
      <p:sp>
        <p:nvSpPr>
          <p:cNvPr id="61" name="候補者詳細2">
            <a:extLst xmlns:a="http://schemas.openxmlformats.org/drawingml/2006/main">
              <a:ext uri="{FF2B5EF4-FFF2-40B4-BE49-F238E27FC236}">
                <a16:creationId xmlns:a16="http://schemas.microsoft.com/office/drawing/2014/main" id="{2E6721CF-90DE-46A7-9434-DC4968FF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経歴・スキルシート</a:t>
            </a:r>
          </a:p>
        </p:txBody>
      </p:sp>
      <p:sp>
        <p:nvSpPr>
          <p:cNvPr id="62" name="候補者状態2">
            <a:extLst xmlns:a="http://schemas.openxmlformats.org/drawingml/2006/main">
              <a:ext uri="{FF2B5EF4-FFF2-40B4-BE49-F238E27FC236}">
                <a16:creationId xmlns:a16="http://schemas.microsoft.com/office/drawing/2014/main" id="{0AED2FBD-0BCB-4061-BFA9-6CE03002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buNone/>
              <a:defRPr sz="788" b="1">
                <a:solidFill>
                  <a:srgbClr val="4A7FB5"/>
                </a:solidFill>
                <a:latin typeface="Meiryo"/>
                <a:ea typeface="Meiryo"/>
                <a:cs typeface="Meiryo"/>
              </a:defRPr>
            </a:pPr>
            <a:r>
              <a:rPr sz="788" b="1">
                <a:solidFill>
                  <a:srgbClr val="4A7FB5"/>
                </a:solidFill>
                <a:latin typeface="Meiryo"/>
                <a:ea typeface="Meiryo"/>
                <a:cs typeface="Meiryo"/>
              </a:rPr>
              <a:t>選択中</a:t>
            </a:r>
          </a:p>
        </p:txBody>
      </p:sp>
      <p:sp>
        <p:nvSpPr>
          <p:cNvPr id="63" name="応募準備背景">
            <a:extLst xmlns:a="http://schemas.openxmlformats.org/drawingml/2006/main">
              <a:ext uri="{FF2B5EF4-FFF2-40B4-BE49-F238E27FC236}">
                <a16:creationId xmlns:a16="http://schemas.microsoft.com/office/drawing/2014/main" id="{486900F9-6D1B-44E5-A86E-1C2BDC1F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14725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応募準備説明">
            <a:extLst xmlns:a="http://schemas.openxmlformats.org/drawingml/2006/main">
              <a:ext uri="{FF2B5EF4-FFF2-40B4-BE49-F238E27FC236}">
                <a16:creationId xmlns:a16="http://schemas.microsoft.com/office/drawing/2014/main" id="{267DC18D-C962-4BDB-8990-73152883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528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825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スキルシート・面談対策Q&amp;A</a:t>
            </a:r>
          </a:p>
        </p:txBody>
      </p:sp>
      <p:sp>
        <p:nvSpPr>
          <p:cNvPr id="65" name="応募準備ボタン">
            <a:extLst xmlns:a="http://schemas.openxmlformats.org/drawingml/2006/main">
              <a:ext uri="{FF2B5EF4-FFF2-40B4-BE49-F238E27FC236}">
                <a16:creationId xmlns:a16="http://schemas.microsoft.com/office/drawing/2014/main" id="{BBF41E5D-B18A-4C9B-9902-B30B3687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05225"/>
            <a:ext cx="1219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応募準備ボタン文字">
            <a:extLst xmlns:a="http://schemas.openxmlformats.org/drawingml/2006/main">
              <a:ext uri="{FF2B5EF4-FFF2-40B4-BE49-F238E27FC236}">
                <a16:creationId xmlns:a16="http://schemas.microsoft.com/office/drawing/2014/main" id="{653AA5BC-E235-41AE-ACC8-092E8776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4332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buNone/>
              <a:defRPr sz="900" b="1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応募準備へ</a:t>
            </a:r>
          </a:p>
        </p:txBody>
      </p:sp>
      <p:sp>
        <p:nvSpPr>
          <p:cNvPr id="67" name="利用の流れ">
            <a:extLst xmlns:a="http://schemas.openxmlformats.org/drawingml/2006/main">
              <a:ext uri="{FF2B5EF4-FFF2-40B4-BE49-F238E27FC236}">
                <a16:creationId xmlns:a16="http://schemas.microsoft.com/office/drawing/2014/main" id="{6E7DDA1F-B6CF-4313-A14E-338D15A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13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buNone/>
              <a:defRPr sz="1013" b="0">
                <a:solidFill>
                  <a:srgbClr val="2B4A6F"/>
                </a:solidFill>
                <a:latin typeface="Meiryo"/>
                <a:ea typeface="Meiryo"/>
                <a:cs typeface="Meiryo"/>
              </a:defRPr>
            </a:pPr>
            <a:r>
              <a:rPr sz="1013" b="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みなさまが候補を選び、エンジニアはスキルシートと面談対策Q&amp;Aを確認して応募</a:t>
            </a:r>
          </a:p>
        </p:txBody>
      </p:sp>
    </p:spTree>
    <p:extLst>
      <p:ext uri="{BB962C8B-B14F-4D97-AF65-F5344CB8AC3E}">
        <p14:creationId xmlns:p14="http://schemas.microsoft.com/office/powerpoint/2010/main" val="10344815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741EA8-32C6-43C1-B815-FFD363A13902}"/>
              </a:ext>
            </a:extLst>
          </p:cNvPr>
          <p:cNvSpPr>
            <a:spLocks xmlns:a="http://schemas.openxmlformats.org/drawingml/2006/main" noGrp="1"/>
          </p:cNvSpPr>
          <p:nvPr>
            <p:ph type="title" idx="100"/>
          </p:nvPr>
        </p:nvSpPr>
        <p:spPr>
          <a:xfrm xmlns:a="http://schemas.openxmlformats.org/drawingml/2006/main">
            <a:off x="457200" y="27432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800">
                <a:solidFill>
                  <a:schemeClr val="tx1"/>
                </a:solidFill>
                <a:latin typeface="Meiryo"/>
                <a:ea typeface="Meiryo"/>
                <a:cs typeface="Meiryo"/>
              </a:rPr>
              <a:t>案件と人材をつなぎ、グループで提案機会を広げる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A285F97-2B11-4344-8701-0F191D6CCDD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754880"/>
            <a:ext cx="45720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00">
                <a:solidFill>
                  <a:srgbClr val="7A8CA3"/>
                </a:solidFill>
                <a:latin typeface="Meiryo"/>
                <a:ea typeface="Meiryo"/>
                <a:cs typeface="Meiryo"/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  <p:sp>
        <p:nvSpPr>
          <p:cNvPr id="14" name="仲間0">
            <a:extLst xmlns:a="http://schemas.openxmlformats.org/drawingml/2006/main">
              <a:ext uri="{FF2B5EF4-FFF2-40B4-BE49-F238E27FC236}">
                <a16:creationId xmlns:a16="http://schemas.microsoft.com/office/drawing/2014/main" id="{25BC46A4-292E-40CB-9DA0-1BE12C87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5" name="仲間1">
            <a:extLst xmlns:a="http://schemas.openxmlformats.org/drawingml/2006/main">
              <a:ext uri="{FF2B5EF4-FFF2-40B4-BE49-F238E27FC236}">
                <a16:creationId xmlns:a16="http://schemas.microsoft.com/office/drawing/2014/main" id="{AE89B932-6BE9-49B8-B102-E089C2F1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58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6" name="仲間2">
            <a:extLst xmlns:a="http://schemas.openxmlformats.org/drawingml/2006/main">
              <a:ext uri="{FF2B5EF4-FFF2-40B4-BE49-F238E27FC236}">
                <a16:creationId xmlns:a16="http://schemas.microsoft.com/office/drawing/2014/main" id="{6817C1F1-F7AE-4F73-9FB1-47ED838D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2400"/>
            <a:ext cx="1422400" cy="609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</a:t>
            </a:r>
          </a:p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エンジニア多数</a:t>
            </a:r>
          </a:p>
        </p:txBody>
      </p:sp>
      <p:sp>
        <p:nvSpPr>
          <p:cNvPr id="17" name="結束矢印1">
            <a:extLst xmlns:a="http://schemas.openxmlformats.org/drawingml/2006/main">
              <a:ext uri="{FF2B5EF4-FFF2-40B4-BE49-F238E27FC236}">
                <a16:creationId xmlns:a16="http://schemas.microsoft.com/office/drawing/2014/main" id="{D9ADB216-589B-41A3-A9F0-0A887CE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GP円">
            <a:extLst xmlns:a="http://schemas.openxmlformats.org/drawingml/2006/main">
              <a:ext uri="{FF2B5EF4-FFF2-40B4-BE49-F238E27FC236}">
                <a16:creationId xmlns:a16="http://schemas.microsoft.com/office/drawing/2014/main" id="{E97364F5-BAD7-45A6-BCE3-5A6C12E0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020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GP</a:t>
            </a:r>
          </a:p>
          <a:p xmlns:a="http://schemas.openxmlformats.org/drawingml/2006/main">
            <a:pPr algn="ctr">
              <a:buNone/>
            </a:pPr>
            <a:r>
              <a:rPr sz="90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（グループ）</a:t>
            </a:r>
            <a:endParaRPr sz="900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19" name="結束矢印2">
            <a:extLst xmlns:a="http://schemas.openxmlformats.org/drawingml/2006/main">
              <a:ext uri="{FF2B5EF4-FFF2-40B4-BE49-F238E27FC236}">
                <a16:creationId xmlns:a16="http://schemas.microsoft.com/office/drawing/2014/main" id="{916296A9-F836-4237-88D3-83C66659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20900"/>
            <a:ext cx="254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DB8DE"/>
          </a:solidFill>
          <a:ln xmlns:a="http://schemas.openxmlformats.org/drawingml/2006/main" w="12700">
            <a:solidFill>
              <a:srgbClr val="8DB8D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案件0">
            <a:extLst xmlns:a="http://schemas.openxmlformats.org/drawingml/2006/main">
              <a:ext uri="{FF2B5EF4-FFF2-40B4-BE49-F238E27FC236}">
                <a16:creationId xmlns:a16="http://schemas.microsoft.com/office/drawing/2014/main" id="{C0183C29-D0F3-4074-92D3-0F7CC9E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1684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1" name="案件1">
            <a:extLst xmlns:a="http://schemas.openxmlformats.org/drawingml/2006/main">
              <a:ext uri="{FF2B5EF4-FFF2-40B4-BE49-F238E27FC236}">
                <a16:creationId xmlns:a16="http://schemas.microsoft.com/office/drawing/2014/main" id="{F151A781-B5DB-47D0-97DA-EFC4D4F9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17272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2" name="案件2">
            <a:extLst xmlns:a="http://schemas.openxmlformats.org/drawingml/2006/main">
              <a:ext uri="{FF2B5EF4-FFF2-40B4-BE49-F238E27FC236}">
                <a16:creationId xmlns:a16="http://schemas.microsoft.com/office/drawing/2014/main" id="{1FFD0150-9D14-42BE-95D8-FBC2F603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2860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3" name="案件3">
            <a:extLst xmlns:a="http://schemas.openxmlformats.org/drawingml/2006/main">
              <a:ext uri="{FF2B5EF4-FFF2-40B4-BE49-F238E27FC236}">
                <a16:creationId xmlns:a16="http://schemas.microsoft.com/office/drawing/2014/main" id="{7241A846-F2A1-4786-ABA7-D8A5AFE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2844800"/>
            <a:ext cx="93980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B971"/>
          </a:solidFill>
          <a:ln xmlns:a="http://schemas.openxmlformats.org/drawingml/2006/main" w="12700">
            <a:solidFill>
              <a:srgbClr val="F5B97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案件</a:t>
            </a:r>
            <a:endParaRPr sz="1200" b="1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4" name="結束説明">
            <a:extLst xmlns:a="http://schemas.openxmlformats.org/drawingml/2006/main">
              <a:ext uri="{FF2B5EF4-FFF2-40B4-BE49-F238E27FC236}">
                <a16:creationId xmlns:a16="http://schemas.microsoft.com/office/drawing/2014/main" id="{811D1F66-5C6D-4083-B55C-CE624A59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0599"/>
            <a:ext cx="43942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みなさまの案件と人材を、グループ内で共有</a:t>
            </a:r>
            <a:endParaRPr sz="1200">
              <a:solidFill>
                <a:srgbClr val="2B4A6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26" name="利点0">
            <a:extLst xmlns:a="http://schemas.openxmlformats.org/drawingml/2006/main">
              <a:ext uri="{FF2B5EF4-FFF2-40B4-BE49-F238E27FC236}">
                <a16:creationId xmlns:a16="http://schemas.microsoft.com/office/drawing/2014/main" id="{6E10B4A9-6611-4CFC-983F-83B761B6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1684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利点0円">
            <a:extLst xmlns:a="http://schemas.openxmlformats.org/drawingml/2006/main">
              <a:ext uri="{FF2B5EF4-FFF2-40B4-BE49-F238E27FC236}">
                <a16:creationId xmlns:a16="http://schemas.microsoft.com/office/drawing/2014/main" id="{FBBD6D11-40EA-4DE9-A724-3FE4095C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1295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利点0アイコン">
            <a:extLst xmlns:a="http://schemas.openxmlformats.org/drawingml/2006/main">
              <a:ext uri="{FF2B5EF4-FFF2-40B4-BE49-F238E27FC236}">
                <a16:creationId xmlns:a16="http://schemas.microsoft.com/office/drawing/2014/main" id="{FB6171FD-19BE-4BCF-A177-0041DFBA7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55306b33649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14160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29" name="利点0文">
            <a:extLst xmlns:a="http://schemas.openxmlformats.org/drawingml/2006/main">
              <a:ext uri="{FF2B5EF4-FFF2-40B4-BE49-F238E27FC236}">
                <a16:creationId xmlns:a16="http://schemas.microsoft.com/office/drawing/2014/main" id="{1430FF79-4012-4724-AA29-0DCA28A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11683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単独では難しい案件も、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みなさまで協力して提案</a:t>
            </a:r>
          </a:p>
        </p:txBody>
      </p:sp>
      <p:sp>
        <p:nvSpPr>
          <p:cNvPr id="30" name="利点1">
            <a:extLst xmlns:a="http://schemas.openxmlformats.org/drawingml/2006/main">
              <a:ext uri="{FF2B5EF4-FFF2-40B4-BE49-F238E27FC236}">
                <a16:creationId xmlns:a16="http://schemas.microsoft.com/office/drawing/2014/main" id="{D01200A4-E1BB-400F-96F8-F54E780B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0066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利点1円">
            <a:extLst xmlns:a="http://schemas.openxmlformats.org/drawingml/2006/main">
              <a:ext uri="{FF2B5EF4-FFF2-40B4-BE49-F238E27FC236}">
                <a16:creationId xmlns:a16="http://schemas.microsoft.com/office/drawing/2014/main" id="{77231901-DBC3-4348-B52D-5156717A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133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2" name="利点1アイコン">
            <a:extLst xmlns:a="http://schemas.openxmlformats.org/drawingml/2006/main">
              <a:ext uri="{FF2B5EF4-FFF2-40B4-BE49-F238E27FC236}">
                <a16:creationId xmlns:a16="http://schemas.microsoft.com/office/drawing/2014/main" id="{BC420B4C-A410-4C51-8093-6A010AE7B0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93c2655cc4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22542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3" name="利点1文">
            <a:extLst xmlns:a="http://schemas.openxmlformats.org/drawingml/2006/main">
              <a:ext uri="{FF2B5EF4-FFF2-40B4-BE49-F238E27FC236}">
                <a16:creationId xmlns:a16="http://schemas.microsoft.com/office/drawing/2014/main" id="{F1DEE283-0F56-43C0-B91B-E9C0A310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0065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人材が不足する案件も、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仲間の人材と組んで提案</a:t>
            </a:r>
          </a:p>
        </p:txBody>
      </p:sp>
      <p:sp>
        <p:nvSpPr>
          <p:cNvPr id="34" name="利点2">
            <a:extLst xmlns:a="http://schemas.openxmlformats.org/drawingml/2006/main">
              <a:ext uri="{FF2B5EF4-FFF2-40B4-BE49-F238E27FC236}">
                <a16:creationId xmlns:a16="http://schemas.microsoft.com/office/drawing/2014/main" id="{7AD63BF7-F738-4D07-965B-1E71C8D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844800"/>
            <a:ext cx="3606800" cy="711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利点2円">
            <a:extLst xmlns:a="http://schemas.openxmlformats.org/drawingml/2006/main">
              <a:ext uri="{FF2B5EF4-FFF2-40B4-BE49-F238E27FC236}">
                <a16:creationId xmlns:a16="http://schemas.microsoft.com/office/drawing/2014/main" id="{E9F4EE69-4A8C-4C31-AAC4-18C2F1DD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400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6" name="利点2アイコン">
            <a:extLst xmlns:a="http://schemas.openxmlformats.org/drawingml/2006/main">
              <a:ext uri="{FF2B5EF4-FFF2-40B4-BE49-F238E27FC236}">
                <a16:creationId xmlns:a16="http://schemas.microsoft.com/office/drawing/2014/main" id="{2AB2FFCF-E97F-4787-95DF-2C6BE4822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f3437d0e1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3092450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37" name="利点2文">
            <a:extLst xmlns:a="http://schemas.openxmlformats.org/drawingml/2006/main">
              <a:ext uri="{FF2B5EF4-FFF2-40B4-BE49-F238E27FC236}">
                <a16:creationId xmlns:a16="http://schemas.microsoft.com/office/drawing/2014/main" id="{1B7E737C-4B3F-475B-8424-4CE3A15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2844799"/>
            <a:ext cx="279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成約実績を重ね、</a:t>
            </a:r>
          </a:p>
          <a:p xmlns:a="http://schemas.openxmlformats.org/drawingml/2006/main">
            <a:r>
              <a:rPr sz="1200" b="1">
                <a:solidFill>
                  <a:srgbClr val="2B4A6F"/>
                </a:solidFill>
                <a:latin typeface="Meiryo"/>
                <a:ea typeface="Meiryo"/>
                <a:cs typeface="Meiryo"/>
              </a:rPr>
              <a:t>グループへの信頼を育てる</a:t>
            </a:r>
          </a:p>
        </p:txBody>
      </p:sp>
      <p:sp>
        <p:nvSpPr>
          <p:cNvPr id="38" name="結束帯">
            <a:extLst xmlns:a="http://schemas.openxmlformats.org/drawingml/2006/main">
              <a:ext uri="{FF2B5EF4-FFF2-40B4-BE49-F238E27FC236}">
                <a16:creationId xmlns:a16="http://schemas.microsoft.com/office/drawing/2014/main" id="{0CDBE450-E80B-46A3-89A2-D3C43D3B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7000"/>
            <a:ext cx="8229600" cy="584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12700">
            <a:solidFill>
              <a:srgbClr val="4A7FB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0800" tIns="0" rIns="5080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まずは案件共有の方法をご相談ください</a:t>
            </a:r>
            <a:endParaRPr b="1">
              <a:solidFill>
                <a:srgbClr val="FFFFFF"/>
              </a:solidFill>
              <a:latin typeface="Meiryo"/>
              <a:ea typeface="Meiryo"/>
              <a:cs typeface="Meiryo"/>
            </a:endParaRPr>
          </a:p>
        </p:txBody>
      </p:sp>
      <p:sp>
        <p:nvSpPr>
          <p:cNvPr id="39" name="連携イラスト・背景">
            <a:extLst xmlns:a="http://schemas.openxmlformats.org/drawingml/2006/main">
              <a:ext uri="{FF2B5EF4-FFF2-40B4-BE49-F238E27FC236}">
                <a16:creationId xmlns:a16="http://schemas.microsoft.com/office/drawing/2014/main" id="{E3B1D2C4-6316-4DFD-A357-5BBA824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1181100"/>
            <a:ext cx="523875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CE9F5"/>
            </a:solidFill>
            <a:prstDash val="solid"/>
          </a:ln>
        </p:spPr>
      </p:sp>
      <p:sp>
        <p:nvSpPr>
          <p:cNvPr id="40" name="連携イラスト・人物1の頭">
            <a:extLst xmlns:a="http://schemas.openxmlformats.org/drawingml/2006/main">
              <a:ext uri="{FF2B5EF4-FFF2-40B4-BE49-F238E27FC236}">
                <a16:creationId xmlns:a16="http://schemas.microsoft.com/office/drawing/2014/main" id="{3F69E4E2-D318-4278-A6CE-8D11223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1219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連携イラスト・人物1の髪">
            <a:extLst xmlns:a="http://schemas.openxmlformats.org/drawingml/2006/main">
              <a:ext uri="{FF2B5EF4-FFF2-40B4-BE49-F238E27FC236}">
                <a16:creationId xmlns:a16="http://schemas.microsoft.com/office/drawing/2014/main" id="{7D7AE15B-8D10-4AA8-91A4-95548D64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1209675"/>
            <a:ext cx="123825" cy="66675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連携イラスト・人物1の胴">
            <a:extLst xmlns:a="http://schemas.openxmlformats.org/drawingml/2006/main">
              <a:ext uri="{FF2B5EF4-FFF2-40B4-BE49-F238E27FC236}">
                <a16:creationId xmlns:a16="http://schemas.microsoft.com/office/drawing/2014/main" id="{CCAFBA97-AEFF-452F-B75E-BA81A03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1343025"/>
            <a:ext cx="1619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F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連携イラスト・人物2の頭">
            <a:extLst xmlns:a="http://schemas.openxmlformats.org/drawingml/2006/main">
              <a:ext uri="{FF2B5EF4-FFF2-40B4-BE49-F238E27FC236}">
                <a16:creationId xmlns:a16="http://schemas.microsoft.com/office/drawing/2014/main" id="{B64646FE-4373-4C58-8C4E-7BDE0021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200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連携イラスト・人物2の髪">
            <a:extLst xmlns:a="http://schemas.openxmlformats.org/drawingml/2006/main">
              <a:ext uri="{FF2B5EF4-FFF2-40B4-BE49-F238E27FC236}">
                <a16:creationId xmlns:a16="http://schemas.microsoft.com/office/drawing/2014/main" id="{159CD601-E0D0-445F-B2E4-7BCD1EE4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7975" y="1190625"/>
            <a:ext cx="123825" cy="66675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連携イラスト・人物2の胴">
            <a:extLst xmlns:a="http://schemas.openxmlformats.org/drawingml/2006/main">
              <a:ext uri="{FF2B5EF4-FFF2-40B4-BE49-F238E27FC236}">
                <a16:creationId xmlns:a16="http://schemas.microsoft.com/office/drawing/2014/main" id="{E2878D4F-1EFB-47A6-BEA8-511373F8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8925" y="1323975"/>
            <a:ext cx="1619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連携イラスト・人物3の頭">
            <a:extLst xmlns:a="http://schemas.openxmlformats.org/drawingml/2006/main">
              <a:ext uri="{FF2B5EF4-FFF2-40B4-BE49-F238E27FC236}">
                <a16:creationId xmlns:a16="http://schemas.microsoft.com/office/drawing/2014/main" id="{83675DC6-8E0D-404B-BF7B-6A08F762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1219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連携イラスト・人物3の髪">
            <a:extLst xmlns:a="http://schemas.openxmlformats.org/drawingml/2006/main">
              <a:ext uri="{FF2B5EF4-FFF2-40B4-BE49-F238E27FC236}">
                <a16:creationId xmlns:a16="http://schemas.microsoft.com/office/drawing/2014/main" id="{DE3658B3-E85C-4A1C-A8A7-2D7CF6B5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1209675"/>
            <a:ext cx="123825" cy="66675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連携イラスト・人物3の胴">
            <a:extLst xmlns:a="http://schemas.openxmlformats.org/drawingml/2006/main">
              <a:ext uri="{FF2B5EF4-FFF2-40B4-BE49-F238E27FC236}">
                <a16:creationId xmlns:a16="http://schemas.microsoft.com/office/drawing/2014/main" id="{4BBBB703-D068-483F-953C-7075F8ED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1343025"/>
            <a:ext cx="1619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A6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634146"/>
      </p:ext>
    </p:extLst>
  </p:cSld>
</p:sld>
</file>

<file path=ppt/theme/theme1.xml><?xml version="1.0" encoding="utf-8"?>
<a:theme xmlns:a="http://schemas.openxmlformats.org/drawingml/2006/main" name="Parks Blue">
  <a:themeElements>
    <a:clrScheme name="Parks Blue">
      <a:dk1>
        <a:srgbClr val="2B4A6F"/>
      </a:dk1>
      <a:lt1>
        <a:srgbClr val="FFFFFF"/>
      </a:lt1>
      <a:dk2>
        <a:srgbClr val="3F72AF"/>
      </a:dk2>
      <a:lt2>
        <a:srgbClr val="F0F5FA"/>
      </a:lt2>
      <a:accent1>
        <a:srgbClr val="4A7FB5"/>
      </a:accent1>
      <a:accent2>
        <a:srgbClr val="F5B971"/>
      </a:accent2>
      <a:accent3>
        <a:srgbClr val="8DB8DE"/>
      </a:accent3>
      <a:accent4>
        <a:srgbClr val="DCE9F5"/>
      </a:accent4>
      <a:accent5>
        <a:srgbClr val="D9776A"/>
      </a:accent5>
      <a:accent6>
        <a:srgbClr val="7F9BB5"/>
      </a:accent6>
      <a:hlink>
        <a:srgbClr val="3F72AF"/>
      </a:hlink>
      <a:folHlink>
        <a:srgbClr val="7F9BB5"/>
      </a:folHlink>
    </a:clrScheme>
    <a:fontScheme name="Parks Blu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rks Blu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2026-10-14T05:33:50.4990000Z</dcterms:created>
  <dcterms:modified xsi:type="dcterms:W3CDTF">2026-10-14T05:33:50.4990000Z</dcterms:modified>
</coreProperties>
</file>