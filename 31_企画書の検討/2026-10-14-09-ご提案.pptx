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f48e3a45014182" /><Relationship Type="http://schemas.openxmlformats.org/officeDocument/2006/relationships/extended-properties" Target="/docProps/app.xml" Id="Rc1b7fb76342c448d" /><Relationship Type="http://schemas.openxmlformats.org/officeDocument/2006/relationships/officeDocument" Target="/ppt/presentation.xml" Id="R39fbf8f08f15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cb229c5934e14"/>
  </p:sldMasterIdLst>
  <p:notesMasterIdLst>
    <p:notesMasterId xmlns:r="http://schemas.openxmlformats.org/officeDocument/2006/relationships" r:id="Rcedaa8aa03774cac"/>
  </p:notesMasterIdLst>
  <p:sldIdLst>
    <p:sldId xmlns:r="http://schemas.openxmlformats.org/officeDocument/2006/relationships" id="256" r:id="R3b27704eac1f4056"/>
    <p:sldId xmlns:r="http://schemas.openxmlformats.org/officeDocument/2006/relationships" id="257" r:id="R910f64d2c7df42fe"/>
    <p:sldId xmlns:r="http://schemas.openxmlformats.org/officeDocument/2006/relationships" id="258" r:id="R75c3fef2351d46ef"/>
    <p:sldId xmlns:r="http://schemas.openxmlformats.org/officeDocument/2006/relationships" id="259" r:id="Rbb59bc8e3f064f61"/>
    <p:sldId xmlns:r="http://schemas.openxmlformats.org/officeDocument/2006/relationships" id="260" r:id="R5fd875bc03e64e53"/>
    <p:sldId xmlns:r="http://schemas.openxmlformats.org/officeDocument/2006/relationships" id="261" r:id="R2c326de8965542a9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e4dfefed14bd7" /><Relationship Type="http://schemas.openxmlformats.org/officeDocument/2006/relationships/slideMaster" Target="/ppt/slideMasters/slideMaster1.xml" Id="R303cb229c5934e14" /><Relationship Type="http://schemas.openxmlformats.org/officeDocument/2006/relationships/notesMaster" Target="/ppt/notesMasters/notesMaster1.xml" Id="Rcedaa8aa03774cac" /><Relationship Type="http://schemas.openxmlformats.org/officeDocument/2006/relationships/presProps" Target="/ppt/presProps.xml" Id="R4f452acf19354504" /><Relationship Type="http://schemas.openxmlformats.org/officeDocument/2006/relationships/viewProps" Target="/ppt/viewProps.xml" Id="R07e66c553a6d4c2c" /><Relationship Type="http://schemas.openxmlformats.org/officeDocument/2006/relationships/tableStyles" Target="/ppt/tableStyles.xml" Id="R9e87719f0e204ca2" /><Relationship Type="http://schemas.openxmlformats.org/officeDocument/2006/relationships/slide" Target="/ppt/slides/slide1.xml" Id="R3b27704eac1f4056" /><Relationship Type="http://schemas.openxmlformats.org/officeDocument/2006/relationships/slide" Target="/ppt/slides/slide2.xml" Id="R910f64d2c7df42fe" /><Relationship Type="http://schemas.openxmlformats.org/officeDocument/2006/relationships/slide" Target="/ppt/slides/slide3.xml" Id="R75c3fef2351d46ef" /><Relationship Type="http://schemas.openxmlformats.org/officeDocument/2006/relationships/slide" Target="/ppt/slides/slide4.xml" Id="Rbb59bc8e3f064f61" /><Relationship Type="http://schemas.openxmlformats.org/officeDocument/2006/relationships/slide" Target="/ppt/slides/slide5.xml" Id="R5fd875bc03e64e53" /><Relationship Type="http://schemas.openxmlformats.org/officeDocument/2006/relationships/slide" Target="/ppt/slides/slide6.xml" Id="R2c326de89655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9712705bc48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fc42dec6b4895" /><Relationship Type="http://schemas.openxmlformats.org/officeDocument/2006/relationships/notesMaster" Target="/ppt/notesMasters/notesMaster1.xml" Id="R54b8074fb60a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2f12c9a4d47dd" /><Relationship Type="http://schemas.openxmlformats.org/officeDocument/2006/relationships/notesMaster" Target="/ppt/notesMasters/notesMaster1.xml" Id="Rc9d21f6493c44e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00388a8624aab" /><Relationship Type="http://schemas.openxmlformats.org/officeDocument/2006/relationships/notesMaster" Target="/ppt/notesMasters/notesMaster1.xml" Id="R04ddd83d3d55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ec430ca3424566" /><Relationship Type="http://schemas.openxmlformats.org/officeDocument/2006/relationships/notesMaster" Target="/ppt/notesMasters/notesMaster1.xml" Id="Rc8bcecfd85da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69fe05f544bae" /><Relationship Type="http://schemas.openxmlformats.org/officeDocument/2006/relationships/notesMaster" Target="/ppt/notesMasters/notesMaster1.xml" Id="R3642d4a775fc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c465f5d6949ee" /><Relationship Type="http://schemas.openxmlformats.org/officeDocument/2006/relationships/notesMaster" Target="/ppt/notesMasters/notesMaster1.xml" Id="R0f98c879ace842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みなさま（ビジネスパートナー）のお悩み</a:t>
            </a:r>
            <a:r>
              <a:t>4</a:t>
            </a:r>
            <a:r>
              <a:t>つ。このシステムがまとめて解決する。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成約率が上がる理由：これまでの落ち方ごとに、このシステムの対策を並べた。グラフと</a:t>
            </a:r>
            <a:r>
              <a:t>『</a:t>
            </a:r>
            <a:r>
              <a:t>約</a:t>
            </a:r>
            <a:r>
              <a:t>2.2</a:t>
            </a:r>
            <a:r>
              <a:t>倍</a:t>
            </a:r>
            <a:r>
              <a:t>』</a:t>
            </a:r>
            <a:r>
              <a:t>は仮の数字（イメージ）。実際は記録して測る。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システムの流れ（たたき台）。準備：</a:t>
            </a:r>
            <a:r>
              <a:t>1) </a:t>
            </a:r>
            <a:r>
              <a:t>ビジネスパートナーがエンジニアの基本情報を登録 </a:t>
            </a:r>
            <a:r>
              <a:t>2) </a:t>
            </a:r>
            <a:r>
              <a:t>エンジニアが自分の情報を登録し、やり取りしながら理想のスキルシートを作る。ここでひと区切り。案件ごと：</a:t>
            </a:r>
            <a:r>
              <a:t>3) </a:t>
            </a:r>
            <a:r>
              <a:t>案件が届き、システムが条件に合うエンジニアを選んで送る（所属先にも通知） </a:t>
            </a:r>
            <a:r>
              <a:t>4) </a:t>
            </a:r>
            <a:r>
              <a:t>エンジニアが応募 </a:t>
            </a:r>
            <a:r>
              <a:t>5) </a:t>
            </a:r>
            <a:r>
              <a:t>面談の依頼が入る。このとき面談対策の</a:t>
            </a:r>
            <a:r>
              <a:t>Q&amp;A</a:t>
            </a:r>
            <a:r>
              <a:t>を提案 </a:t>
            </a:r>
            <a:r>
              <a:t>6) </a:t>
            </a:r>
            <a:r>
              <a:t>面談→合格。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8fcc841064f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143d26bd945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a623cb820461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rgbClr val="3B6E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43BB16-1DDF-4046-84DF-3AA64AF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0"/>
            <a:ext cx="31089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24865E-C06C-41B4-B74A-831C385C4851}"/>
              </a:ext>
            </a:extLst>
          </p:cNvPr>
          <p:cNvSpPr>
            <a:spLocks xmlns:a="http://schemas.openxmlformats.org/drawingml/2006/main" noGrp="1"/>
          </p:cNvSpPr>
          <p:nvPr>
            <p:ph type="title" idx="101" hasCustomPrompt="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B1229F-9B68-4E73-9E7B-2B006A5EECE2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9BAE88-7494-45AF-8A61-205A42B218B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327C5E-2A13-4AF0-A21D-14A24E8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　ご提案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45B7EE-D5A5-4EC1-8951-B9C077DA1CA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30401ea1854693" /><Relationship Type="http://schemas.openxmlformats.org/officeDocument/2006/relationships/slideLayout" Target="/ppt/slideLayouts/slideLayout1.xml" Id="R7a1bcce02f734a39" /><Relationship Type="http://schemas.openxmlformats.org/officeDocument/2006/relationships/slideLayout" Target="/ppt/slideLayouts/slideLayout2.xml" Id="Rbfab7a650b85432e" /><Relationship Type="http://schemas.openxmlformats.org/officeDocument/2006/relationships/slideLayout" Target="/ppt/slideLayouts/slideLayout3.xml" Id="Rd5695e32b5c44c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E22AE1-628F-498B-B847-C4756F45783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bcce02f734a39"/>
    <p:sldLayoutId xmlns:r="http://schemas.openxmlformats.org/officeDocument/2006/relationships" id="2147483650" r:id="Rbfab7a650b85432e"/>
    <p:sldLayoutId xmlns:r="http://schemas.openxmlformats.org/officeDocument/2006/relationships" id="2147483651" r:id="Rd5695e32b5c44c6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f480e8751487a" /><Relationship Type="http://schemas.openxmlformats.org/officeDocument/2006/relationships/image" Target="/ppt/media/image.png" Id="R44c9bcf3663d49de" /><Relationship Type="http://schemas.openxmlformats.org/officeDocument/2006/relationships/notesSlide" Target="/ppt/notesSlides/notesSlide1.xml" Id="R185b070bf027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8961e983ea4a56" /><Relationship Type="http://schemas.openxmlformats.org/officeDocument/2006/relationships/image" Target="/ppt/media/image2.png" Id="R0eeb0f3a12984dbb" /><Relationship Type="http://schemas.openxmlformats.org/officeDocument/2006/relationships/image" Target="/ppt/media/image3.png" Id="Rffdd19b2b7a44dd9" /><Relationship Type="http://schemas.openxmlformats.org/officeDocument/2006/relationships/image" Target="/ppt/media/image4.png" Id="R739a3c8bb9714f74" /><Relationship Type="http://schemas.openxmlformats.org/officeDocument/2006/relationships/notesSlide" Target="/ppt/notesSlides/notesSlide2.xml" Id="Rf26276b880f142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e480fa42f44b6c" /><Relationship Type="http://schemas.openxmlformats.org/officeDocument/2006/relationships/image" Target="/ppt/media/image5.png" Id="Rc28e7fc1e10a45d0" /><Relationship Type="http://schemas.openxmlformats.org/officeDocument/2006/relationships/image" Target="/ppt/media/image2.png" Id="Redfa5f6811a3481e" /><Relationship Type="http://schemas.openxmlformats.org/officeDocument/2006/relationships/image" Target="/ppt/media/image6.png" Id="Re971fe0c252e48e0" /><Relationship Type="http://schemas.openxmlformats.org/officeDocument/2006/relationships/image" Target="/ppt/media/image4.png" Id="R4ea0d0ebf9ee4f70" /><Relationship Type="http://schemas.openxmlformats.org/officeDocument/2006/relationships/notesSlide" Target="/ppt/notesSlides/notesSlide3.xml" Id="Rcb90165f0b5040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26c41fae3b4296" /><Relationship Type="http://schemas.openxmlformats.org/officeDocument/2006/relationships/image" Target="/ppt/media/image5.png" Id="R4fa8cac4168745e2" /><Relationship Type="http://schemas.openxmlformats.org/officeDocument/2006/relationships/image" Target="/ppt/media/image6.png" Id="Rc612066aa57b4cf6" /><Relationship Type="http://schemas.openxmlformats.org/officeDocument/2006/relationships/image" Target="/ppt/media/image7.png" Id="R9e32a6aabf0348f6" /><Relationship Type="http://schemas.openxmlformats.org/officeDocument/2006/relationships/image" Target="/ppt/media/image8.png" Id="Rc341855408e04659" /><Relationship Type="http://schemas.openxmlformats.org/officeDocument/2006/relationships/notesSlide" Target="/ppt/notesSlides/notesSlide4.xml" Id="R5555eec4d1b34d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aa2f0f095c42c9" /><Relationship Type="http://schemas.openxmlformats.org/officeDocument/2006/relationships/image" Target="/ppt/media/image2.png" Id="R92d4193ded404251" /><Relationship Type="http://schemas.openxmlformats.org/officeDocument/2006/relationships/image" Target="/ppt/media/image9.png" Id="R831c1aba19ef4172" /><Relationship Type="http://schemas.openxmlformats.org/officeDocument/2006/relationships/image" Target="/ppt/media/image6.png" Id="R5528bea6f7c446aa" /><Relationship Type="http://schemas.openxmlformats.org/officeDocument/2006/relationships/image" Target="/ppt/media/image5.png" Id="R5ad73a6f21d84280" /><Relationship Type="http://schemas.openxmlformats.org/officeDocument/2006/relationships/image" Target="/ppt/media/image10.png" Id="Rf7d33fce67ca4753" /><Relationship Type="http://schemas.openxmlformats.org/officeDocument/2006/relationships/image" Target="/ppt/media/image11.png" Id="R982e292765dd4b8b" /><Relationship Type="http://schemas.openxmlformats.org/officeDocument/2006/relationships/image" Target="/ppt/media/image12.png" Id="Rbba6067c8587434a" /><Relationship Type="http://schemas.openxmlformats.org/officeDocument/2006/relationships/image" Target="/ppt/media/image13.png" Id="Rf2fd6212056049d6" /><Relationship Type="http://schemas.openxmlformats.org/officeDocument/2006/relationships/image" Target="/ppt/media/image7.png" Id="R15cdc39e44da4cb8" /><Relationship Type="http://schemas.openxmlformats.org/officeDocument/2006/relationships/notesSlide" Target="/ppt/notesSlides/notesSlide5.xml" Id="R2b7f3bcea1604f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e64724b05a49b4" /><Relationship Type="http://schemas.openxmlformats.org/officeDocument/2006/relationships/image" Target="/ppt/media/image2.png" Id="R6cda81226ccc4c31" /><Relationship Type="http://schemas.openxmlformats.org/officeDocument/2006/relationships/image" Target="/ppt/media/image9.png" Id="R5dc2329356c84729" /><Relationship Type="http://schemas.openxmlformats.org/officeDocument/2006/relationships/image" Target="/ppt/media/image8.png" Id="R8b6403a9c30b467d" /><Relationship Type="http://schemas.openxmlformats.org/officeDocument/2006/relationships/notesSlide" Target="/ppt/notesSlides/notesSlide6.xml" Id="R020c78a0f23447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2665E87F-9269-4579-B069-F2EE3CD858E4}"/>
              </a:ext>
            </a:extLst>
          </p:cNvPr>
          <p:cNvSpPr>
            <a:spLocks xmlns:a="http://schemas.openxmlformats.org/drawingml/2006/main" noGrp="1"/>
          </p:cNvSpPr>
          <p:nvPr>
            <p:ph type="title" idx="10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B85B8-A400-4ADD-ABC1-7F97E0C4AD2F}"/>
              </a:ext>
            </a:extLst>
          </p:cNvPr>
          <p:cNvSpPr>
            <a:spLocks xmlns:a="http://schemas.openxmlformats.org/drawingml/2006/main" noGrp="1"/>
          </p:cNvSpPr>
          <p:nvPr>
            <p:ph type="body" idx="102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案件と人材の出会いを増やし、提案機会を広げる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パートナー連携プラットフォームのご提案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みなさまへ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 xmlns:a="http://schemas.openxmlformats.org/drawingml/2006/main">
              <a:ext uri="{FF2B5EF4-FFF2-40B4-BE49-F238E27FC236}">
                <a16:creationId xmlns:a16="http://schemas.microsoft.com/office/drawing/2014/main" id="{1BDBE7D6-639F-4539-933E-E458AD4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 xmlns:a="http://schemas.openxmlformats.org/drawingml/2006/main">
              <a:ext uri="{FF2B5EF4-FFF2-40B4-BE49-F238E27FC236}">
                <a16:creationId xmlns:a16="http://schemas.microsoft.com/office/drawing/2014/main" id="{10E76C82-8F3F-488D-9BA8-0010AFDD6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bcf3663d49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5355" y="2201875"/>
            <a:ext cx="716890" cy="716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58147C-DC96-43A2-A47A-AD04B877554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みなさまの提案機会を、グループ全体で広げる</a:t>
            </a:r>
            <a:endParaRPr sz="2800"/>
          </a:p>
        </p:txBody>
      </p:sp>
      <p:sp>
        <p:nvSpPr>
          <p:cNvPr id="3" name="想い1円">
            <a:extLst xmlns:a="http://schemas.openxmlformats.org/drawingml/2006/main">
              <a:ext uri="{FF2B5EF4-FFF2-40B4-BE49-F238E27FC236}">
                <a16:creationId xmlns:a16="http://schemas.microsoft.com/office/drawing/2014/main" id="{484D0F79-3B0F-4FAC-9640-FFFD3F4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 xmlns:a="http://schemas.openxmlformats.org/drawingml/2006/main">
              <a:ext uri="{FF2B5EF4-FFF2-40B4-BE49-F238E27FC236}">
                <a16:creationId xmlns:a16="http://schemas.microsoft.com/office/drawing/2014/main" id="{5F5A761C-7132-4886-94E4-B2D9CBCBE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b0f3a1298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137525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5" name="想い文1">
            <a:extLst xmlns:a="http://schemas.openxmlformats.org/drawingml/2006/main">
              <a:ext uri="{FF2B5EF4-FFF2-40B4-BE49-F238E27FC236}">
                <a16:creationId xmlns:a16="http://schemas.microsoft.com/office/drawing/2014/main" id="{78108E5A-854F-4982-9E87-359C098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3444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案件に合う人材を、グループ内から探せる</a:t>
            </a:r>
            <a:endParaRPr sz="1800"/>
          </a:p>
        </p:txBody>
      </p:sp>
      <p:sp>
        <p:nvSpPr>
          <p:cNvPr id="6" name="想い2円">
            <a:extLst xmlns:a="http://schemas.openxmlformats.org/drawingml/2006/main">
              <a:ext uri="{FF2B5EF4-FFF2-40B4-BE49-F238E27FC236}">
                <a16:creationId xmlns:a16="http://schemas.microsoft.com/office/drawing/2014/main" id="{AB663356-3F83-4398-B587-55E0EE3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 xmlns:a="http://schemas.openxmlformats.org/drawingml/2006/main">
              <a:ext uri="{FF2B5EF4-FFF2-40B4-BE49-F238E27FC236}">
                <a16:creationId xmlns:a16="http://schemas.microsoft.com/office/drawing/2014/main" id="{C26DEE49-40C9-470D-9032-5C7BD208A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d19b2b7a4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224393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8" name="想い文2">
            <a:extLst xmlns:a="http://schemas.openxmlformats.org/drawingml/2006/main">
              <a:ext uri="{FF2B5EF4-FFF2-40B4-BE49-F238E27FC236}">
                <a16:creationId xmlns:a16="http://schemas.microsoft.com/office/drawing/2014/main" id="{1DFB9ADF-8D92-4DA6-A6E8-CF46918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0312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スキルシートと面談の準備を支援できる</a:t>
            </a:r>
            <a:endParaRPr sz="1800"/>
          </a:p>
        </p:txBody>
      </p:sp>
      <p:sp>
        <p:nvSpPr>
          <p:cNvPr id="9" name="想い3円">
            <a:extLst xmlns:a="http://schemas.openxmlformats.org/drawingml/2006/main">
              <a:ext uri="{FF2B5EF4-FFF2-40B4-BE49-F238E27FC236}">
                <a16:creationId xmlns:a16="http://schemas.microsoft.com/office/drawing/2014/main" id="{62E83D0D-281B-4F3B-8F6D-1F0B9D2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 xmlns:a="http://schemas.openxmlformats.org/drawingml/2006/main">
              <a:ext uri="{FF2B5EF4-FFF2-40B4-BE49-F238E27FC236}">
                <a16:creationId xmlns:a16="http://schemas.microsoft.com/office/drawing/2014/main" id="{3DD3764A-FB03-452D-838C-E5B4982C2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a3c8bb9714f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311261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11" name="想い文3">
            <a:extLst xmlns:a="http://schemas.openxmlformats.org/drawingml/2006/main">
              <a:ext uri="{FF2B5EF4-FFF2-40B4-BE49-F238E27FC236}">
                <a16:creationId xmlns:a16="http://schemas.microsoft.com/office/drawing/2014/main" id="{4F3E8182-10BA-4495-9AFC-F32A977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応募結果を記録し、次の提案に活かせる</a:t>
            </a:r>
            <a:endParaRPr sz="1800"/>
          </a:p>
        </p:txBody>
      </p:sp>
      <p:sp>
        <p:nvSpPr>
          <p:cNvPr id="12" name="経験帯">
            <a:extLst xmlns:a="http://schemas.openxmlformats.org/drawingml/2006/main">
              <a:ext uri="{FF2B5EF4-FFF2-40B4-BE49-F238E27FC236}">
                <a16:creationId xmlns:a16="http://schemas.microsoft.com/office/drawing/2014/main" id="{95EEB37B-8FCA-4CCB-878F-E7915C9D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 xmlns:a="http://schemas.openxmlformats.org/drawingml/2006/main">
              <a:ext uri="{FF2B5EF4-FFF2-40B4-BE49-F238E27FC236}">
                <a16:creationId xmlns:a16="http://schemas.microsoft.com/office/drawing/2014/main" id="{97AAE8E1-DDA7-446A-A568-22A39FC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エンジニアとして15年以上の経験をもとに構想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2C085C8-E587-4DF8-B25A-06207EC2A7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1438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545AB9-3814-4388-93B0-B71BF608F89D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みなさまが直面する4つの機会損失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C95E26-366E-4617-A71B-FA18106AC6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悩み0カード">
            <a:extLst xmlns:a="http://schemas.openxmlformats.org/drawingml/2006/main">
              <a:ext uri="{FF2B5EF4-FFF2-40B4-BE49-F238E27FC236}">
                <a16:creationId xmlns:a16="http://schemas.microsoft.com/office/drawing/2014/main" id="{AB880AF1-7071-48A5-A7F2-8E0B8DA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悩み0円">
            <a:extLst xmlns:a="http://schemas.openxmlformats.org/drawingml/2006/main">
              <a:ext uri="{FF2B5EF4-FFF2-40B4-BE49-F238E27FC236}">
                <a16:creationId xmlns:a16="http://schemas.microsoft.com/office/drawing/2014/main" id="{AEBF90E4-2CE1-443B-B605-121090E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悩み0アイコン">
            <a:extLst xmlns:a="http://schemas.openxmlformats.org/drawingml/2006/main">
              <a:ext uri="{FF2B5EF4-FFF2-40B4-BE49-F238E27FC236}">
                <a16:creationId xmlns:a16="http://schemas.microsoft.com/office/drawing/2014/main" id="{9EE781F1-6233-47B2-B200-D2D8C65EC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e7fc1e10a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悩み0題">
            <a:extLst xmlns:a="http://schemas.openxmlformats.org/drawingml/2006/main">
              <a:ext uri="{FF2B5EF4-FFF2-40B4-BE49-F238E27FC236}">
                <a16:creationId xmlns:a16="http://schemas.microsoft.com/office/drawing/2014/main" id="{3A132DE8-DD81-492B-A246-37B8F5ED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案件の選択肢が少ない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悩み0文">
            <a:extLst xmlns:a="http://schemas.openxmlformats.org/drawingml/2006/main">
              <a:ext uri="{FF2B5EF4-FFF2-40B4-BE49-F238E27FC236}">
                <a16:creationId xmlns:a16="http://schemas.microsoft.com/office/drawing/2014/main" id="{F7D43283-5920-4295-9179-D88C5DC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案件は個別に待つしかなく、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合う案件に出会いにくい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悩み1カード">
            <a:extLst xmlns:a="http://schemas.openxmlformats.org/drawingml/2006/main">
              <a:ext uri="{FF2B5EF4-FFF2-40B4-BE49-F238E27FC236}">
                <a16:creationId xmlns:a16="http://schemas.microsoft.com/office/drawing/2014/main" id="{4E837392-105A-46F2-B247-62F73FB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悩み1円">
            <a:extLst xmlns:a="http://schemas.openxmlformats.org/drawingml/2006/main">
              <a:ext uri="{FF2B5EF4-FFF2-40B4-BE49-F238E27FC236}">
                <a16:creationId xmlns:a16="http://schemas.microsoft.com/office/drawing/2014/main" id="{548D8F87-2392-4563-B855-ABD2723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悩み1アイコン">
            <a:extLst xmlns:a="http://schemas.openxmlformats.org/drawingml/2006/main">
              <a:ext uri="{FF2B5EF4-FFF2-40B4-BE49-F238E27FC236}">
                <a16:creationId xmlns:a16="http://schemas.microsoft.com/office/drawing/2014/main" id="{B9FC9C47-FDF1-4968-95CF-28C60B080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a5f6811a3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悩み1題">
            <a:extLst xmlns:a="http://schemas.openxmlformats.org/drawingml/2006/main">
              <a:ext uri="{FF2B5EF4-FFF2-40B4-BE49-F238E27FC236}">
                <a16:creationId xmlns:a16="http://schemas.microsoft.com/office/drawing/2014/main" id="{6CC98E58-15DE-4314-92B7-9F238B8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人が足りず、取りこぼす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悩み1文">
            <a:extLst xmlns:a="http://schemas.openxmlformats.org/drawingml/2006/main">
              <a:ext uri="{FF2B5EF4-FFF2-40B4-BE49-F238E27FC236}">
                <a16:creationId xmlns:a16="http://schemas.microsoft.com/office/drawing/2014/main" id="{A1F7574C-A5F9-4C93-94F1-D1A7CA9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せっかくの案件に、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出せるエンジニアがいない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悩み2カード">
            <a:extLst xmlns:a="http://schemas.openxmlformats.org/drawingml/2006/main">
              <a:ext uri="{FF2B5EF4-FFF2-40B4-BE49-F238E27FC236}">
                <a16:creationId xmlns:a16="http://schemas.microsoft.com/office/drawing/2014/main" id="{140454E9-B2E1-48D8-8E97-2DD54F2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悩み2円">
            <a:extLst xmlns:a="http://schemas.openxmlformats.org/drawingml/2006/main">
              <a:ext uri="{FF2B5EF4-FFF2-40B4-BE49-F238E27FC236}">
                <a16:creationId xmlns:a16="http://schemas.microsoft.com/office/drawing/2014/main" id="{382C0F04-4D18-478E-9B45-9A78951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7" name="悩み2アイコン">
            <a:extLst xmlns:a="http://schemas.openxmlformats.org/drawingml/2006/main">
              <a:ext uri="{FF2B5EF4-FFF2-40B4-BE49-F238E27FC236}">
                <a16:creationId xmlns:a16="http://schemas.microsoft.com/office/drawing/2014/main" id="{95465AD6-A2CF-49BF-876B-A5D5D7F50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1fe0c252e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悩み2題">
            <a:extLst xmlns:a="http://schemas.openxmlformats.org/drawingml/2006/main">
              <a:ext uri="{FF2B5EF4-FFF2-40B4-BE49-F238E27FC236}">
                <a16:creationId xmlns:a16="http://schemas.microsoft.com/office/drawing/2014/main" id="{19434B8F-674A-4E08-8E33-A4291CA7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書類・面談で落ちる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9" name="悩み2文">
            <a:extLst xmlns:a="http://schemas.openxmlformats.org/drawingml/2006/main">
              <a:ext uri="{FF2B5EF4-FFF2-40B4-BE49-F238E27FC236}">
                <a16:creationId xmlns:a16="http://schemas.microsoft.com/office/drawing/2014/main" id="{3008BC41-F0AE-4C1C-B4C6-E39AACD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スキルシートや受け答えの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準備が追いつかない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0" name="悩み3カード">
            <a:extLst xmlns:a="http://schemas.openxmlformats.org/drawingml/2006/main">
              <a:ext uri="{FF2B5EF4-FFF2-40B4-BE49-F238E27FC236}">
                <a16:creationId xmlns:a16="http://schemas.microsoft.com/office/drawing/2014/main" id="{87060EAA-1FB1-4345-AEC3-7B8FC5A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悩み3円">
            <a:extLst xmlns:a="http://schemas.openxmlformats.org/drawingml/2006/main">
              <a:ext uri="{FF2B5EF4-FFF2-40B4-BE49-F238E27FC236}">
                <a16:creationId xmlns:a16="http://schemas.microsoft.com/office/drawing/2014/main" id="{D1198070-20D7-479C-8943-7A78019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悩み3アイコン">
            <a:extLst xmlns:a="http://schemas.openxmlformats.org/drawingml/2006/main">
              <a:ext uri="{FF2B5EF4-FFF2-40B4-BE49-F238E27FC236}">
                <a16:creationId xmlns:a16="http://schemas.microsoft.com/office/drawing/2014/main" id="{B619E546-096E-40E5-A03C-A3489F431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0d0ebf9ee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悩み3題">
            <a:extLst xmlns:a="http://schemas.openxmlformats.org/drawingml/2006/main">
              <a:ext uri="{FF2B5EF4-FFF2-40B4-BE49-F238E27FC236}">
                <a16:creationId xmlns:a16="http://schemas.microsoft.com/office/drawing/2014/main" id="{8CE6F708-06AE-40E3-BAE1-635226F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ノウハウがたまらない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4" name="悩み3文">
            <a:extLst xmlns:a="http://schemas.openxmlformats.org/drawingml/2006/main">
              <a:ext uri="{FF2B5EF4-FFF2-40B4-BE49-F238E27FC236}">
                <a16:creationId xmlns:a16="http://schemas.microsoft.com/office/drawing/2014/main" id="{A22147E1-F2E6-43E0-AF0B-A235105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落ちた理由も、通った型も、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社内に残らない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5" name="解決帯">
            <a:extLst xmlns:a="http://schemas.openxmlformats.org/drawingml/2006/main">
              <a:ext uri="{FF2B5EF4-FFF2-40B4-BE49-F238E27FC236}">
                <a16:creationId xmlns:a16="http://schemas.microsoft.com/office/drawing/2014/main" id="{667F6612-73B3-466A-97A0-6CC7897C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案件・人材・応募支援をつなぐ仕組みをご提案します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5829284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01EE16-739E-4555-BF6A-D1D7781E683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応募から成約までの準備と効果検証を支援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D05FC1-8A33-420C-80FC-3E7F2053C49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14" name="グラフ注記">
            <a:extLst xmlns:a="http://schemas.openxmlformats.org/drawingml/2006/main">
              <a:ext uri="{FF2B5EF4-FFF2-40B4-BE49-F238E27FC236}">
                <a16:creationId xmlns:a16="http://schemas.microsoft.com/office/drawing/2014/main" id="{70FF0310-5289-435C-95D2-E2BF688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3000"/>
            <a:ext cx="3251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導入前後の実績を比較し、効果を確認します</a:t>
            </a:r>
            <a:endParaRPr sz="10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6" name="見出し今">
            <a:extLst xmlns:a="http://schemas.openxmlformats.org/drawingml/2006/main">
              <a:ext uri="{FF2B5EF4-FFF2-40B4-BE49-F238E27FC236}">
                <a16:creationId xmlns:a16="http://schemas.microsoft.com/office/drawing/2014/main" id="{BB023A56-10B7-4637-8576-3CB7DCD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2200"/>
            <a:ext cx="177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E6E6E"/>
                </a:solidFill>
                <a:latin typeface="Meiryo"/>
                <a:ea typeface="Meiryo"/>
                <a:cs typeface="Meiryo"/>
              </a:rPr>
              <a:t>これまで</a:t>
            </a:r>
            <a:endParaRPr sz="1100" b="1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7" name="見出し後">
            <a:extLst xmlns:a="http://schemas.openxmlformats.org/drawingml/2006/main">
              <a:ext uri="{FF2B5EF4-FFF2-40B4-BE49-F238E27FC236}">
                <a16:creationId xmlns:a16="http://schemas.microsoft.com/office/drawing/2014/main" id="{30105586-D882-43D6-B605-63984EC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92200"/>
            <a:ext cx="274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このシステムで</a:t>
            </a:r>
            <a:endParaRPr sz="11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今0">
            <a:extLst xmlns:a="http://schemas.openxmlformats.org/drawingml/2006/main">
              <a:ext uri="{FF2B5EF4-FFF2-40B4-BE49-F238E27FC236}">
                <a16:creationId xmlns:a16="http://schemas.microsoft.com/office/drawing/2014/main" id="{297359FC-47BE-4700-AB42-982DEEA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462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合わない人を出す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改善矢印0">
            <a:extLst xmlns:a="http://schemas.openxmlformats.org/drawingml/2006/main">
              <a:ext uri="{FF2B5EF4-FFF2-40B4-BE49-F238E27FC236}">
                <a16:creationId xmlns:a16="http://schemas.microsoft.com/office/drawing/2014/main" id="{F1238645-45B8-49DF-9B1E-F3CEAEA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5113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後0">
            <a:extLst xmlns:a="http://schemas.openxmlformats.org/drawingml/2006/main">
              <a:ext uri="{FF2B5EF4-FFF2-40B4-BE49-F238E27FC236}">
                <a16:creationId xmlns:a16="http://schemas.microsoft.com/office/drawing/2014/main" id="{75EEF49C-08CB-4069-A362-B247486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3462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後0円">
            <a:extLst xmlns:a="http://schemas.openxmlformats.org/drawingml/2006/main">
              <a:ext uri="{FF2B5EF4-FFF2-40B4-BE49-F238E27FC236}">
                <a16:creationId xmlns:a16="http://schemas.microsoft.com/office/drawing/2014/main" id="{FA36D012-11D6-4E79-BF35-1F21E84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43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3" name="後0アイコン">
            <a:extLst xmlns:a="http://schemas.openxmlformats.org/drawingml/2006/main">
              <a:ext uri="{FF2B5EF4-FFF2-40B4-BE49-F238E27FC236}">
                <a16:creationId xmlns:a16="http://schemas.microsoft.com/office/drawing/2014/main" id="{9BD32E2C-1A2C-4E0C-A49B-4D9BBA8E8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8cac4168745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367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22" name="後0文">
            <a:extLst xmlns:a="http://schemas.openxmlformats.org/drawingml/2006/main">
              <a:ext uri="{FF2B5EF4-FFF2-40B4-BE49-F238E27FC236}">
                <a16:creationId xmlns:a16="http://schemas.microsoft.com/office/drawing/2014/main" id="{D104406B-CAAB-48E3-8E52-C29DFFF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461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いちばん合う人を選ぶ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今1">
            <a:extLst xmlns:a="http://schemas.openxmlformats.org/drawingml/2006/main">
              <a:ext uri="{FF2B5EF4-FFF2-40B4-BE49-F238E27FC236}">
                <a16:creationId xmlns:a16="http://schemas.microsoft.com/office/drawing/2014/main" id="{05F9261A-7B28-4514-A221-B4A68F6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66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書類で落ちる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改善矢印1">
            <a:extLst xmlns:a="http://schemas.openxmlformats.org/drawingml/2006/main">
              <a:ext uri="{FF2B5EF4-FFF2-40B4-BE49-F238E27FC236}">
                <a16:creationId xmlns:a16="http://schemas.microsoft.com/office/drawing/2014/main" id="{1354B2EA-7A42-4DE9-9A0F-D028972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171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後1">
            <a:extLst xmlns:a="http://schemas.openxmlformats.org/drawingml/2006/main">
              <a:ext uri="{FF2B5EF4-FFF2-40B4-BE49-F238E27FC236}">
                <a16:creationId xmlns:a16="http://schemas.microsoft.com/office/drawing/2014/main" id="{F2513FAB-F60A-4294-9F71-D318698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0066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後1円">
            <a:extLst xmlns:a="http://schemas.openxmlformats.org/drawingml/2006/main">
              <a:ext uri="{FF2B5EF4-FFF2-40B4-BE49-F238E27FC236}">
                <a16:creationId xmlns:a16="http://schemas.microsoft.com/office/drawing/2014/main" id="{170D8CA6-34BE-4C7D-8C61-9847874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後1アイコン">
            <a:extLst xmlns:a="http://schemas.openxmlformats.org/drawingml/2006/main">
              <a:ext uri="{FF2B5EF4-FFF2-40B4-BE49-F238E27FC236}">
                <a16:creationId xmlns:a16="http://schemas.microsoft.com/office/drawing/2014/main" id="{4C0BFBAB-9F03-4CBC-95A4-7D8E13D61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2066aa57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197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0" name="後1文">
            <a:extLst xmlns:a="http://schemas.openxmlformats.org/drawingml/2006/main">
              <a:ext uri="{FF2B5EF4-FFF2-40B4-BE49-F238E27FC236}">
                <a16:creationId xmlns:a16="http://schemas.microsoft.com/office/drawing/2014/main" id="{5864A1DD-9C12-4F22-848E-80A3BE6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65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理想のスキルシートを作る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1" name="今2">
            <a:extLst xmlns:a="http://schemas.openxmlformats.org/drawingml/2006/main">
              <a:ext uri="{FF2B5EF4-FFF2-40B4-BE49-F238E27FC236}">
                <a16:creationId xmlns:a16="http://schemas.microsoft.com/office/drawing/2014/main" id="{D5E0CBCA-504A-4F2A-864D-439BEBC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面談で落ちる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2" name="改善矢印2">
            <a:extLst xmlns:a="http://schemas.openxmlformats.org/drawingml/2006/main">
              <a:ext uri="{FF2B5EF4-FFF2-40B4-BE49-F238E27FC236}">
                <a16:creationId xmlns:a16="http://schemas.microsoft.com/office/drawing/2014/main" id="{8A3DF1A3-7859-48AD-85F9-831030A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8321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後2">
            <a:extLst xmlns:a="http://schemas.openxmlformats.org/drawingml/2006/main">
              <a:ext uri="{FF2B5EF4-FFF2-40B4-BE49-F238E27FC236}">
                <a16:creationId xmlns:a16="http://schemas.microsoft.com/office/drawing/2014/main" id="{510AAF63-57E2-4FFF-B85A-5AC1229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670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後2円">
            <a:extLst xmlns:a="http://schemas.openxmlformats.org/drawingml/2006/main">
              <a:ext uri="{FF2B5EF4-FFF2-40B4-BE49-F238E27FC236}">
                <a16:creationId xmlns:a16="http://schemas.microsoft.com/office/drawing/2014/main" id="{A0836E6A-7118-46EF-B309-8CE5FF7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755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5" name="後2アイコン">
            <a:extLst xmlns:a="http://schemas.openxmlformats.org/drawingml/2006/main">
              <a:ext uri="{FF2B5EF4-FFF2-40B4-BE49-F238E27FC236}">
                <a16:creationId xmlns:a16="http://schemas.microsoft.com/office/drawing/2014/main" id="{0F047D83-BBFC-45C2-A326-51F5C9FC5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2a6aabf03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8575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6" name="後2文">
            <a:extLst xmlns:a="http://schemas.openxmlformats.org/drawingml/2006/main">
              <a:ext uri="{FF2B5EF4-FFF2-40B4-BE49-F238E27FC236}">
                <a16:creationId xmlns:a16="http://schemas.microsoft.com/office/drawing/2014/main" id="{1DAA7AA3-7A46-4F6E-AE43-9F36127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69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面談対策の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Q&amp;A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で準備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7" name="今3">
            <a:extLst xmlns:a="http://schemas.openxmlformats.org/drawingml/2006/main">
              <a:ext uri="{FF2B5EF4-FFF2-40B4-BE49-F238E27FC236}">
                <a16:creationId xmlns:a16="http://schemas.microsoft.com/office/drawing/2014/main" id="{7B551BC5-6F03-4F3F-93BD-08E54B7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74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落ちた理由が残らない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改善矢印3">
            <a:extLst xmlns:a="http://schemas.openxmlformats.org/drawingml/2006/main">
              <a:ext uri="{FF2B5EF4-FFF2-40B4-BE49-F238E27FC236}">
                <a16:creationId xmlns:a16="http://schemas.microsoft.com/office/drawing/2014/main" id="{30B71788-0862-49F4-890F-7EF92B4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492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後3">
            <a:extLst xmlns:a="http://schemas.openxmlformats.org/drawingml/2006/main">
              <a:ext uri="{FF2B5EF4-FFF2-40B4-BE49-F238E27FC236}">
                <a16:creationId xmlns:a16="http://schemas.microsoft.com/office/drawing/2014/main" id="{08FD2501-E7A1-4AC8-A510-FED8634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274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後3円">
            <a:extLst xmlns:a="http://schemas.openxmlformats.org/drawingml/2006/main">
              <a:ext uri="{FF2B5EF4-FFF2-40B4-BE49-F238E27FC236}">
                <a16:creationId xmlns:a16="http://schemas.microsoft.com/office/drawing/2014/main" id="{93E0FD99-AEA2-4189-ABDE-B5B9881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1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1" name="後3アイコン">
            <a:extLst xmlns:a="http://schemas.openxmlformats.org/drawingml/2006/main">
              <a:ext uri="{FF2B5EF4-FFF2-40B4-BE49-F238E27FC236}">
                <a16:creationId xmlns:a16="http://schemas.microsoft.com/office/drawing/2014/main" id="{316B2AD2-5287-4371-BFD1-E7D6C0A0C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1855408e0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5179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42" name="後3文">
            <a:extLst xmlns:a="http://schemas.openxmlformats.org/drawingml/2006/main">
              <a:ext uri="{FF2B5EF4-FFF2-40B4-BE49-F238E27FC236}">
                <a16:creationId xmlns:a16="http://schemas.microsoft.com/office/drawing/2014/main" id="{11986946-729A-48C8-B0AD-99EC3F8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73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結果をためて次に活かす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3" name="決まる帯">
            <a:extLst xmlns:a="http://schemas.openxmlformats.org/drawingml/2006/main">
              <a:ext uri="{FF2B5EF4-FFF2-40B4-BE49-F238E27FC236}">
                <a16:creationId xmlns:a16="http://schemas.microsoft.com/office/drawing/2014/main" id="{F3FB01FB-13B2-4115-9E45-A6CC978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8229600" cy="508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応募数・面談数・成約数を記録して検証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成約率ラベル">
            <a:extLst xmlns:a="http://schemas.openxmlformats.org/drawingml/2006/main">
              <a:ext uri="{FF2B5EF4-FFF2-40B4-BE49-F238E27FC236}">
                <a16:creationId xmlns:a16="http://schemas.microsoft.com/office/drawing/2014/main" id="{D9000E45-0CD3-4965-B6D6-C6D9559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25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効果測定の指標</a:t>
            </a:r>
            <a:endParaRPr sz="12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成約率数字">
            <a:extLst xmlns:a="http://schemas.openxmlformats.org/drawingml/2006/main">
              <a:ext uri="{FF2B5EF4-FFF2-40B4-BE49-F238E27FC236}">
                <a16:creationId xmlns:a16="http://schemas.microsoft.com/office/drawing/2014/main" id="{318B5CE5-D92A-4153-8430-411D47C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5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成約までを計測</a:t>
            </a:r>
            <a:endParaRPr sz="14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4" name="測定項目">
            <a:extLst xmlns:a="http://schemas.openxmlformats.org/drawingml/2006/main">
              <a:ext uri="{FF2B5EF4-FFF2-40B4-BE49-F238E27FC236}">
                <a16:creationId xmlns:a16="http://schemas.microsoft.com/office/drawing/2014/main" id="{B453735C-B472-4CB2-86A5-264C3CC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5116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応募数・応募率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面談設定数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成約数・成約率</a:t>
            </a:r>
          </a:p>
        </p:txBody>
      </p:sp>
    </p:spTree>
    <p:extLst>
      <p:ext uri="{BB962C8B-B14F-4D97-AF65-F5344CB8AC3E}">
        <p14:creationId xmlns:p14="http://schemas.microsoft.com/office/powerpoint/2010/main" val="2081789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50A9ED-1A23-48EC-918B-5D48316DFBD7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登録から応募・面談までの流れ</a:t>
            </a:r>
            <a:endParaRPr sz="28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E8792DE-B8C9-48FE-ADC8-3F1099C89B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36" name="準備ラベル">
            <a:extLst xmlns:a="http://schemas.openxmlformats.org/drawingml/2006/main">
              <a:ext uri="{FF2B5EF4-FFF2-40B4-BE49-F238E27FC236}">
                <a16:creationId xmlns:a16="http://schemas.microsoft.com/office/drawing/2014/main" id="{DB04D438-9031-4C9E-B729-6BF9503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382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400" tIns="0" rIns="254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準備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最初に</a:t>
            </a:r>
            <a:r>
              <a:rPr sz="10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  <a:r>
              <a:rPr sz="10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回</a:t>
            </a:r>
            <a:endParaRPr sz="10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7" name="手順1カード">
            <a:extLst xmlns:a="http://schemas.openxmlformats.org/drawingml/2006/main">
              <a:ext uri="{FF2B5EF4-FFF2-40B4-BE49-F238E27FC236}">
                <a16:creationId xmlns:a16="http://schemas.microsoft.com/office/drawing/2014/main" id="{ADD52F81-9B35-4C1E-9D4D-5841290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143000"/>
            <a:ext cx="24638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手順1円">
            <a:extLst xmlns:a="http://schemas.openxmlformats.org/drawingml/2006/main">
              <a:ext uri="{FF2B5EF4-FFF2-40B4-BE49-F238E27FC236}">
                <a16:creationId xmlns:a16="http://schemas.microsoft.com/office/drawing/2014/main" id="{008E9474-1E32-4246-9841-0C984D2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0" y="1320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9" name="手順1アイコン">
            <a:extLst xmlns:a="http://schemas.openxmlformats.org/drawingml/2006/main">
              <a:ext uri="{FF2B5EF4-FFF2-40B4-BE49-F238E27FC236}">
                <a16:creationId xmlns:a16="http://schemas.microsoft.com/office/drawing/2014/main" id="{E179DE12-A599-4DEF-A3A1-AA3AD42D5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4193ded40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9100" y="1460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0" name="手順1番号">
            <a:extLst xmlns:a="http://schemas.openxmlformats.org/drawingml/2006/main">
              <a:ext uri="{FF2B5EF4-FFF2-40B4-BE49-F238E27FC236}">
                <a16:creationId xmlns:a16="http://schemas.microsoft.com/office/drawing/2014/main" id="{96AC6917-9083-4D0A-89EE-29A90D75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124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1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1" name="手順1題">
            <a:extLst xmlns:a="http://schemas.openxmlformats.org/drawingml/2006/main">
              <a:ext uri="{FF2B5EF4-FFF2-40B4-BE49-F238E27FC236}">
                <a16:creationId xmlns:a16="http://schemas.microsoft.com/office/drawing/2014/main" id="{635325A1-53D3-47E9-83DF-F80C7AF5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00" y="1295399"/>
            <a:ext cx="16002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みなさまが登録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2" name="手順1文">
            <a:extLst xmlns:a="http://schemas.openxmlformats.org/drawingml/2006/main">
              <a:ext uri="{FF2B5EF4-FFF2-40B4-BE49-F238E27FC236}">
                <a16:creationId xmlns:a16="http://schemas.microsoft.com/office/drawing/2014/main" id="{E01A2CC2-0D75-4047-AD13-1C8B19F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0" y="1955799"/>
            <a:ext cx="2159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エンジニア情報を登録</a:t>
            </a:r>
            <a:endParaRPr sz="11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3" name="矢印1">
            <a:extLst xmlns:a="http://schemas.openxmlformats.org/drawingml/2006/main">
              <a:ext uri="{FF2B5EF4-FFF2-40B4-BE49-F238E27FC236}">
                <a16:creationId xmlns:a16="http://schemas.microsoft.com/office/drawing/2014/main" id="{AE4ED297-1F63-4517-B427-8764C74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663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手順2カード">
            <a:extLst xmlns:a="http://schemas.openxmlformats.org/drawingml/2006/main">
              <a:ext uri="{FF2B5EF4-FFF2-40B4-BE49-F238E27FC236}">
                <a16:creationId xmlns:a16="http://schemas.microsoft.com/office/drawing/2014/main" id="{83F9446B-BD59-4FBD-9888-B8BA5E5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143000"/>
            <a:ext cx="24638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手順2円">
            <a:extLst xmlns:a="http://schemas.openxmlformats.org/drawingml/2006/main">
              <a:ext uri="{FF2B5EF4-FFF2-40B4-BE49-F238E27FC236}">
                <a16:creationId xmlns:a16="http://schemas.microsoft.com/office/drawing/2014/main" id="{BC5EFF15-8DF4-4F2A-BDF5-808C8B2C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320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6" name="手順2アイコン">
            <a:extLst xmlns:a="http://schemas.openxmlformats.org/drawingml/2006/main">
              <a:ext uri="{FF2B5EF4-FFF2-40B4-BE49-F238E27FC236}">
                <a16:creationId xmlns:a16="http://schemas.microsoft.com/office/drawing/2014/main" id="{3779EF85-95A0-4D72-BB75-A89F365A1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c1aba19ef4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500" y="1460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47" name="手順2番号">
            <a:extLst xmlns:a="http://schemas.openxmlformats.org/drawingml/2006/main">
              <a:ext uri="{FF2B5EF4-FFF2-40B4-BE49-F238E27FC236}">
                <a16:creationId xmlns:a16="http://schemas.microsoft.com/office/drawing/2014/main" id="{2A5BE95B-05DE-4839-A534-BC5485EA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24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2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8" name="手順2題">
            <a:extLst xmlns:a="http://schemas.openxmlformats.org/drawingml/2006/main">
              <a:ext uri="{FF2B5EF4-FFF2-40B4-BE49-F238E27FC236}">
                <a16:creationId xmlns:a16="http://schemas.microsoft.com/office/drawing/2014/main" id="{9354046A-4761-4B88-9FFF-FFB8272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1295399"/>
            <a:ext cx="16002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エンジニアが登録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9" name="手順2文">
            <a:extLst xmlns:a="http://schemas.openxmlformats.org/drawingml/2006/main">
              <a:ext uri="{FF2B5EF4-FFF2-40B4-BE49-F238E27FC236}">
                <a16:creationId xmlns:a16="http://schemas.microsoft.com/office/drawing/2014/main" id="{08C58979-EDDC-43FB-8A74-CC4FE5D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955799"/>
            <a:ext cx="2159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経歴・スキルを登録し、</a:t>
            </a:r>
          </a:p>
          <a:p xmlns:a="http://schemas.openxmlformats.org/drawingml/2006/main"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やり取りを経てシートを整える</a:t>
            </a:r>
          </a:p>
        </p:txBody>
      </p:sp>
      <p:sp>
        <p:nvSpPr>
          <p:cNvPr id="50" name="矢印2">
            <a:extLst xmlns:a="http://schemas.openxmlformats.org/drawingml/2006/main">
              <a:ext uri="{FF2B5EF4-FFF2-40B4-BE49-F238E27FC236}">
                <a16:creationId xmlns:a16="http://schemas.microsoft.com/office/drawing/2014/main" id="{86A21735-C16E-4BA1-93F7-0B2CE203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1663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成果カード">
            <a:extLst xmlns:a="http://schemas.openxmlformats.org/drawingml/2006/main">
              <a:ext uri="{FF2B5EF4-FFF2-40B4-BE49-F238E27FC236}">
                <a16:creationId xmlns:a16="http://schemas.microsoft.com/office/drawing/2014/main" id="{3FC4CAEC-2FD0-4A9A-A267-A13E5833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00" y="1143000"/>
            <a:ext cx="1651000" cy="127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成果円">
            <a:extLst xmlns:a="http://schemas.openxmlformats.org/drawingml/2006/main">
              <a:ext uri="{FF2B5EF4-FFF2-40B4-BE49-F238E27FC236}">
                <a16:creationId xmlns:a16="http://schemas.microsoft.com/office/drawing/2014/main" id="{6AB4B093-127B-44EE-95DC-DC0AB83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1244600"/>
            <a:ext cx="584200" cy="58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3" name="成果アイコン">
            <a:extLst xmlns:a="http://schemas.openxmlformats.org/drawingml/2006/main">
              <a:ext uri="{FF2B5EF4-FFF2-40B4-BE49-F238E27FC236}">
                <a16:creationId xmlns:a16="http://schemas.microsoft.com/office/drawing/2014/main" id="{3E4CDC6F-F5E1-4638-A34E-174169139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8bea6f7c4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1600" y="13970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54" name="成果文">
            <a:extLst xmlns:a="http://schemas.openxmlformats.org/drawingml/2006/main">
              <a:ext uri="{FF2B5EF4-FFF2-40B4-BE49-F238E27FC236}">
                <a16:creationId xmlns:a16="http://schemas.microsoft.com/office/drawing/2014/main" id="{3C2A8988-27A2-4C3C-98D6-876F6943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1879599"/>
            <a:ext cx="149860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提案に使える</a:t>
            </a:r>
          </a:p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スキルシートが完成</a:t>
            </a:r>
          </a:p>
        </p:txBody>
      </p:sp>
      <p:sp>
        <p:nvSpPr>
          <p:cNvPr id="55" name="区切り線">
            <a:extLst xmlns:a="http://schemas.openxmlformats.org/drawingml/2006/main">
              <a:ext uri="{FF2B5EF4-FFF2-40B4-BE49-F238E27FC236}">
                <a16:creationId xmlns:a16="http://schemas.microsoft.com/office/drawing/2014/main" id="{5576E4B1-C8E2-4478-8FC2-77A1CB9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7300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8DB8DE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6" name="区切り文">
            <a:extLst xmlns:a="http://schemas.openxmlformats.org/drawingml/2006/main">
              <a:ext uri="{FF2B5EF4-FFF2-40B4-BE49-F238E27FC236}">
                <a16:creationId xmlns:a16="http://schemas.microsoft.com/office/drawing/2014/main" id="{A0286C0C-26E5-4F84-84E5-CDB8EC6A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5700"/>
            <a:ext cx="1524000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ここでひと区切り</a:t>
            </a:r>
            <a:endParaRPr sz="10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57" name="案件ラベル">
            <a:extLst xmlns:a="http://schemas.openxmlformats.org/drawingml/2006/main">
              <a:ext uri="{FF2B5EF4-FFF2-40B4-BE49-F238E27FC236}">
                <a16:creationId xmlns:a16="http://schemas.microsoft.com/office/drawing/2014/main" id="{7675A922-21F5-4C0D-9D19-EAF897E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1600"/>
            <a:ext cx="838200" cy="1422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400" tIns="0" rIns="254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届くたびに</a:t>
            </a:r>
            <a:endParaRPr sz="10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58" name="手順3カード">
            <a:extLst xmlns:a="http://schemas.openxmlformats.org/drawingml/2006/main">
              <a:ext uri="{FF2B5EF4-FFF2-40B4-BE49-F238E27FC236}">
                <a16:creationId xmlns:a16="http://schemas.microsoft.com/office/drawing/2014/main" id="{E8168825-9BFC-4425-858A-9F9F6720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641600"/>
            <a:ext cx="1549400" cy="1422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手順3円">
            <a:extLst xmlns:a="http://schemas.openxmlformats.org/drawingml/2006/main">
              <a:ext uri="{FF2B5EF4-FFF2-40B4-BE49-F238E27FC236}">
                <a16:creationId xmlns:a16="http://schemas.microsoft.com/office/drawing/2014/main" id="{2ED8D190-5E1C-4CE6-A925-45D7ABE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68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0" name="手順3アイコン">
            <a:extLst xmlns:a="http://schemas.openxmlformats.org/drawingml/2006/main">
              <a:ext uri="{FF2B5EF4-FFF2-40B4-BE49-F238E27FC236}">
                <a16:creationId xmlns:a16="http://schemas.microsoft.com/office/drawing/2014/main" id="{087046BA-ECA5-4AA2-983F-FE4C673BB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73a6f21d8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4700" y="29083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61" name="手順3番号">
            <a:extLst xmlns:a="http://schemas.openxmlformats.org/drawingml/2006/main">
              <a:ext uri="{FF2B5EF4-FFF2-40B4-BE49-F238E27FC236}">
                <a16:creationId xmlns:a16="http://schemas.microsoft.com/office/drawing/2014/main" id="{6B4F5A08-8BB5-468E-B13C-27A226F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9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3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2" name="手順3題">
            <a:extLst xmlns:a="http://schemas.openxmlformats.org/drawingml/2006/main">
              <a:ext uri="{FF2B5EF4-FFF2-40B4-BE49-F238E27FC236}">
                <a16:creationId xmlns:a16="http://schemas.microsoft.com/office/drawing/2014/main" id="{C2C5F4B3-BCE1-49D7-803D-BBC82B46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3528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案件が届く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3" name="手順3文">
            <a:extLst xmlns:a="http://schemas.openxmlformats.org/drawingml/2006/main">
              <a:ext uri="{FF2B5EF4-FFF2-40B4-BE49-F238E27FC236}">
                <a16:creationId xmlns:a16="http://schemas.microsoft.com/office/drawing/2014/main" id="{1AC68EBE-6D1B-4F95-90D6-19A4B301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632199"/>
            <a:ext cx="1346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案件に合う人材を</a:t>
            </a:r>
          </a:p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候補として提示</a:t>
            </a:r>
          </a:p>
        </p:txBody>
      </p:sp>
      <p:sp>
        <p:nvSpPr>
          <p:cNvPr id="64" name="矢印3">
            <a:extLst xmlns:a="http://schemas.openxmlformats.org/drawingml/2006/main">
              <a:ext uri="{FF2B5EF4-FFF2-40B4-BE49-F238E27FC236}">
                <a16:creationId xmlns:a16="http://schemas.microsoft.com/office/drawing/2014/main" id="{A4865E88-1253-4FFC-8CE6-F8A57A7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00" y="3238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手順4カード">
            <a:extLst xmlns:a="http://schemas.openxmlformats.org/drawingml/2006/main">
              <a:ext uri="{FF2B5EF4-FFF2-40B4-BE49-F238E27FC236}">
                <a16:creationId xmlns:a16="http://schemas.microsoft.com/office/drawing/2014/main" id="{A1B47DB3-3A29-4626-9FE7-C8C6064D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641600"/>
            <a:ext cx="1549400" cy="1422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手順4円">
            <a:extLst xmlns:a="http://schemas.openxmlformats.org/drawingml/2006/main">
              <a:ext uri="{FF2B5EF4-FFF2-40B4-BE49-F238E27FC236}">
                <a16:creationId xmlns:a16="http://schemas.microsoft.com/office/drawing/2014/main" id="{69603569-41C7-42CB-BDCC-913F0DD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8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7" name="手順4アイコン">
            <a:extLst xmlns:a="http://schemas.openxmlformats.org/drawingml/2006/main">
              <a:ext uri="{FF2B5EF4-FFF2-40B4-BE49-F238E27FC236}">
                <a16:creationId xmlns:a16="http://schemas.microsoft.com/office/drawing/2014/main" id="{C71BC23E-06F2-4455-95B1-0484A2A9B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33fce67ca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0" y="28956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68" name="手順4番号">
            <a:extLst xmlns:a="http://schemas.openxmlformats.org/drawingml/2006/main">
              <a:ext uri="{FF2B5EF4-FFF2-40B4-BE49-F238E27FC236}">
                <a16:creationId xmlns:a16="http://schemas.microsoft.com/office/drawing/2014/main" id="{5A5E68AC-3D41-4887-90DF-B2A0A10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9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4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69" name="手順4題">
            <a:extLst xmlns:a="http://schemas.openxmlformats.org/drawingml/2006/main">
              <a:ext uri="{FF2B5EF4-FFF2-40B4-BE49-F238E27FC236}">
                <a16:creationId xmlns:a16="http://schemas.microsoft.com/office/drawing/2014/main" id="{1F8C4BB1-5045-4C66-B9AD-4945547D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3528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応募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0" name="手順4文">
            <a:extLst xmlns:a="http://schemas.openxmlformats.org/drawingml/2006/main">
              <a:ext uri="{FF2B5EF4-FFF2-40B4-BE49-F238E27FC236}">
                <a16:creationId xmlns:a16="http://schemas.microsoft.com/office/drawing/2014/main" id="{9641FB9C-CB1E-4745-816A-7C6870D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3632199"/>
            <a:ext cx="1346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エンジニアが</a:t>
            </a:r>
          </a:p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案件に応募</a:t>
            </a:r>
            <a:endParaRPr sz="11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1" name="矢印4">
            <a:extLst xmlns:a="http://schemas.openxmlformats.org/drawingml/2006/main">
              <a:ext uri="{FF2B5EF4-FFF2-40B4-BE49-F238E27FC236}">
                <a16:creationId xmlns:a16="http://schemas.microsoft.com/office/drawing/2014/main" id="{001B0888-DF54-40C1-8352-504B238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3238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手順5カード">
            <a:extLst xmlns:a="http://schemas.openxmlformats.org/drawingml/2006/main">
              <a:ext uri="{FF2B5EF4-FFF2-40B4-BE49-F238E27FC236}">
                <a16:creationId xmlns:a16="http://schemas.microsoft.com/office/drawing/2014/main" id="{3E10FDE7-1596-4E31-9935-6CBE86C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641600"/>
            <a:ext cx="1549400" cy="1422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手順5円">
            <a:extLst xmlns:a="http://schemas.openxmlformats.org/drawingml/2006/main">
              <a:ext uri="{FF2B5EF4-FFF2-40B4-BE49-F238E27FC236}">
                <a16:creationId xmlns:a16="http://schemas.microsoft.com/office/drawing/2014/main" id="{C1A74E27-229B-4E0C-B7CD-34AFD1B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8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4" name="手順5アイコン">
            <a:extLst xmlns:a="http://schemas.openxmlformats.org/drawingml/2006/main">
              <a:ext uri="{FF2B5EF4-FFF2-40B4-BE49-F238E27FC236}">
                <a16:creationId xmlns:a16="http://schemas.microsoft.com/office/drawing/2014/main" id="{A4900685-5A29-43FB-8FA0-17D03F9FC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e292765dd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2000" y="28956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75" name="手順5番号">
            <a:extLst xmlns:a="http://schemas.openxmlformats.org/drawingml/2006/main">
              <a:ext uri="{FF2B5EF4-FFF2-40B4-BE49-F238E27FC236}">
                <a16:creationId xmlns:a16="http://schemas.microsoft.com/office/drawing/2014/main" id="{39266C2B-6A0C-478C-ABFE-B1C6750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9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5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6" name="手順5題">
            <a:extLst xmlns:a="http://schemas.openxmlformats.org/drawingml/2006/main">
              <a:ext uri="{FF2B5EF4-FFF2-40B4-BE49-F238E27FC236}">
                <a16:creationId xmlns:a16="http://schemas.microsoft.com/office/drawing/2014/main" id="{137C55AF-70A9-4E61-8FBB-EBC722B3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33528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面談依頼を共有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7" name="手順5文">
            <a:extLst xmlns:a="http://schemas.openxmlformats.org/drawingml/2006/main">
              <a:ext uri="{FF2B5EF4-FFF2-40B4-BE49-F238E27FC236}">
                <a16:creationId xmlns:a16="http://schemas.microsoft.com/office/drawing/2014/main" id="{844819B3-A318-427C-9214-CEFE3DD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00" y="3632199"/>
            <a:ext cx="1346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エンジニアに</a:t>
            </a:r>
          </a:p>
          <a:p xmlns:a="http://schemas.openxmlformats.org/drawingml/2006/main">
            <a:pPr algn="ctr">
              <a:buNone/>
            </a:pPr>
            <a:r>
              <a:rPr sz="11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面談依頼が届く</a:t>
            </a:r>
          </a:p>
        </p:txBody>
      </p:sp>
      <p:sp>
        <p:nvSpPr>
          <p:cNvPr id="78" name="矢印5">
            <a:extLst xmlns:a="http://schemas.openxmlformats.org/drawingml/2006/main">
              <a:ext uri="{FF2B5EF4-FFF2-40B4-BE49-F238E27FC236}">
                <a16:creationId xmlns:a16="http://schemas.microsoft.com/office/drawing/2014/main" id="{F70A3F48-43D5-43FD-95A8-290CC455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3238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手順6カード">
            <a:extLst xmlns:a="http://schemas.openxmlformats.org/drawingml/2006/main">
              <a:ext uri="{FF2B5EF4-FFF2-40B4-BE49-F238E27FC236}">
                <a16:creationId xmlns:a16="http://schemas.microsoft.com/office/drawing/2014/main" id="{542634F7-DB13-4653-9E5E-E3BADDEB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641600"/>
            <a:ext cx="1574800" cy="1422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952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手順6円">
            <a:extLst xmlns:a="http://schemas.openxmlformats.org/drawingml/2006/main">
              <a:ext uri="{FF2B5EF4-FFF2-40B4-BE49-F238E27FC236}">
                <a16:creationId xmlns:a16="http://schemas.microsoft.com/office/drawing/2014/main" id="{B69649B0-47CB-4C76-8778-7FAE1EBA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0" y="2768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1" name="手順6アイコン">
            <a:extLst xmlns:a="http://schemas.openxmlformats.org/drawingml/2006/main">
              <a:ext uri="{FF2B5EF4-FFF2-40B4-BE49-F238E27FC236}">
                <a16:creationId xmlns:a16="http://schemas.microsoft.com/office/drawing/2014/main" id="{08E1E80A-EF5E-444F-8C53-D2B9A2BC3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6067c858743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9700" y="2895600"/>
            <a:ext cx="279400" cy="279400"/>
          </a:xfrm>
          <a:prstGeom xmlns:a="http://schemas.openxmlformats.org/drawingml/2006/main" prst="rect">
            <a:avLst/>
          </a:prstGeom>
        </p:spPr>
      </p:pic>
      <p:sp>
        <p:nvSpPr>
          <p:cNvPr id="82" name="手順6番号">
            <a:extLst xmlns:a="http://schemas.openxmlformats.org/drawingml/2006/main">
              <a:ext uri="{FF2B5EF4-FFF2-40B4-BE49-F238E27FC236}">
                <a16:creationId xmlns:a16="http://schemas.microsoft.com/office/drawing/2014/main" id="{038C9895-C4B8-4E35-8C5A-37F5321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269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6</a:t>
            </a:r>
            <a:endParaRPr sz="10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83" name="手順6題">
            <a:extLst xmlns:a="http://schemas.openxmlformats.org/drawingml/2006/main">
              <a:ext uri="{FF2B5EF4-FFF2-40B4-BE49-F238E27FC236}">
                <a16:creationId xmlns:a16="http://schemas.microsoft.com/office/drawing/2014/main" id="{FCED837C-F720-4C42-9C6F-09C4381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3352800"/>
            <a:ext cx="1422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面談・結果確認</a:t>
            </a:r>
            <a:endParaRPr sz="1200"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84" name="手順6文">
            <a:extLst xmlns:a="http://schemas.openxmlformats.org/drawingml/2006/main">
              <a:ext uri="{FF2B5EF4-FFF2-40B4-BE49-F238E27FC236}">
                <a16:creationId xmlns:a16="http://schemas.microsoft.com/office/drawing/2014/main" id="{6BE4DE35-CCC0-4500-A42D-0682398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600" y="3632199"/>
            <a:ext cx="1371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面談を受け、</a:t>
            </a:r>
          </a:p>
          <a:p xmlns:a="http://schemas.openxmlformats.org/drawingml/2006/main">
            <a:pPr algn="ctr">
              <a:buNone/>
            </a:pPr>
            <a:r>
              <a:rPr sz="11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結果を記録</a:t>
            </a:r>
          </a:p>
        </p:txBody>
      </p:sp>
      <p:sp>
        <p:nvSpPr>
          <p:cNvPr id="85" name="通知線">
            <a:extLst xmlns:a="http://schemas.openxmlformats.org/drawingml/2006/main">
              <a:ext uri="{FF2B5EF4-FFF2-40B4-BE49-F238E27FC236}">
                <a16:creationId xmlns:a16="http://schemas.microsoft.com/office/drawing/2014/main" id="{0ECF1F1D-631F-4CAE-AF8C-A6DC9DAA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64000"/>
            <a:ext cx="0" cy="101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B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通知カード">
            <a:extLst xmlns:a="http://schemas.openxmlformats.org/drawingml/2006/main">
              <a:ext uri="{FF2B5EF4-FFF2-40B4-BE49-F238E27FC236}">
                <a16:creationId xmlns:a16="http://schemas.microsoft.com/office/drawing/2014/main" id="{FCADC227-8E61-44D2-B7A8-8E278B6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4165600"/>
            <a:ext cx="1651000" cy="381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通知円">
            <a:extLst xmlns:a="http://schemas.openxmlformats.org/drawingml/2006/main">
              <a:ext uri="{FF2B5EF4-FFF2-40B4-BE49-F238E27FC236}">
                <a16:creationId xmlns:a16="http://schemas.microsoft.com/office/drawing/2014/main" id="{AE0CAD47-972C-4ACE-9586-D5CE78A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42164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88" name="通知アイコン">
            <a:extLst xmlns:a="http://schemas.openxmlformats.org/drawingml/2006/main">
              <a:ext uri="{FF2B5EF4-FFF2-40B4-BE49-F238E27FC236}">
                <a16:creationId xmlns:a16="http://schemas.microsoft.com/office/drawing/2014/main" id="{8BB47F7A-E541-4CB0-8C65-C2E3585D9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d62120560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4279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89" name="通知文">
            <a:extLst xmlns:a="http://schemas.openxmlformats.org/drawingml/2006/main">
              <a:ext uri="{FF2B5EF4-FFF2-40B4-BE49-F238E27FC236}">
                <a16:creationId xmlns:a16="http://schemas.microsoft.com/office/drawing/2014/main" id="{C54497F8-3967-477E-9A97-ACD9C48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4165599"/>
            <a:ext cx="11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みなさまにも通知</a:t>
            </a:r>
            <a:endParaRPr sz="11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90" name="QA線">
            <a:extLst xmlns:a="http://schemas.openxmlformats.org/drawingml/2006/main">
              <a:ext uri="{FF2B5EF4-FFF2-40B4-BE49-F238E27FC236}">
                <a16:creationId xmlns:a16="http://schemas.microsoft.com/office/drawing/2014/main" id="{C90B41D8-17DC-4553-8285-BBE410C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64000"/>
            <a:ext cx="0" cy="101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DB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QAカード">
            <a:extLst xmlns:a="http://schemas.openxmlformats.org/drawingml/2006/main">
              <a:ext uri="{FF2B5EF4-FFF2-40B4-BE49-F238E27FC236}">
                <a16:creationId xmlns:a16="http://schemas.microsoft.com/office/drawing/2014/main" id="{2A0B0BC8-0621-4269-925F-1709B16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4165600"/>
            <a:ext cx="2159000" cy="381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QA円">
            <a:extLst xmlns:a="http://schemas.openxmlformats.org/drawingml/2006/main">
              <a:ext uri="{FF2B5EF4-FFF2-40B4-BE49-F238E27FC236}">
                <a16:creationId xmlns:a16="http://schemas.microsoft.com/office/drawing/2014/main" id="{33C0F994-CF65-4A84-A794-BE2D917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2164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3" name="QAアイコン">
            <a:extLst xmlns:a="http://schemas.openxmlformats.org/drawingml/2006/main">
              <a:ext uri="{FF2B5EF4-FFF2-40B4-BE49-F238E27FC236}">
                <a16:creationId xmlns:a16="http://schemas.microsoft.com/office/drawing/2014/main" id="{AC1C62CF-2B6F-4641-88DD-EC4156EC3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dc39e44da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1900" y="4279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94" name="QA文">
            <a:extLst xmlns:a="http://schemas.openxmlformats.org/drawingml/2006/main">
              <a:ext uri="{FF2B5EF4-FFF2-40B4-BE49-F238E27FC236}">
                <a16:creationId xmlns:a16="http://schemas.microsoft.com/office/drawing/2014/main" id="{FF1094B5-669B-4627-9E0C-815C1F7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5599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面談対策のQ&amp;Aを案内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41EA8-32C6-43C1-B815-FFD363A13902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案件と人材をつなぎ、グループで提案機会を広げる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A285F97-2B11-4344-8701-0F191D6CCDD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14" name="仲間0">
            <a:extLst xmlns:a="http://schemas.openxmlformats.org/drawingml/2006/main">
              <a:ext uri="{FF2B5EF4-FFF2-40B4-BE49-F238E27FC236}">
                <a16:creationId xmlns:a16="http://schemas.microsoft.com/office/drawing/2014/main" id="{25BC46A4-292E-40CB-9DA0-1BE12C8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5" name="仲間1">
            <a:extLst xmlns:a="http://schemas.openxmlformats.org/drawingml/2006/main">
              <a:ext uri="{FF2B5EF4-FFF2-40B4-BE49-F238E27FC236}">
                <a16:creationId xmlns:a16="http://schemas.microsoft.com/office/drawing/2014/main" id="{AE89B932-6BE9-49B8-B102-E089C2F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58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6" name="仲間2">
            <a:extLst xmlns:a="http://schemas.openxmlformats.org/drawingml/2006/main">
              <a:ext uri="{FF2B5EF4-FFF2-40B4-BE49-F238E27FC236}">
                <a16:creationId xmlns:a16="http://schemas.microsoft.com/office/drawing/2014/main" id="{6817C1F1-F7AE-4F73-9FB1-47ED838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4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7" name="結束矢印1">
            <a:extLst xmlns:a="http://schemas.openxmlformats.org/drawingml/2006/main">
              <a:ext uri="{FF2B5EF4-FFF2-40B4-BE49-F238E27FC236}">
                <a16:creationId xmlns:a16="http://schemas.microsoft.com/office/drawing/2014/main" id="{D9ADB216-589B-41A3-A9F0-0A887CE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GP円">
            <a:extLst xmlns:a="http://schemas.openxmlformats.org/drawingml/2006/main">
              <a:ext uri="{FF2B5EF4-FFF2-40B4-BE49-F238E27FC236}">
                <a16:creationId xmlns:a16="http://schemas.microsoft.com/office/drawing/2014/main" id="{E97364F5-BAD7-45A6-BCE3-5A6C12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結束矢印2">
            <a:extLst xmlns:a="http://schemas.openxmlformats.org/drawingml/2006/main">
              <a:ext uri="{FF2B5EF4-FFF2-40B4-BE49-F238E27FC236}">
                <a16:creationId xmlns:a16="http://schemas.microsoft.com/office/drawing/2014/main" id="{916296A9-F836-4237-88D3-83C6665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案件0">
            <a:extLst xmlns:a="http://schemas.openxmlformats.org/drawingml/2006/main">
              <a:ext uri="{FF2B5EF4-FFF2-40B4-BE49-F238E27FC236}">
                <a16:creationId xmlns:a16="http://schemas.microsoft.com/office/drawing/2014/main" id="{C0183C29-D0F3-4074-92D3-0F7CC9E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1684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案件1">
            <a:extLst xmlns:a="http://schemas.openxmlformats.org/drawingml/2006/main">
              <a:ext uri="{FF2B5EF4-FFF2-40B4-BE49-F238E27FC236}">
                <a16:creationId xmlns:a16="http://schemas.microsoft.com/office/drawing/2014/main" id="{F151A781-B5DB-47D0-97DA-EFC4D4F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7272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案件2">
            <a:extLst xmlns:a="http://schemas.openxmlformats.org/drawingml/2006/main">
              <a:ext uri="{FF2B5EF4-FFF2-40B4-BE49-F238E27FC236}">
                <a16:creationId xmlns:a16="http://schemas.microsoft.com/office/drawing/2014/main" id="{1FFD0150-9D14-42BE-95D8-FBC2F60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2860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案件3">
            <a:extLst xmlns:a="http://schemas.openxmlformats.org/drawingml/2006/main">
              <a:ext uri="{FF2B5EF4-FFF2-40B4-BE49-F238E27FC236}">
                <a16:creationId xmlns:a16="http://schemas.microsoft.com/office/drawing/2014/main" id="{7241A846-F2A1-4786-ABA7-D8A5AFE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8448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結束説明">
            <a:extLst xmlns:a="http://schemas.openxmlformats.org/drawingml/2006/main">
              <a:ext uri="{FF2B5EF4-FFF2-40B4-BE49-F238E27FC236}">
                <a16:creationId xmlns:a16="http://schemas.microsoft.com/office/drawing/2014/main" id="{811D1F66-5C6D-4083-B55C-CE624A5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0599"/>
            <a:ext cx="4394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みなさまの案件と人材を、グループ内で共有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利点0">
            <a:extLst xmlns:a="http://schemas.openxmlformats.org/drawingml/2006/main">
              <a:ext uri="{FF2B5EF4-FFF2-40B4-BE49-F238E27FC236}">
                <a16:creationId xmlns:a16="http://schemas.microsoft.com/office/drawing/2014/main" id="{6E10B4A9-6611-4CFC-983F-83B761B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1684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利点0円">
            <a:extLst xmlns:a="http://schemas.openxmlformats.org/drawingml/2006/main">
              <a:ext uri="{FF2B5EF4-FFF2-40B4-BE49-F238E27FC236}">
                <a16:creationId xmlns:a16="http://schemas.microsoft.com/office/drawing/2014/main" id="{FBBD6D11-40EA-4DE9-A724-3FE4095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利点0アイコン">
            <a:extLst xmlns:a="http://schemas.openxmlformats.org/drawingml/2006/main">
              <a:ext uri="{FF2B5EF4-FFF2-40B4-BE49-F238E27FC236}">
                <a16:creationId xmlns:a16="http://schemas.microsoft.com/office/drawing/2014/main" id="{8C98CF18-D2DD-48C1-A447-F0B3FAEC9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a81226ccc4c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4160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29" name="利点0文">
            <a:extLst xmlns:a="http://schemas.openxmlformats.org/drawingml/2006/main">
              <a:ext uri="{FF2B5EF4-FFF2-40B4-BE49-F238E27FC236}">
                <a16:creationId xmlns:a16="http://schemas.microsoft.com/office/drawing/2014/main" id="{1430FF79-4012-4724-AA29-0DCA28A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11683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単独では難しい案件も、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みなさまで協力して提案</a:t>
            </a:r>
          </a:p>
        </p:txBody>
      </p:sp>
      <p:sp>
        <p:nvSpPr>
          <p:cNvPr id="30" name="利点1">
            <a:extLst xmlns:a="http://schemas.openxmlformats.org/drawingml/2006/main">
              <a:ext uri="{FF2B5EF4-FFF2-40B4-BE49-F238E27FC236}">
                <a16:creationId xmlns:a16="http://schemas.microsoft.com/office/drawing/2014/main" id="{D01200A4-E1BB-400F-96F8-F54E780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0066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利点1円">
            <a:extLst xmlns:a="http://schemas.openxmlformats.org/drawingml/2006/main">
              <a:ext uri="{FF2B5EF4-FFF2-40B4-BE49-F238E27FC236}">
                <a16:creationId xmlns:a16="http://schemas.microsoft.com/office/drawing/2014/main" id="{77231901-DBC3-4348-B52D-5156717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利点1アイコン">
            <a:extLst xmlns:a="http://schemas.openxmlformats.org/drawingml/2006/main">
              <a:ext uri="{FF2B5EF4-FFF2-40B4-BE49-F238E27FC236}">
                <a16:creationId xmlns:a16="http://schemas.microsoft.com/office/drawing/2014/main" id="{85FCAE47-1E39-472E-A032-2F7F2EA29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2329356c84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542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3" name="利点1文">
            <a:extLst xmlns:a="http://schemas.openxmlformats.org/drawingml/2006/main">
              <a:ext uri="{FF2B5EF4-FFF2-40B4-BE49-F238E27FC236}">
                <a16:creationId xmlns:a16="http://schemas.microsoft.com/office/drawing/2014/main" id="{F1DEE283-0F56-43C0-B91B-E9C0A31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065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人材が不足する案件も、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仲間の人材と組んで提案</a:t>
            </a:r>
          </a:p>
        </p:txBody>
      </p:sp>
      <p:sp>
        <p:nvSpPr>
          <p:cNvPr id="34" name="利点2">
            <a:extLst xmlns:a="http://schemas.openxmlformats.org/drawingml/2006/main">
              <a:ext uri="{FF2B5EF4-FFF2-40B4-BE49-F238E27FC236}">
                <a16:creationId xmlns:a16="http://schemas.microsoft.com/office/drawing/2014/main" id="{7AD63BF7-F738-4D07-965B-1E71C8D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448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利点2円">
            <a:extLst xmlns:a="http://schemas.openxmlformats.org/drawingml/2006/main">
              <a:ext uri="{FF2B5EF4-FFF2-40B4-BE49-F238E27FC236}">
                <a16:creationId xmlns:a16="http://schemas.microsoft.com/office/drawing/2014/main" id="{E9F4EE69-4A8C-4C31-AAC4-18C2F1D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利点2アイコン">
            <a:extLst xmlns:a="http://schemas.openxmlformats.org/drawingml/2006/main">
              <a:ext uri="{FF2B5EF4-FFF2-40B4-BE49-F238E27FC236}">
                <a16:creationId xmlns:a16="http://schemas.microsoft.com/office/drawing/2014/main" id="{E884E2DE-2C3E-4098-94C2-381C9D336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403a9c30b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30924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7" name="利点2文">
            <a:extLst xmlns:a="http://schemas.openxmlformats.org/drawingml/2006/main">
              <a:ext uri="{FF2B5EF4-FFF2-40B4-BE49-F238E27FC236}">
                <a16:creationId xmlns:a16="http://schemas.microsoft.com/office/drawing/2014/main" id="{1B7E737C-4B3F-475B-8424-4CE3A1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8447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成約実績を重ね、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グループへの信頼を育てる</a:t>
            </a:r>
          </a:p>
        </p:txBody>
      </p:sp>
      <p:sp>
        <p:nvSpPr>
          <p:cNvPr id="38" name="結束帯">
            <a:extLst xmlns:a="http://schemas.openxmlformats.org/drawingml/2006/main">
              <a:ext uri="{FF2B5EF4-FFF2-40B4-BE49-F238E27FC236}">
                <a16:creationId xmlns:a16="http://schemas.microsoft.com/office/drawing/2014/main" id="{0CDBE450-E80B-46A3-89A2-D3C43D3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まずは案件共有の方法をご相談ください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030634146"/>
      </p:ext>
    </p:extLst>
  </p:cSld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2026-10-14T00:47:02.4320000Z</dcterms:created>
  <dcterms:modified xsi:type="dcterms:W3CDTF">2026-10-14T00:47:02.4320000Z</dcterms:modified>
</coreProperties>
</file>