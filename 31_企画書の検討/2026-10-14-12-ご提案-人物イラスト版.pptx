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97018d2294816" /><Relationship Type="http://schemas.openxmlformats.org/officeDocument/2006/relationships/extended-properties" Target="/docProps/app.xml" Id="Rc39b7f1633fd4219" /><Relationship Type="http://schemas.openxmlformats.org/officeDocument/2006/relationships/officeDocument" Target="/ppt/presentation.xml" Id="Radf39cb0377c4b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ad60ed4c04fac"/>
  </p:sldMasterIdLst>
  <p:notesMasterIdLst>
    <p:notesMasterId xmlns:r="http://schemas.openxmlformats.org/officeDocument/2006/relationships" r:id="R84f6cdc9981d4915"/>
  </p:notesMasterIdLst>
  <p:sldIdLst>
    <p:sldId xmlns:r="http://schemas.openxmlformats.org/officeDocument/2006/relationships" id="256" r:id="R14f397d830244562"/>
    <p:sldId xmlns:r="http://schemas.openxmlformats.org/officeDocument/2006/relationships" id="257" r:id="R6499747d80c84eef"/>
    <p:sldId xmlns:r="http://schemas.openxmlformats.org/officeDocument/2006/relationships" id="258" r:id="R701f176cc9254242"/>
    <p:sldId xmlns:r="http://schemas.openxmlformats.org/officeDocument/2006/relationships" id="259" r:id="Rd1163adac2074713"/>
    <p:sldId xmlns:r="http://schemas.openxmlformats.org/officeDocument/2006/relationships" id="260" r:id="R651baa7b8e2443c4"/>
    <p:sldId xmlns:r="http://schemas.openxmlformats.org/officeDocument/2006/relationships" id="261" r:id="Rfaf39a44afaf4dd2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2c51e1cae4048" /><Relationship Type="http://schemas.openxmlformats.org/officeDocument/2006/relationships/slideMaster" Target="/ppt/slideMasters/slideMaster1.xml" Id="R0fbad60ed4c04fac" /><Relationship Type="http://schemas.openxmlformats.org/officeDocument/2006/relationships/notesMaster" Target="/ppt/notesMasters/notesMaster1.xml" Id="R84f6cdc9981d4915" /><Relationship Type="http://schemas.openxmlformats.org/officeDocument/2006/relationships/presProps" Target="/ppt/presProps.xml" Id="Rfa51fd098edc4505" /><Relationship Type="http://schemas.openxmlformats.org/officeDocument/2006/relationships/viewProps" Target="/ppt/viewProps.xml" Id="R78920af9e641450b" /><Relationship Type="http://schemas.openxmlformats.org/officeDocument/2006/relationships/tableStyles" Target="/ppt/tableStyles.xml" Id="Ra5ccb4fd977e400f" /><Relationship Type="http://schemas.openxmlformats.org/officeDocument/2006/relationships/slide" Target="/ppt/slides/slide1.xml" Id="R14f397d830244562" /><Relationship Type="http://schemas.openxmlformats.org/officeDocument/2006/relationships/slide" Target="/ppt/slides/slide2.xml" Id="R6499747d80c84eef" /><Relationship Type="http://schemas.openxmlformats.org/officeDocument/2006/relationships/slide" Target="/ppt/slides/slide3.xml" Id="R701f176cc9254242" /><Relationship Type="http://schemas.openxmlformats.org/officeDocument/2006/relationships/slide" Target="/ppt/slides/slide4.xml" Id="Rd1163adac2074713" /><Relationship Type="http://schemas.openxmlformats.org/officeDocument/2006/relationships/slide" Target="/ppt/slides/slide5.xml" Id="R651baa7b8e2443c4" /><Relationship Type="http://schemas.openxmlformats.org/officeDocument/2006/relationships/slide" Target="/ppt/slides/slide6.xml" Id="Rfaf39a44afaf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dd6aeb8d5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401c6d53d44190" /><Relationship Type="http://schemas.openxmlformats.org/officeDocument/2006/relationships/notesMaster" Target="/ppt/notesMasters/notesMaster1.xml" Id="Rb90a0f94478f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c51d0858b4f32" /><Relationship Type="http://schemas.openxmlformats.org/officeDocument/2006/relationships/notesMaster" Target="/ppt/notesMasters/notesMaster1.xml" Id="Rd2adab98690847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0a521316824cbc" /><Relationship Type="http://schemas.openxmlformats.org/officeDocument/2006/relationships/notesMaster" Target="/ppt/notesMasters/notesMaster1.xml" Id="R031eb3c022cb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5e706f10f64fd5" /><Relationship Type="http://schemas.openxmlformats.org/officeDocument/2006/relationships/notesMaster" Target="/ppt/notesMasters/notesMaster1.xml" Id="R15b308163751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ceb4fc281b46a5" /><Relationship Type="http://schemas.openxmlformats.org/officeDocument/2006/relationships/notesMaster" Target="/ppt/notesMasters/notesMaster1.xml" Id="Rcd332d3616f94c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90ee232964a8f" /><Relationship Type="http://schemas.openxmlformats.org/officeDocument/2006/relationships/notesMaster" Target="/ppt/notesMasters/notesMaster1.xml" Id="R14a830258d1b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みなさま（ビジネスパートナー）のお悩み</a:t>
            </a:r>
            <a:r>
              <a:t>4</a:t>
            </a:r>
            <a:r>
              <a:t>つ。このシステムがまとめて解決する。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応募数・面談数・成約数を記録し、導入前後の実績を比較する。実績値は未取得のため数値は記載しない。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画面イメージ（提案段階）。みなさまが案件条件と候補人材を確認し、エンジニアがスキルシート・面談対策Q&amp;Aを確認して応募する流れ。人物イラスト：unDraw「Web Developer」画像。配布元画像URL: https://images.ctfassets.net/httuqftbm1yv/5VExncPEFf1WgMg9Hc2Rl2/3a1c9d00081d5bc75764f19aeff5d21d/undraw_web_developer_p3e5.png. 利用条件: https://undraw.co/license.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6dd0c143841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7571e58e54e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413b803e34aa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rgbClr val="3B6E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43BB16-1DDF-4046-84DF-3AA64AF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0"/>
            <a:ext cx="31089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24865E-C06C-41B4-B74A-831C385C4851}"/>
              </a:ext>
            </a:extLst>
          </p:cNvPr>
          <p:cNvSpPr>
            <a:spLocks xmlns:a="http://schemas.openxmlformats.org/drawingml/2006/main" noGrp="1"/>
          </p:cNvSpPr>
          <p:nvPr>
            <p:ph type="title" idx="101" hasCustomPrompt="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B1229F-9B68-4E73-9E7B-2B006A5EECE2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9BAE88-7494-45AF-8A61-205A42B218B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327C5E-2A13-4AF0-A21D-14A24E8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　ご提案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45B7EE-D5A5-4EC1-8951-B9C077DA1CA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cd80d5bd24aeb" /><Relationship Type="http://schemas.openxmlformats.org/officeDocument/2006/relationships/slideLayout" Target="/ppt/slideLayouts/slideLayout1.xml" Id="R9a5c40ce558b40c7" /><Relationship Type="http://schemas.openxmlformats.org/officeDocument/2006/relationships/slideLayout" Target="/ppt/slideLayouts/slideLayout2.xml" Id="Rb395b5e4adf54162" /><Relationship Type="http://schemas.openxmlformats.org/officeDocument/2006/relationships/slideLayout" Target="/ppt/slideLayouts/slideLayout3.xml" Id="Rdca2489ad9b54d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E22AE1-628F-498B-B847-C4756F45783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5c40ce558b40c7"/>
    <p:sldLayoutId xmlns:r="http://schemas.openxmlformats.org/officeDocument/2006/relationships" id="2147483650" r:id="Rb395b5e4adf54162"/>
    <p:sldLayoutId xmlns:r="http://schemas.openxmlformats.org/officeDocument/2006/relationships" id="2147483651" r:id="Rdca2489ad9b54d8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742e26f714981" /><Relationship Type="http://schemas.openxmlformats.org/officeDocument/2006/relationships/image" Target="/ppt/media/image.png" Id="Rea90453f30eb469b" /><Relationship Type="http://schemas.openxmlformats.org/officeDocument/2006/relationships/notesSlide" Target="/ppt/notesSlides/notesSlide1.xml" Id="R72a7daf3ef4e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3e1c335b9949af" /><Relationship Type="http://schemas.openxmlformats.org/officeDocument/2006/relationships/image" Target="/ppt/media/image2.png" Id="Rb2d72dba65eb4bba" /><Relationship Type="http://schemas.openxmlformats.org/officeDocument/2006/relationships/image" Target="/ppt/media/image3.png" Id="Re43d0eca02324875" /><Relationship Type="http://schemas.openxmlformats.org/officeDocument/2006/relationships/image" Target="/ppt/media/image4.png" Id="Rfa5517c45cd84995" /><Relationship Type="http://schemas.openxmlformats.org/officeDocument/2006/relationships/notesSlide" Target="/ppt/notesSlides/notesSlide2.xml" Id="Ra5ceed436b89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bb9cc17af14fd2" /><Relationship Type="http://schemas.openxmlformats.org/officeDocument/2006/relationships/image" Target="/ppt/media/image5.png" Id="Rf5d7fe226e264be0" /><Relationship Type="http://schemas.openxmlformats.org/officeDocument/2006/relationships/image" Target="/ppt/media/image2.png" Id="R0a7c4a8437404904" /><Relationship Type="http://schemas.openxmlformats.org/officeDocument/2006/relationships/image" Target="/ppt/media/image6.png" Id="R679d3193bd164af4" /><Relationship Type="http://schemas.openxmlformats.org/officeDocument/2006/relationships/image" Target="/ppt/media/image4.png" Id="R6e4b2537f2c040d8" /><Relationship Type="http://schemas.openxmlformats.org/officeDocument/2006/relationships/notesSlide" Target="/ppt/notesSlides/notesSlide3.xml" Id="Rd205d7e999c641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2f2186d20d452f" /><Relationship Type="http://schemas.openxmlformats.org/officeDocument/2006/relationships/image" Target="/ppt/media/image5.png" Id="R0edfa491ede74c6e" /><Relationship Type="http://schemas.openxmlformats.org/officeDocument/2006/relationships/image" Target="/ppt/media/image6.png" Id="Rce7de60391f4454a" /><Relationship Type="http://schemas.openxmlformats.org/officeDocument/2006/relationships/image" Target="/ppt/media/image7.png" Id="R00c2186bd1d6428f" /><Relationship Type="http://schemas.openxmlformats.org/officeDocument/2006/relationships/image" Target="/ppt/media/image8.png" Id="R9d07fe6f11b44f86" /><Relationship Type="http://schemas.openxmlformats.org/officeDocument/2006/relationships/notesSlide" Target="/ppt/notesSlides/notesSlide4.xml" Id="R8645211ee7b44c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b94025b891415f" /><Relationship Type="http://schemas.openxmlformats.org/officeDocument/2006/relationships/image" Target="/ppt/media/image9.png" Id="R89dfab12afe14292" /><Relationship Type="http://schemas.openxmlformats.org/officeDocument/2006/relationships/notesSlide" Target="/ppt/notesSlides/notesSlide5.xml" Id="Rb8851f46503c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e738df961a4d7b" /><Relationship Type="http://schemas.openxmlformats.org/officeDocument/2006/relationships/image" Target="/ppt/media/image2.png" Id="R4485b442663f4b33" /><Relationship Type="http://schemas.openxmlformats.org/officeDocument/2006/relationships/image" Target="/ppt/media/image10.png" Id="Red3b2b49f426414c" /><Relationship Type="http://schemas.openxmlformats.org/officeDocument/2006/relationships/image" Target="/ppt/media/image8.png" Id="R3b7676f5696e4c2e" /><Relationship Type="http://schemas.openxmlformats.org/officeDocument/2006/relationships/notesSlide" Target="/ppt/notesSlides/notesSlide6.xml" Id="R62e33e66863540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2665E87F-9269-4579-B069-F2EE3CD858E4}"/>
              </a:ext>
            </a:extLst>
          </p:cNvPr>
          <p:cNvSpPr>
            <a:spLocks xmlns:a="http://schemas.openxmlformats.org/drawingml/2006/main" noGrp="1"/>
          </p:cNvSpPr>
          <p:nvPr>
            <p:ph type="title" idx="10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B85B8-A400-4ADD-ABC1-7F97E0C4AD2F}"/>
              </a:ext>
            </a:extLst>
          </p:cNvPr>
          <p:cNvSpPr>
            <a:spLocks xmlns:a="http://schemas.openxmlformats.org/drawingml/2006/main" noGrp="1"/>
          </p:cNvSpPr>
          <p:nvPr>
            <p:ph type="body" idx="102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案件と人材の出会いを増やし、提案機会を広げる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パートナー連携プラットフォームのご提案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みなさまへ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 xmlns:a="http://schemas.openxmlformats.org/drawingml/2006/main">
              <a:ext uri="{FF2B5EF4-FFF2-40B4-BE49-F238E27FC236}">
                <a16:creationId xmlns:a16="http://schemas.microsoft.com/office/drawing/2014/main" id="{1BDBE7D6-639F-4539-933E-E458AD4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 xmlns:a="http://schemas.openxmlformats.org/drawingml/2006/main">
              <a:ext uri="{FF2B5EF4-FFF2-40B4-BE49-F238E27FC236}">
                <a16:creationId xmlns:a16="http://schemas.microsoft.com/office/drawing/2014/main" id="{681B9B22-4CEF-422A-BDC3-F66696B94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0453f30eb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5355" y="2201875"/>
            <a:ext cx="716890" cy="716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58147C-DC96-43A2-A47A-AD04B877554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みなさまの提案機会を、グループ全体で広げる</a:t>
            </a:r>
            <a:endParaRPr sz="2800"/>
          </a:p>
        </p:txBody>
      </p:sp>
      <p:sp>
        <p:nvSpPr>
          <p:cNvPr id="3" name="想い1円">
            <a:extLst xmlns:a="http://schemas.openxmlformats.org/drawingml/2006/main">
              <a:ext uri="{FF2B5EF4-FFF2-40B4-BE49-F238E27FC236}">
                <a16:creationId xmlns:a16="http://schemas.microsoft.com/office/drawing/2014/main" id="{484D0F79-3B0F-4FAC-9640-FFFD3F4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 xmlns:a="http://schemas.openxmlformats.org/drawingml/2006/main">
              <a:ext uri="{FF2B5EF4-FFF2-40B4-BE49-F238E27FC236}">
                <a16:creationId xmlns:a16="http://schemas.microsoft.com/office/drawing/2014/main" id="{CC319C02-05A3-4B2F-AA20-B098B782B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72dba65eb4b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137525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5" name="想い文1">
            <a:extLst xmlns:a="http://schemas.openxmlformats.org/drawingml/2006/main">
              <a:ext uri="{FF2B5EF4-FFF2-40B4-BE49-F238E27FC236}">
                <a16:creationId xmlns:a16="http://schemas.microsoft.com/office/drawing/2014/main" id="{78108E5A-854F-4982-9E87-359C098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3444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案件に合う人材を、グループ内から探せる</a:t>
            </a:r>
            <a:endParaRPr sz="1800"/>
          </a:p>
        </p:txBody>
      </p:sp>
      <p:sp>
        <p:nvSpPr>
          <p:cNvPr id="6" name="想い2円">
            <a:extLst xmlns:a="http://schemas.openxmlformats.org/drawingml/2006/main">
              <a:ext uri="{FF2B5EF4-FFF2-40B4-BE49-F238E27FC236}">
                <a16:creationId xmlns:a16="http://schemas.microsoft.com/office/drawing/2014/main" id="{AB663356-3F83-4398-B587-55E0EE3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 xmlns:a="http://schemas.openxmlformats.org/drawingml/2006/main">
              <a:ext uri="{FF2B5EF4-FFF2-40B4-BE49-F238E27FC236}">
                <a16:creationId xmlns:a16="http://schemas.microsoft.com/office/drawing/2014/main" id="{2CD0B791-AC57-44FE-AA6F-64C6620F6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d0eca0232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224393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8" name="想い文2">
            <a:extLst xmlns:a="http://schemas.openxmlformats.org/drawingml/2006/main">
              <a:ext uri="{FF2B5EF4-FFF2-40B4-BE49-F238E27FC236}">
                <a16:creationId xmlns:a16="http://schemas.microsoft.com/office/drawing/2014/main" id="{1DFB9ADF-8D92-4DA6-A6E8-CF46918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0312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スキルシートと面談の準備を支援できる</a:t>
            </a:r>
            <a:endParaRPr sz="1800"/>
          </a:p>
        </p:txBody>
      </p:sp>
      <p:sp>
        <p:nvSpPr>
          <p:cNvPr id="9" name="想い3円">
            <a:extLst xmlns:a="http://schemas.openxmlformats.org/drawingml/2006/main">
              <a:ext uri="{FF2B5EF4-FFF2-40B4-BE49-F238E27FC236}">
                <a16:creationId xmlns:a16="http://schemas.microsoft.com/office/drawing/2014/main" id="{62E83D0D-281B-4F3B-8F6D-1F0B9D2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 xmlns:a="http://schemas.openxmlformats.org/drawingml/2006/main">
              <a:ext uri="{FF2B5EF4-FFF2-40B4-BE49-F238E27FC236}">
                <a16:creationId xmlns:a16="http://schemas.microsoft.com/office/drawing/2014/main" id="{EBB2309D-383D-4961-A828-118163CFF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517c45cd84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311261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11" name="想い文3">
            <a:extLst xmlns:a="http://schemas.openxmlformats.org/drawingml/2006/main">
              <a:ext uri="{FF2B5EF4-FFF2-40B4-BE49-F238E27FC236}">
                <a16:creationId xmlns:a16="http://schemas.microsoft.com/office/drawing/2014/main" id="{4F3E8182-10BA-4495-9AFC-F32A977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応募結果を記録し、次の提案に活かせる</a:t>
            </a:r>
            <a:endParaRPr sz="1800"/>
          </a:p>
        </p:txBody>
      </p:sp>
      <p:sp>
        <p:nvSpPr>
          <p:cNvPr id="12" name="経験帯">
            <a:extLst xmlns:a="http://schemas.openxmlformats.org/drawingml/2006/main">
              <a:ext uri="{FF2B5EF4-FFF2-40B4-BE49-F238E27FC236}">
                <a16:creationId xmlns:a16="http://schemas.microsoft.com/office/drawing/2014/main" id="{95EEB37B-8FCA-4CCB-878F-E7915C9D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 xmlns:a="http://schemas.openxmlformats.org/drawingml/2006/main">
              <a:ext uri="{FF2B5EF4-FFF2-40B4-BE49-F238E27FC236}">
                <a16:creationId xmlns:a16="http://schemas.microsoft.com/office/drawing/2014/main" id="{97AAE8E1-DDA7-446A-A568-22A39FC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エンジニアとして15年以上の経験をもとに構想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2C085C8-E587-4DF8-B25A-06207EC2A7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1438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545AB9-3814-4388-93B0-B71BF608F89D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みなさまが直面する4つの機会損失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C95E26-366E-4617-A71B-FA18106AC6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悩み0カード">
            <a:extLst xmlns:a="http://schemas.openxmlformats.org/drawingml/2006/main">
              <a:ext uri="{FF2B5EF4-FFF2-40B4-BE49-F238E27FC236}">
                <a16:creationId xmlns:a16="http://schemas.microsoft.com/office/drawing/2014/main" id="{AB880AF1-7071-48A5-A7F2-8E0B8DA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悩み0円">
            <a:extLst xmlns:a="http://schemas.openxmlformats.org/drawingml/2006/main">
              <a:ext uri="{FF2B5EF4-FFF2-40B4-BE49-F238E27FC236}">
                <a16:creationId xmlns:a16="http://schemas.microsoft.com/office/drawing/2014/main" id="{AEBF90E4-2CE1-443B-B605-121090E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悩み0アイコン">
            <a:extLst xmlns:a="http://schemas.openxmlformats.org/drawingml/2006/main">
              <a:ext uri="{FF2B5EF4-FFF2-40B4-BE49-F238E27FC236}">
                <a16:creationId xmlns:a16="http://schemas.microsoft.com/office/drawing/2014/main" id="{9528F96B-B938-440A-9A73-9F6694B19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7fe226e26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悩み0題">
            <a:extLst xmlns:a="http://schemas.openxmlformats.org/drawingml/2006/main">
              <a:ext uri="{FF2B5EF4-FFF2-40B4-BE49-F238E27FC236}">
                <a16:creationId xmlns:a16="http://schemas.microsoft.com/office/drawing/2014/main" id="{3A132DE8-DD81-492B-A246-37B8F5ED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案件の選択肢が少ない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悩み0文">
            <a:extLst xmlns:a="http://schemas.openxmlformats.org/drawingml/2006/main">
              <a:ext uri="{FF2B5EF4-FFF2-40B4-BE49-F238E27FC236}">
                <a16:creationId xmlns:a16="http://schemas.microsoft.com/office/drawing/2014/main" id="{F7D43283-5920-4295-9179-D88C5DC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案件は個別に待つしかなく、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合う案件に出会いにくい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悩み1カード">
            <a:extLst xmlns:a="http://schemas.openxmlformats.org/drawingml/2006/main">
              <a:ext uri="{FF2B5EF4-FFF2-40B4-BE49-F238E27FC236}">
                <a16:creationId xmlns:a16="http://schemas.microsoft.com/office/drawing/2014/main" id="{4E837392-105A-46F2-B247-62F73FB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悩み1円">
            <a:extLst xmlns:a="http://schemas.openxmlformats.org/drawingml/2006/main">
              <a:ext uri="{FF2B5EF4-FFF2-40B4-BE49-F238E27FC236}">
                <a16:creationId xmlns:a16="http://schemas.microsoft.com/office/drawing/2014/main" id="{548D8F87-2392-4563-B855-ABD2723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悩み1アイコン">
            <a:extLst xmlns:a="http://schemas.openxmlformats.org/drawingml/2006/main">
              <a:ext uri="{FF2B5EF4-FFF2-40B4-BE49-F238E27FC236}">
                <a16:creationId xmlns:a16="http://schemas.microsoft.com/office/drawing/2014/main" id="{E23829C1-9272-4C5F-BC6C-682EB2F45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c4a843740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悩み1題">
            <a:extLst xmlns:a="http://schemas.openxmlformats.org/drawingml/2006/main">
              <a:ext uri="{FF2B5EF4-FFF2-40B4-BE49-F238E27FC236}">
                <a16:creationId xmlns:a16="http://schemas.microsoft.com/office/drawing/2014/main" id="{6CC98E58-15DE-4314-92B7-9F238B8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人が足りず、取りこぼす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悩み1文">
            <a:extLst xmlns:a="http://schemas.openxmlformats.org/drawingml/2006/main">
              <a:ext uri="{FF2B5EF4-FFF2-40B4-BE49-F238E27FC236}">
                <a16:creationId xmlns:a16="http://schemas.microsoft.com/office/drawing/2014/main" id="{A1F7574C-A5F9-4C93-94F1-D1A7CA9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せっかくの案件に、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出せるエンジニアがいない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悩み2カード">
            <a:extLst xmlns:a="http://schemas.openxmlformats.org/drawingml/2006/main">
              <a:ext uri="{FF2B5EF4-FFF2-40B4-BE49-F238E27FC236}">
                <a16:creationId xmlns:a16="http://schemas.microsoft.com/office/drawing/2014/main" id="{140454E9-B2E1-48D8-8E97-2DD54F2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悩み2円">
            <a:extLst xmlns:a="http://schemas.openxmlformats.org/drawingml/2006/main">
              <a:ext uri="{FF2B5EF4-FFF2-40B4-BE49-F238E27FC236}">
                <a16:creationId xmlns:a16="http://schemas.microsoft.com/office/drawing/2014/main" id="{382C0F04-4D18-478E-9B45-9A78951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7" name="悩み2アイコン">
            <a:extLst xmlns:a="http://schemas.openxmlformats.org/drawingml/2006/main">
              <a:ext uri="{FF2B5EF4-FFF2-40B4-BE49-F238E27FC236}">
                <a16:creationId xmlns:a16="http://schemas.microsoft.com/office/drawing/2014/main" id="{8A86C1A1-6686-4C39-A5FC-2785F5242B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d3193bd16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悩み2題">
            <a:extLst xmlns:a="http://schemas.openxmlformats.org/drawingml/2006/main">
              <a:ext uri="{FF2B5EF4-FFF2-40B4-BE49-F238E27FC236}">
                <a16:creationId xmlns:a16="http://schemas.microsoft.com/office/drawing/2014/main" id="{19434B8F-674A-4E08-8E33-A4291CA7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書類・面談で落ちる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9" name="悩み2文">
            <a:extLst xmlns:a="http://schemas.openxmlformats.org/drawingml/2006/main">
              <a:ext uri="{FF2B5EF4-FFF2-40B4-BE49-F238E27FC236}">
                <a16:creationId xmlns:a16="http://schemas.microsoft.com/office/drawing/2014/main" id="{3008BC41-F0AE-4C1C-B4C6-E39AACD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スキルシートや受け答えの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準備が追いつかない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0" name="悩み3カード">
            <a:extLst xmlns:a="http://schemas.openxmlformats.org/drawingml/2006/main">
              <a:ext uri="{FF2B5EF4-FFF2-40B4-BE49-F238E27FC236}">
                <a16:creationId xmlns:a16="http://schemas.microsoft.com/office/drawing/2014/main" id="{87060EAA-1FB1-4345-AEC3-7B8FC5A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悩み3円">
            <a:extLst xmlns:a="http://schemas.openxmlformats.org/drawingml/2006/main">
              <a:ext uri="{FF2B5EF4-FFF2-40B4-BE49-F238E27FC236}">
                <a16:creationId xmlns:a16="http://schemas.microsoft.com/office/drawing/2014/main" id="{D1198070-20D7-479C-8943-7A78019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悩み3アイコン">
            <a:extLst xmlns:a="http://schemas.openxmlformats.org/drawingml/2006/main">
              <a:ext uri="{FF2B5EF4-FFF2-40B4-BE49-F238E27FC236}">
                <a16:creationId xmlns:a16="http://schemas.microsoft.com/office/drawing/2014/main" id="{23AEB0DE-438C-463C-AB47-BEADF1F29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b2537f2c040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悩み3題">
            <a:extLst xmlns:a="http://schemas.openxmlformats.org/drawingml/2006/main">
              <a:ext uri="{FF2B5EF4-FFF2-40B4-BE49-F238E27FC236}">
                <a16:creationId xmlns:a16="http://schemas.microsoft.com/office/drawing/2014/main" id="{8CE6F708-06AE-40E3-BAE1-635226F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ノウハウがたまらない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4" name="悩み3文">
            <a:extLst xmlns:a="http://schemas.openxmlformats.org/drawingml/2006/main">
              <a:ext uri="{FF2B5EF4-FFF2-40B4-BE49-F238E27FC236}">
                <a16:creationId xmlns:a16="http://schemas.microsoft.com/office/drawing/2014/main" id="{A22147E1-F2E6-43E0-AF0B-A235105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落ちた理由も、通った型も、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社内に残らない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5" name="解決帯">
            <a:extLst xmlns:a="http://schemas.openxmlformats.org/drawingml/2006/main">
              <a:ext uri="{FF2B5EF4-FFF2-40B4-BE49-F238E27FC236}">
                <a16:creationId xmlns:a16="http://schemas.microsoft.com/office/drawing/2014/main" id="{667F6612-73B3-466A-97A0-6CC7897C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案件・人材・応募支援をつなぐ仕組みをご提案します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29284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01EE16-739E-4555-BF6A-D1D7781E683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応募から成約までの準備と効果検証を支援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D05FC1-8A33-420C-80FC-3E7F2053C49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14" name="グラフ注記">
            <a:extLst xmlns:a="http://schemas.openxmlformats.org/drawingml/2006/main">
              <a:ext uri="{FF2B5EF4-FFF2-40B4-BE49-F238E27FC236}">
                <a16:creationId xmlns:a16="http://schemas.microsoft.com/office/drawing/2014/main" id="{70FF0310-5289-435C-95D2-E2BF688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3000"/>
            <a:ext cx="3251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導入前後の実績を比較し、効果を確認します</a:t>
            </a:r>
            <a:endParaRPr sz="10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6" name="見出し今">
            <a:extLst xmlns:a="http://schemas.openxmlformats.org/drawingml/2006/main">
              <a:ext uri="{FF2B5EF4-FFF2-40B4-BE49-F238E27FC236}">
                <a16:creationId xmlns:a16="http://schemas.microsoft.com/office/drawing/2014/main" id="{BB023A56-10B7-4637-8576-3CB7DCD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2200"/>
            <a:ext cx="177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E6E6E"/>
                </a:solidFill>
                <a:latin typeface="Meiryo"/>
                <a:ea typeface="Meiryo"/>
                <a:cs typeface="Meiryo"/>
              </a:rPr>
              <a:t>これまで</a:t>
            </a:r>
            <a:endParaRPr sz="1100" b="1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7" name="見出し後">
            <a:extLst xmlns:a="http://schemas.openxmlformats.org/drawingml/2006/main">
              <a:ext uri="{FF2B5EF4-FFF2-40B4-BE49-F238E27FC236}">
                <a16:creationId xmlns:a16="http://schemas.microsoft.com/office/drawing/2014/main" id="{30105586-D882-43D6-B605-63984EC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92200"/>
            <a:ext cx="274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このシステムで</a:t>
            </a:r>
            <a:endParaRPr sz="11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今0">
            <a:extLst xmlns:a="http://schemas.openxmlformats.org/drawingml/2006/main">
              <a:ext uri="{FF2B5EF4-FFF2-40B4-BE49-F238E27FC236}">
                <a16:creationId xmlns:a16="http://schemas.microsoft.com/office/drawing/2014/main" id="{297359FC-47BE-4700-AB42-982DEEA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462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合わない人を出す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改善矢印0">
            <a:extLst xmlns:a="http://schemas.openxmlformats.org/drawingml/2006/main">
              <a:ext uri="{FF2B5EF4-FFF2-40B4-BE49-F238E27FC236}">
                <a16:creationId xmlns:a16="http://schemas.microsoft.com/office/drawing/2014/main" id="{F1238645-45B8-49DF-9B1E-F3CEAEA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5113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後0">
            <a:extLst xmlns:a="http://schemas.openxmlformats.org/drawingml/2006/main">
              <a:ext uri="{FF2B5EF4-FFF2-40B4-BE49-F238E27FC236}">
                <a16:creationId xmlns:a16="http://schemas.microsoft.com/office/drawing/2014/main" id="{75EEF49C-08CB-4069-A362-B247486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3462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後0円">
            <a:extLst xmlns:a="http://schemas.openxmlformats.org/drawingml/2006/main">
              <a:ext uri="{FF2B5EF4-FFF2-40B4-BE49-F238E27FC236}">
                <a16:creationId xmlns:a16="http://schemas.microsoft.com/office/drawing/2014/main" id="{FA36D012-11D6-4E79-BF35-1F21E84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43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3" name="後0アイコン">
            <a:extLst xmlns:a="http://schemas.openxmlformats.org/drawingml/2006/main">
              <a:ext uri="{FF2B5EF4-FFF2-40B4-BE49-F238E27FC236}">
                <a16:creationId xmlns:a16="http://schemas.microsoft.com/office/drawing/2014/main" id="{23627E57-722C-4E44-8554-823E85872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fa491ede7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367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22" name="後0文">
            <a:extLst xmlns:a="http://schemas.openxmlformats.org/drawingml/2006/main">
              <a:ext uri="{FF2B5EF4-FFF2-40B4-BE49-F238E27FC236}">
                <a16:creationId xmlns:a16="http://schemas.microsoft.com/office/drawing/2014/main" id="{D104406B-CAAB-48E3-8E52-C29DFFF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461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いちばん合う人を選ぶ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今1">
            <a:extLst xmlns:a="http://schemas.openxmlformats.org/drawingml/2006/main">
              <a:ext uri="{FF2B5EF4-FFF2-40B4-BE49-F238E27FC236}">
                <a16:creationId xmlns:a16="http://schemas.microsoft.com/office/drawing/2014/main" id="{05F9261A-7B28-4514-A221-B4A68F6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66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書類で落ちる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改善矢印1">
            <a:extLst xmlns:a="http://schemas.openxmlformats.org/drawingml/2006/main">
              <a:ext uri="{FF2B5EF4-FFF2-40B4-BE49-F238E27FC236}">
                <a16:creationId xmlns:a16="http://schemas.microsoft.com/office/drawing/2014/main" id="{1354B2EA-7A42-4DE9-9A0F-D028972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171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後1">
            <a:extLst xmlns:a="http://schemas.openxmlformats.org/drawingml/2006/main">
              <a:ext uri="{FF2B5EF4-FFF2-40B4-BE49-F238E27FC236}">
                <a16:creationId xmlns:a16="http://schemas.microsoft.com/office/drawing/2014/main" id="{F2513FAB-F60A-4294-9F71-D318698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0066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後1円">
            <a:extLst xmlns:a="http://schemas.openxmlformats.org/drawingml/2006/main">
              <a:ext uri="{FF2B5EF4-FFF2-40B4-BE49-F238E27FC236}">
                <a16:creationId xmlns:a16="http://schemas.microsoft.com/office/drawing/2014/main" id="{170D8CA6-34BE-4C7D-8C61-9847874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後1アイコン">
            <a:extLst xmlns:a="http://schemas.openxmlformats.org/drawingml/2006/main">
              <a:ext uri="{FF2B5EF4-FFF2-40B4-BE49-F238E27FC236}">
                <a16:creationId xmlns:a16="http://schemas.microsoft.com/office/drawing/2014/main" id="{3FBD4F6C-6121-4A6E-9462-D1F094EE4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de60391f445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197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0" name="後1文">
            <a:extLst xmlns:a="http://schemas.openxmlformats.org/drawingml/2006/main">
              <a:ext uri="{FF2B5EF4-FFF2-40B4-BE49-F238E27FC236}">
                <a16:creationId xmlns:a16="http://schemas.microsoft.com/office/drawing/2014/main" id="{5864A1DD-9C12-4F22-848E-80A3BE6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65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理想のスキルシートを作る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1" name="今2">
            <a:extLst xmlns:a="http://schemas.openxmlformats.org/drawingml/2006/main">
              <a:ext uri="{FF2B5EF4-FFF2-40B4-BE49-F238E27FC236}">
                <a16:creationId xmlns:a16="http://schemas.microsoft.com/office/drawing/2014/main" id="{D5E0CBCA-504A-4F2A-864D-439BEBC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面談で落ちる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2" name="改善矢印2">
            <a:extLst xmlns:a="http://schemas.openxmlformats.org/drawingml/2006/main">
              <a:ext uri="{FF2B5EF4-FFF2-40B4-BE49-F238E27FC236}">
                <a16:creationId xmlns:a16="http://schemas.microsoft.com/office/drawing/2014/main" id="{8A3DF1A3-7859-48AD-85F9-831030A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8321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後2">
            <a:extLst xmlns:a="http://schemas.openxmlformats.org/drawingml/2006/main">
              <a:ext uri="{FF2B5EF4-FFF2-40B4-BE49-F238E27FC236}">
                <a16:creationId xmlns:a16="http://schemas.microsoft.com/office/drawing/2014/main" id="{510AAF63-57E2-4FFF-B85A-5AC1229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670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後2円">
            <a:extLst xmlns:a="http://schemas.openxmlformats.org/drawingml/2006/main">
              <a:ext uri="{FF2B5EF4-FFF2-40B4-BE49-F238E27FC236}">
                <a16:creationId xmlns:a16="http://schemas.microsoft.com/office/drawing/2014/main" id="{A0836E6A-7118-46EF-B309-8CE5FF7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755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5" name="後2アイコン">
            <a:extLst xmlns:a="http://schemas.openxmlformats.org/drawingml/2006/main">
              <a:ext uri="{FF2B5EF4-FFF2-40B4-BE49-F238E27FC236}">
                <a16:creationId xmlns:a16="http://schemas.microsoft.com/office/drawing/2014/main" id="{3C480C78-D4D6-4911-B1FF-989E5FC27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2186bd1d642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8575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6" name="後2文">
            <a:extLst xmlns:a="http://schemas.openxmlformats.org/drawingml/2006/main">
              <a:ext uri="{FF2B5EF4-FFF2-40B4-BE49-F238E27FC236}">
                <a16:creationId xmlns:a16="http://schemas.microsoft.com/office/drawing/2014/main" id="{1DAA7AA3-7A46-4F6E-AE43-9F36127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69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面談対策の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Q&amp;A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で準備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7" name="今3">
            <a:extLst xmlns:a="http://schemas.openxmlformats.org/drawingml/2006/main">
              <a:ext uri="{FF2B5EF4-FFF2-40B4-BE49-F238E27FC236}">
                <a16:creationId xmlns:a16="http://schemas.microsoft.com/office/drawing/2014/main" id="{7B551BC5-6F03-4F3F-93BD-08E54B7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74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落ちた理由が残らない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改善矢印3">
            <a:extLst xmlns:a="http://schemas.openxmlformats.org/drawingml/2006/main">
              <a:ext uri="{FF2B5EF4-FFF2-40B4-BE49-F238E27FC236}">
                <a16:creationId xmlns:a16="http://schemas.microsoft.com/office/drawing/2014/main" id="{30B71788-0862-49F4-890F-7EF92B4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492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後3">
            <a:extLst xmlns:a="http://schemas.openxmlformats.org/drawingml/2006/main">
              <a:ext uri="{FF2B5EF4-FFF2-40B4-BE49-F238E27FC236}">
                <a16:creationId xmlns:a16="http://schemas.microsoft.com/office/drawing/2014/main" id="{08FD2501-E7A1-4AC8-A510-FED8634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274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後3円">
            <a:extLst xmlns:a="http://schemas.openxmlformats.org/drawingml/2006/main">
              <a:ext uri="{FF2B5EF4-FFF2-40B4-BE49-F238E27FC236}">
                <a16:creationId xmlns:a16="http://schemas.microsoft.com/office/drawing/2014/main" id="{93E0FD99-AEA2-4189-ABDE-B5B9881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1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1" name="後3アイコン">
            <a:extLst xmlns:a="http://schemas.openxmlformats.org/drawingml/2006/main">
              <a:ext uri="{FF2B5EF4-FFF2-40B4-BE49-F238E27FC236}">
                <a16:creationId xmlns:a16="http://schemas.microsoft.com/office/drawing/2014/main" id="{FA69042B-EA46-42D9-888B-7FA92B640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fe6f11b4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5179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42" name="後3文">
            <a:extLst xmlns:a="http://schemas.openxmlformats.org/drawingml/2006/main">
              <a:ext uri="{FF2B5EF4-FFF2-40B4-BE49-F238E27FC236}">
                <a16:creationId xmlns:a16="http://schemas.microsoft.com/office/drawing/2014/main" id="{11986946-729A-48C8-B0AD-99EC3F8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73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結果をためて次に活かす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3" name="決まる帯">
            <a:extLst xmlns:a="http://schemas.openxmlformats.org/drawingml/2006/main">
              <a:ext uri="{FF2B5EF4-FFF2-40B4-BE49-F238E27FC236}">
                <a16:creationId xmlns:a16="http://schemas.microsoft.com/office/drawing/2014/main" id="{F3FB01FB-13B2-4115-9E45-A6CC978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8229600" cy="508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応募数・面談数・成約数を記録して検証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成約率ラベル">
            <a:extLst xmlns:a="http://schemas.openxmlformats.org/drawingml/2006/main">
              <a:ext uri="{FF2B5EF4-FFF2-40B4-BE49-F238E27FC236}">
                <a16:creationId xmlns:a16="http://schemas.microsoft.com/office/drawing/2014/main" id="{D9000E45-0CD3-4965-B6D6-C6D9559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25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効果測定の指標</a:t>
            </a:r>
            <a:endParaRPr sz="12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成約率数字">
            <a:extLst xmlns:a="http://schemas.openxmlformats.org/drawingml/2006/main">
              <a:ext uri="{FF2B5EF4-FFF2-40B4-BE49-F238E27FC236}">
                <a16:creationId xmlns:a16="http://schemas.microsoft.com/office/drawing/2014/main" id="{318B5CE5-D92A-4153-8430-411D47C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5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成約までを計測</a:t>
            </a:r>
            <a:endParaRPr sz="14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4" name="測定項目">
            <a:extLst xmlns:a="http://schemas.openxmlformats.org/drawingml/2006/main">
              <a:ext uri="{FF2B5EF4-FFF2-40B4-BE49-F238E27FC236}">
                <a16:creationId xmlns:a16="http://schemas.microsoft.com/office/drawing/2014/main" id="{B453735C-B472-4CB2-86A5-264C3CC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5116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応募数・応募率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面談設定数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成約数・成約率</a:t>
            </a:r>
          </a:p>
        </p:txBody>
      </p:sp>
    </p:spTree>
    <p:extLst>
      <p:ext uri="{BB962C8B-B14F-4D97-AF65-F5344CB8AC3E}">
        <p14:creationId xmlns:p14="http://schemas.microsoft.com/office/powerpoint/2010/main" val="2081789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50A9ED-1A23-48EC-918B-5D48316DFBD7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案件を選び、応募準備へ進む画面</a:t>
            </a:r>
            <a:endParaRPr sz="28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E8792DE-B8C9-48FE-ADC8-3F1099C89B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36" name="画面イメージ注記">
            <a:extLst xmlns:a="http://schemas.openxmlformats.org/drawingml/2006/main">
              <a:ext uri="{FF2B5EF4-FFF2-40B4-BE49-F238E27FC236}">
                <a16:creationId xmlns:a16="http://schemas.microsoft.com/office/drawing/2014/main" id="{9E6EA592-0E5D-4F7A-9DDE-18D0469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画面イメージ（提案段階）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CF381-76DF-446B-8DE8-88A8DC736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fab12afe14292"/>
          <a:stretch xmlns:a="http://schemas.openxmlformats.org/drawingml/2006/main"/>
        </p:blipFill>
        <p:spPr>
          <a:xfrm xmlns:a="http://schemas.openxmlformats.org/drawingml/2006/main">
            <a:off x="413687" y="1304925"/>
            <a:ext cx="3630326" cy="2524125"/>
          </a:xfrm>
          <a:prstGeom xmlns:a="http://schemas.openxmlformats.org/drawingml/2006/main" prst="rect">
            <a:avLst/>
          </a:prstGeom>
        </p:spPr>
      </p:pic>
      <p:sp>
        <p:nvSpPr>
          <p:cNvPr id="38" name="画面フレーム">
            <a:extLst xmlns:a="http://schemas.openxmlformats.org/drawingml/2006/main">
              <a:ext uri="{FF2B5EF4-FFF2-40B4-BE49-F238E27FC236}">
                <a16:creationId xmlns:a16="http://schemas.microsoft.com/office/drawing/2014/main" id="{1814733C-B5B9-4C06-9005-A2764B4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81100"/>
            <a:ext cx="45910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E9F5"/>
            </a:solidFill>
            <a:prstDash val="solid"/>
          </a:ln>
        </p:spPr>
      </p:sp>
      <p:sp>
        <p:nvSpPr>
          <p:cNvPr id="39" name="アプリヘッダー">
            <a:extLst xmlns:a="http://schemas.openxmlformats.org/drawingml/2006/main">
              <a:ext uri="{FF2B5EF4-FFF2-40B4-BE49-F238E27FC236}">
                <a16:creationId xmlns:a16="http://schemas.microsoft.com/office/drawing/2014/main" id="{24E06F89-0D4E-4A45-863A-E2164F3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811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solidFill>
              <a:srgbClr val="2B4A6F"/>
            </a:solidFill>
            <a:prstDash val="solid"/>
          </a:ln>
        </p:spPr>
      </p:sp>
      <p:sp>
        <p:nvSpPr>
          <p:cNvPr id="40" name="ブランド名">
            <a:extLst xmlns:a="http://schemas.openxmlformats.org/drawingml/2006/main">
              <a:ext uri="{FF2B5EF4-FFF2-40B4-BE49-F238E27FC236}">
                <a16:creationId xmlns:a16="http://schemas.microsoft.com/office/drawing/2014/main" id="{8F38CDC9-D00F-4D6B-89D2-CA69580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Parks</a:t>
            </a:r>
          </a:p>
        </p:txBody>
      </p:sp>
      <p:sp>
        <p:nvSpPr>
          <p:cNvPr id="41" name="利用者表示">
            <a:extLst xmlns:a="http://schemas.openxmlformats.org/drawingml/2006/main">
              <a:ext uri="{FF2B5EF4-FFF2-40B4-BE49-F238E27FC236}">
                <a16:creationId xmlns:a16="http://schemas.microsoft.com/office/drawing/2014/main" id="{64F05F04-BE76-4C50-991B-AD91421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みなさま</a:t>
            </a:r>
          </a:p>
        </p:txBody>
      </p:sp>
      <p:sp>
        <p:nvSpPr>
          <p:cNvPr id="42" name="サイドメニュー背景">
            <a:extLst xmlns:a="http://schemas.openxmlformats.org/drawingml/2006/main">
              <a:ext uri="{FF2B5EF4-FFF2-40B4-BE49-F238E27FC236}">
                <a16:creationId xmlns:a16="http://schemas.microsoft.com/office/drawing/2014/main" id="{FA9AFC2D-3AB9-470E-AB4C-74123CDB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8953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選択メニュー背景">
            <a:extLst xmlns:a="http://schemas.openxmlformats.org/drawingml/2006/main">
              <a:ext uri="{FF2B5EF4-FFF2-40B4-BE49-F238E27FC236}">
                <a16:creationId xmlns:a16="http://schemas.microsoft.com/office/drawing/2014/main" id="{7174EBBA-E6B9-4D8F-905C-A2F2245C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57350"/>
            <a:ext cx="762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選択メニュー">
            <a:extLst xmlns:a="http://schemas.openxmlformats.org/drawingml/2006/main">
              <a:ext uri="{FF2B5EF4-FFF2-40B4-BE49-F238E27FC236}">
                <a16:creationId xmlns:a16="http://schemas.microsoft.com/office/drawing/2014/main" id="{C5817EBA-CDD8-4B54-97BA-249BD40D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5" name="人材メニュー">
            <a:extLst xmlns:a="http://schemas.openxmlformats.org/drawingml/2006/main">
              <a:ext uri="{FF2B5EF4-FFF2-40B4-BE49-F238E27FC236}">
                <a16:creationId xmlns:a16="http://schemas.microsoft.com/office/drawing/2014/main" id="{D30CA8B7-31EF-4E68-9B93-A297B66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43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人材情報</a:t>
            </a:r>
          </a:p>
        </p:txBody>
      </p:sp>
      <p:sp>
        <p:nvSpPr>
          <p:cNvPr id="46" name="応募状況メニュー">
            <a:extLst xmlns:a="http://schemas.openxmlformats.org/drawingml/2006/main">
              <a:ext uri="{FF2B5EF4-FFF2-40B4-BE49-F238E27FC236}">
                <a16:creationId xmlns:a16="http://schemas.microsoft.com/office/drawing/2014/main" id="{9CDA84E6-F04A-4095-9D62-D5A8CE1F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7" name="画面見出し">
            <a:extLst xmlns:a="http://schemas.openxmlformats.org/drawingml/2006/main">
              <a:ext uri="{FF2B5EF4-FFF2-40B4-BE49-F238E27FC236}">
                <a16:creationId xmlns:a16="http://schemas.microsoft.com/office/drawing/2014/main" id="{4F7D08FC-BEFB-48B7-8D4A-C4542EB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2877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案件を確認</a:t>
            </a:r>
          </a:p>
        </p:txBody>
      </p:sp>
      <p:sp>
        <p:nvSpPr>
          <p:cNvPr id="48" name="案件条件パネル">
            <a:extLst xmlns:a="http://schemas.openxmlformats.org/drawingml/2006/main">
              <a:ext uri="{FF2B5EF4-FFF2-40B4-BE49-F238E27FC236}">
                <a16:creationId xmlns:a16="http://schemas.microsoft.com/office/drawing/2014/main" id="{9C5361B3-F9F4-4F3A-91AE-5A33670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954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案件条件ラベル">
            <a:extLst xmlns:a="http://schemas.openxmlformats.org/drawingml/2006/main">
              <a:ext uri="{FF2B5EF4-FFF2-40B4-BE49-F238E27FC236}">
                <a16:creationId xmlns:a16="http://schemas.microsoft.com/office/drawing/2014/main" id="{4294512B-D818-4125-9BCD-BD1AFE9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335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募集内容・条件</a:t>
            </a:r>
          </a:p>
        </p:txBody>
      </p:sp>
      <p:sp>
        <p:nvSpPr>
          <p:cNvPr id="50" name="案件条件説明">
            <a:extLst xmlns:a="http://schemas.openxmlformats.org/drawingml/2006/main">
              <a:ext uri="{FF2B5EF4-FFF2-40B4-BE49-F238E27FC236}">
                <a16:creationId xmlns:a16="http://schemas.microsoft.com/office/drawing/2014/main" id="{3B022B63-4F30-4428-9C73-E176E06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050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仕事内容と必須スキルを確認</a:t>
            </a:r>
          </a:p>
        </p:txBody>
      </p:sp>
      <p:sp>
        <p:nvSpPr>
          <p:cNvPr id="51" name="候補者見出し">
            <a:extLst xmlns:a="http://schemas.openxmlformats.org/drawingml/2006/main">
              <a:ext uri="{FF2B5EF4-FFF2-40B4-BE49-F238E27FC236}">
                <a16:creationId xmlns:a16="http://schemas.microsoft.com/office/drawing/2014/main" id="{7E0770FA-6F4E-48BC-9946-FB1F7904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人材候補を選択</a:t>
            </a:r>
          </a:p>
        </p:txBody>
      </p:sp>
      <p:sp>
        <p:nvSpPr>
          <p:cNvPr id="52" name="候補者行1">
            <a:extLst xmlns:a="http://schemas.openxmlformats.org/drawingml/2006/main">
              <a:ext uri="{FF2B5EF4-FFF2-40B4-BE49-F238E27FC236}">
                <a16:creationId xmlns:a16="http://schemas.microsoft.com/office/drawing/2014/main" id="{58080522-02E5-45E2-9165-DAFA088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3429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9F5"/>
            </a:solidFill>
            <a:prstDash val="solid"/>
          </a:ln>
        </p:spPr>
      </p:sp>
      <p:sp>
        <p:nvSpPr>
          <p:cNvPr id="53" name="候補者選択1">
            <a:extLst xmlns:a="http://schemas.openxmlformats.org/drawingml/2006/main">
              <a:ext uri="{FF2B5EF4-FFF2-40B4-BE49-F238E27FC236}">
                <a16:creationId xmlns:a16="http://schemas.microsoft.com/office/drawing/2014/main" id="{A03D405B-D0D4-497B-8C1B-AD8FBB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54" name="候補者名1">
            <a:extLst xmlns:a="http://schemas.openxmlformats.org/drawingml/2006/main">
              <a:ext uri="{FF2B5EF4-FFF2-40B4-BE49-F238E27FC236}">
                <a16:creationId xmlns:a16="http://schemas.microsoft.com/office/drawing/2014/main" id="{A3A8B6ED-BB21-40F7-8E95-FA9F022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790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A</a:t>
            </a:r>
          </a:p>
        </p:txBody>
      </p:sp>
      <p:sp>
        <p:nvSpPr>
          <p:cNvPr id="55" name="候補者詳細1">
            <a:extLst xmlns:a="http://schemas.openxmlformats.org/drawingml/2006/main">
              <a:ext uri="{FF2B5EF4-FFF2-40B4-BE49-F238E27FC236}">
                <a16:creationId xmlns:a16="http://schemas.microsoft.com/office/drawing/2014/main" id="{492647CD-22D7-4513-8317-D334FD95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56" name="候補者状態1">
            <a:extLst xmlns:a="http://schemas.openxmlformats.org/drawingml/2006/main">
              <a:ext uri="{FF2B5EF4-FFF2-40B4-BE49-F238E27FC236}">
                <a16:creationId xmlns:a16="http://schemas.microsoft.com/office/drawing/2014/main" id="{1786C8D7-1392-4AFE-A27B-77017C7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57" name="候補者行2">
            <a:extLst xmlns:a="http://schemas.openxmlformats.org/drawingml/2006/main">
              <a:ext uri="{FF2B5EF4-FFF2-40B4-BE49-F238E27FC236}">
                <a16:creationId xmlns:a16="http://schemas.microsoft.com/office/drawing/2014/main" id="{981B789E-8C95-4264-A659-A01FD10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3429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8F1F9"/>
          </a:solidFill>
          <a:ln xmlns:a="http://schemas.openxmlformats.org/drawingml/2006/main" w="9525">
            <a:solidFill>
              <a:srgbClr val="4A7FB5"/>
            </a:solidFill>
            <a:prstDash val="solid"/>
          </a:ln>
        </p:spPr>
      </p:sp>
      <p:sp>
        <p:nvSpPr>
          <p:cNvPr id="58" name="候補者選択2">
            <a:extLst xmlns:a="http://schemas.openxmlformats.org/drawingml/2006/main">
              <a:ext uri="{FF2B5EF4-FFF2-40B4-BE49-F238E27FC236}">
                <a16:creationId xmlns:a16="http://schemas.microsoft.com/office/drawing/2014/main" id="{5248F78E-F687-4770-8C7D-32C8DB9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9525">
            <a:solidFill>
              <a:srgbClr val="4A7FB5"/>
            </a:solidFill>
            <a:prstDash val="solid"/>
          </a:ln>
        </p:spPr>
      </p:sp>
      <p:sp>
        <p:nvSpPr>
          <p:cNvPr id="59" name="選択マーク2">
            <a:extLst xmlns:a="http://schemas.openxmlformats.org/drawingml/2006/main">
              <a:ext uri="{FF2B5EF4-FFF2-40B4-BE49-F238E27FC236}">
                <a16:creationId xmlns:a16="http://schemas.microsoft.com/office/drawing/2014/main" id="{6C3F2AE6-A993-4E07-8041-8FC3B45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候補者名2">
            <a:extLst xmlns:a="http://schemas.openxmlformats.org/drawingml/2006/main">
              <a:ext uri="{FF2B5EF4-FFF2-40B4-BE49-F238E27FC236}">
                <a16:creationId xmlns:a16="http://schemas.microsoft.com/office/drawing/2014/main" id="{A1260CD7-7152-4AA4-AC04-5064BB57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790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B</a:t>
            </a:r>
          </a:p>
        </p:txBody>
      </p:sp>
      <p:sp>
        <p:nvSpPr>
          <p:cNvPr id="61" name="候補者詳細2">
            <a:extLst xmlns:a="http://schemas.openxmlformats.org/drawingml/2006/main">
              <a:ext uri="{FF2B5EF4-FFF2-40B4-BE49-F238E27FC236}">
                <a16:creationId xmlns:a16="http://schemas.microsoft.com/office/drawing/2014/main" id="{2E6721CF-90DE-46A7-9434-DC4968FF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2" name="候補者状態2">
            <a:extLst xmlns:a="http://schemas.openxmlformats.org/drawingml/2006/main">
              <a:ext uri="{FF2B5EF4-FFF2-40B4-BE49-F238E27FC236}">
                <a16:creationId xmlns:a16="http://schemas.microsoft.com/office/drawing/2014/main" id="{0AED2FBD-0BCB-4061-BFA9-6CE0300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788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88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</a:t>
            </a:r>
          </a:p>
        </p:txBody>
      </p:sp>
      <p:sp>
        <p:nvSpPr>
          <p:cNvPr id="63" name="応募準備背景">
            <a:extLst xmlns:a="http://schemas.openxmlformats.org/drawingml/2006/main">
              <a:ext uri="{FF2B5EF4-FFF2-40B4-BE49-F238E27FC236}">
                <a16:creationId xmlns:a16="http://schemas.microsoft.com/office/drawing/2014/main" id="{486900F9-6D1B-44E5-A86E-1C2BDC1F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応募準備説明">
            <a:extLst xmlns:a="http://schemas.openxmlformats.org/drawingml/2006/main">
              <a:ext uri="{FF2B5EF4-FFF2-40B4-BE49-F238E27FC236}">
                <a16:creationId xmlns:a16="http://schemas.microsoft.com/office/drawing/2014/main" id="{267DC18D-C962-4BDB-8990-73152883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52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スキルシート・面談対策Q&amp;A</a:t>
            </a:r>
          </a:p>
        </p:txBody>
      </p:sp>
      <p:sp>
        <p:nvSpPr>
          <p:cNvPr id="65" name="応募準備ボタン">
            <a:extLst xmlns:a="http://schemas.openxmlformats.org/drawingml/2006/main">
              <a:ext uri="{FF2B5EF4-FFF2-40B4-BE49-F238E27FC236}">
                <a16:creationId xmlns:a16="http://schemas.microsoft.com/office/drawing/2014/main" id="{BBF41E5D-B18A-4C9B-9902-B30B368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05225"/>
            <a:ext cx="1219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応募準備ボタン文字">
            <a:extLst xmlns:a="http://schemas.openxmlformats.org/drawingml/2006/main">
              <a:ext uri="{FF2B5EF4-FFF2-40B4-BE49-F238E27FC236}">
                <a16:creationId xmlns:a16="http://schemas.microsoft.com/office/drawing/2014/main" id="{653AA5BC-E235-41AE-ACC8-092E8776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433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応募準備へ</a:t>
            </a:r>
          </a:p>
        </p:txBody>
      </p:sp>
      <p:sp>
        <p:nvSpPr>
          <p:cNvPr id="67" name="利用の流れ">
            <a:extLst xmlns:a="http://schemas.openxmlformats.org/drawingml/2006/main">
              <a:ext uri="{FF2B5EF4-FFF2-40B4-BE49-F238E27FC236}">
                <a16:creationId xmlns:a16="http://schemas.microsoft.com/office/drawing/2014/main" id="{6E7DDA1F-B6CF-4313-A14E-338D15A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13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013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13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みなさまが候補を選び、エンジニアはスキルシートと面談対策Q&amp;Aを確認して応募</a:t>
            </a: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41EA8-32C6-43C1-B815-FFD363A13902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案件と人材をつなぎ、グループで提案機会を広げる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A285F97-2B11-4344-8701-0F191D6CCDD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14" name="仲間0">
            <a:extLst xmlns:a="http://schemas.openxmlformats.org/drawingml/2006/main">
              <a:ext uri="{FF2B5EF4-FFF2-40B4-BE49-F238E27FC236}">
                <a16:creationId xmlns:a16="http://schemas.microsoft.com/office/drawing/2014/main" id="{25BC46A4-292E-40CB-9DA0-1BE12C8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5" name="仲間1">
            <a:extLst xmlns:a="http://schemas.openxmlformats.org/drawingml/2006/main">
              <a:ext uri="{FF2B5EF4-FFF2-40B4-BE49-F238E27FC236}">
                <a16:creationId xmlns:a16="http://schemas.microsoft.com/office/drawing/2014/main" id="{AE89B932-6BE9-49B8-B102-E089C2F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58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6" name="仲間2">
            <a:extLst xmlns:a="http://schemas.openxmlformats.org/drawingml/2006/main">
              <a:ext uri="{FF2B5EF4-FFF2-40B4-BE49-F238E27FC236}">
                <a16:creationId xmlns:a16="http://schemas.microsoft.com/office/drawing/2014/main" id="{6817C1F1-F7AE-4F73-9FB1-47ED838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4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7" name="結束矢印1">
            <a:extLst xmlns:a="http://schemas.openxmlformats.org/drawingml/2006/main">
              <a:ext uri="{FF2B5EF4-FFF2-40B4-BE49-F238E27FC236}">
                <a16:creationId xmlns:a16="http://schemas.microsoft.com/office/drawing/2014/main" id="{D9ADB216-589B-41A3-A9F0-0A887CE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GP円">
            <a:extLst xmlns:a="http://schemas.openxmlformats.org/drawingml/2006/main">
              <a:ext uri="{FF2B5EF4-FFF2-40B4-BE49-F238E27FC236}">
                <a16:creationId xmlns:a16="http://schemas.microsoft.com/office/drawing/2014/main" id="{E97364F5-BAD7-45A6-BCE3-5A6C12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結束矢印2">
            <a:extLst xmlns:a="http://schemas.openxmlformats.org/drawingml/2006/main">
              <a:ext uri="{FF2B5EF4-FFF2-40B4-BE49-F238E27FC236}">
                <a16:creationId xmlns:a16="http://schemas.microsoft.com/office/drawing/2014/main" id="{916296A9-F836-4237-88D3-83C6665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案件0">
            <a:extLst xmlns:a="http://schemas.openxmlformats.org/drawingml/2006/main">
              <a:ext uri="{FF2B5EF4-FFF2-40B4-BE49-F238E27FC236}">
                <a16:creationId xmlns:a16="http://schemas.microsoft.com/office/drawing/2014/main" id="{C0183C29-D0F3-4074-92D3-0F7CC9E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1684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案件1">
            <a:extLst xmlns:a="http://schemas.openxmlformats.org/drawingml/2006/main">
              <a:ext uri="{FF2B5EF4-FFF2-40B4-BE49-F238E27FC236}">
                <a16:creationId xmlns:a16="http://schemas.microsoft.com/office/drawing/2014/main" id="{F151A781-B5DB-47D0-97DA-EFC4D4F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7272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案件2">
            <a:extLst xmlns:a="http://schemas.openxmlformats.org/drawingml/2006/main">
              <a:ext uri="{FF2B5EF4-FFF2-40B4-BE49-F238E27FC236}">
                <a16:creationId xmlns:a16="http://schemas.microsoft.com/office/drawing/2014/main" id="{1FFD0150-9D14-42BE-95D8-FBC2F60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2860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案件3">
            <a:extLst xmlns:a="http://schemas.openxmlformats.org/drawingml/2006/main">
              <a:ext uri="{FF2B5EF4-FFF2-40B4-BE49-F238E27FC236}">
                <a16:creationId xmlns:a16="http://schemas.microsoft.com/office/drawing/2014/main" id="{7241A846-F2A1-4786-ABA7-D8A5AFE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8448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結束説明">
            <a:extLst xmlns:a="http://schemas.openxmlformats.org/drawingml/2006/main">
              <a:ext uri="{FF2B5EF4-FFF2-40B4-BE49-F238E27FC236}">
                <a16:creationId xmlns:a16="http://schemas.microsoft.com/office/drawing/2014/main" id="{811D1F66-5C6D-4083-B55C-CE624A5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0599"/>
            <a:ext cx="4394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みなさまの案件と人材を、グループ内で共有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利点0">
            <a:extLst xmlns:a="http://schemas.openxmlformats.org/drawingml/2006/main">
              <a:ext uri="{FF2B5EF4-FFF2-40B4-BE49-F238E27FC236}">
                <a16:creationId xmlns:a16="http://schemas.microsoft.com/office/drawing/2014/main" id="{6E10B4A9-6611-4CFC-983F-83B761B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1684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利点0円">
            <a:extLst xmlns:a="http://schemas.openxmlformats.org/drawingml/2006/main">
              <a:ext uri="{FF2B5EF4-FFF2-40B4-BE49-F238E27FC236}">
                <a16:creationId xmlns:a16="http://schemas.microsoft.com/office/drawing/2014/main" id="{FBBD6D11-40EA-4DE9-A724-3FE4095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利点0アイコン">
            <a:extLst xmlns:a="http://schemas.openxmlformats.org/drawingml/2006/main">
              <a:ext uri="{FF2B5EF4-FFF2-40B4-BE49-F238E27FC236}">
                <a16:creationId xmlns:a16="http://schemas.microsoft.com/office/drawing/2014/main" id="{9B881555-43F0-4841-8F1D-3E8EC6759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5b442663f4b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4160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29" name="利点0文">
            <a:extLst xmlns:a="http://schemas.openxmlformats.org/drawingml/2006/main">
              <a:ext uri="{FF2B5EF4-FFF2-40B4-BE49-F238E27FC236}">
                <a16:creationId xmlns:a16="http://schemas.microsoft.com/office/drawing/2014/main" id="{1430FF79-4012-4724-AA29-0DCA28A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11683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単独では難しい案件も、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みなさまで協力して提案</a:t>
            </a:r>
          </a:p>
        </p:txBody>
      </p:sp>
      <p:sp>
        <p:nvSpPr>
          <p:cNvPr id="30" name="利点1">
            <a:extLst xmlns:a="http://schemas.openxmlformats.org/drawingml/2006/main">
              <a:ext uri="{FF2B5EF4-FFF2-40B4-BE49-F238E27FC236}">
                <a16:creationId xmlns:a16="http://schemas.microsoft.com/office/drawing/2014/main" id="{D01200A4-E1BB-400F-96F8-F54E780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0066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利点1円">
            <a:extLst xmlns:a="http://schemas.openxmlformats.org/drawingml/2006/main">
              <a:ext uri="{FF2B5EF4-FFF2-40B4-BE49-F238E27FC236}">
                <a16:creationId xmlns:a16="http://schemas.microsoft.com/office/drawing/2014/main" id="{77231901-DBC3-4348-B52D-5156717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利点1アイコン">
            <a:extLst xmlns:a="http://schemas.openxmlformats.org/drawingml/2006/main">
              <a:ext uri="{FF2B5EF4-FFF2-40B4-BE49-F238E27FC236}">
                <a16:creationId xmlns:a16="http://schemas.microsoft.com/office/drawing/2014/main" id="{0FE6BDA2-4228-4D3F-9556-8F5D6199E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b2b49f42641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542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3" name="利点1文">
            <a:extLst xmlns:a="http://schemas.openxmlformats.org/drawingml/2006/main">
              <a:ext uri="{FF2B5EF4-FFF2-40B4-BE49-F238E27FC236}">
                <a16:creationId xmlns:a16="http://schemas.microsoft.com/office/drawing/2014/main" id="{F1DEE283-0F56-43C0-B91B-E9C0A31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065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人材が不足する案件も、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仲間の人材と組んで提案</a:t>
            </a:r>
          </a:p>
        </p:txBody>
      </p:sp>
      <p:sp>
        <p:nvSpPr>
          <p:cNvPr id="34" name="利点2">
            <a:extLst xmlns:a="http://schemas.openxmlformats.org/drawingml/2006/main">
              <a:ext uri="{FF2B5EF4-FFF2-40B4-BE49-F238E27FC236}">
                <a16:creationId xmlns:a16="http://schemas.microsoft.com/office/drawing/2014/main" id="{7AD63BF7-F738-4D07-965B-1E71C8D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448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利点2円">
            <a:extLst xmlns:a="http://schemas.openxmlformats.org/drawingml/2006/main">
              <a:ext uri="{FF2B5EF4-FFF2-40B4-BE49-F238E27FC236}">
                <a16:creationId xmlns:a16="http://schemas.microsoft.com/office/drawing/2014/main" id="{E9F4EE69-4A8C-4C31-AAC4-18C2F1D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利点2アイコン">
            <a:extLst xmlns:a="http://schemas.openxmlformats.org/drawingml/2006/main">
              <a:ext uri="{FF2B5EF4-FFF2-40B4-BE49-F238E27FC236}">
                <a16:creationId xmlns:a16="http://schemas.microsoft.com/office/drawing/2014/main" id="{3FB5CBB3-4918-4BCE-A9B9-007E777C5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676f5696e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30924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7" name="利点2文">
            <a:extLst xmlns:a="http://schemas.openxmlformats.org/drawingml/2006/main">
              <a:ext uri="{FF2B5EF4-FFF2-40B4-BE49-F238E27FC236}">
                <a16:creationId xmlns:a16="http://schemas.microsoft.com/office/drawing/2014/main" id="{1B7E737C-4B3F-475B-8424-4CE3A1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8447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成約実績を重ね、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グループへの信頼を育てる</a:t>
            </a:r>
          </a:p>
        </p:txBody>
      </p:sp>
      <p:sp>
        <p:nvSpPr>
          <p:cNvPr id="38" name="結束帯">
            <a:extLst xmlns:a="http://schemas.openxmlformats.org/drawingml/2006/main">
              <a:ext uri="{FF2B5EF4-FFF2-40B4-BE49-F238E27FC236}">
                <a16:creationId xmlns:a16="http://schemas.microsoft.com/office/drawing/2014/main" id="{0CDBE450-E80B-46A3-89A2-D3C43D3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まずは案件共有の方法をご相談ください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2026-10-14T01:15:21.3000000Z</dcterms:created>
  <dcterms:modified xsi:type="dcterms:W3CDTF">2026-10-14T01:15:21.3000000Z</dcterms:modified>
</coreProperties>
</file>