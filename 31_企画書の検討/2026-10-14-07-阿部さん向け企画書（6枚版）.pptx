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2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表紙" id="{16485F92-9BE7-A7E3-EF36-B53A3307E266}">
          <p14:sldIdLst>
            <p14:sldId id="256"/>
          </p14:sldIdLst>
        </p14:section>
        <p14:section name="想い" id="{7266E59C-8B5F-5544-08A8-FD5768DE98E6}">
          <p14:sldIdLst>
            <p14:sldId id="257"/>
          </p14:sldIdLst>
        </p14:section>
        <p14:section name="提案" id="{324DDFFA-62CA-A420-7236-C5F9D4357CB5}">
          <p14:sldIdLst>
            <p14:sldId id="258"/>
          </p14:sldIdLst>
        </p14:section>
        <p14:section name="成約率" id="{2993A237-E66B-542D-54D3-D811AC81748A}">
          <p14:sldIdLst>
            <p14:sldId id="259"/>
            <p14:sldId id="262"/>
          </p14:sldIdLst>
        </p14:section>
        <p14:section name="費用と安心" id="{DF971B41-862A-4C3D-7727-EAC3FAB33B69}">
          <p14:sldIdLst/>
        </p14:section>
        <p14:section name="進め方" id="{472ACA0A-AF94-407A-ECF8-51B3B8D8D9D6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ja-JP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B4A6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B4A6F"/>
                </a:solidFill>
                <a:latin typeface="+mn-lt"/>
              </a:rPr>
              <a:t>応募に対する成約率  約2.2倍（仮）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今（仮）</c:v>
                </c:pt>
              </c:strCache>
            </c:strRef>
          </c:tx>
          <c:spPr>
            <a:solidFill>
              <a:srgbClr val="C9D8E8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2B4A6F"/>
                    </a:solidFill>
                    <a:latin typeface="+mn-lt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応募</c:v>
                </c:pt>
                <c:pt idx="1">
                  <c:v>書類通過</c:v>
                </c:pt>
                <c:pt idx="2">
                  <c:v>成約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30</c:v>
                </c:pt>
                <c:pt idx="2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GP（仮）</c:v>
                </c:pt>
              </c:strCache>
            </c:strRef>
          </c:tx>
          <c:spPr>
            <a:solidFill>
              <a:srgbClr val="4A7FB5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2B4A6F"/>
                    </a:solidFill>
                    <a:latin typeface="+mn-lt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応募</c:v>
                </c:pt>
                <c:pt idx="1">
                  <c:v>書類通過</c:v>
                </c:pt>
                <c:pt idx="2">
                  <c:v>成約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</c:v>
                </c:pt>
                <c:pt idx="1">
                  <c:v>45</c:v>
                </c:pt>
                <c:pt idx="2">
                  <c:v>20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3806208"/>
        <c:axId val="150851968"/>
      </c:barChart>
      <c:catAx>
        <c:axId val="138062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4A6F"/>
                </a:solidFill>
                <a:latin typeface="+mn-lt"/>
              </a:defRPr>
            </a:pPr>
            <a:endParaRPr lang="ja-JP"/>
          </a:p>
        </c:txPr>
        <c:crossAx val="150851968"/>
        <c:crosses val="autoZero"/>
        <c:auto val="1"/>
        <c:lblAlgn val="ctr"/>
        <c:lblOffset val="100"/>
        <c:noMultiLvlLbl val="1"/>
      </c:catAx>
      <c:valAx>
        <c:axId val="150851968"/>
        <c:scaling>
          <c:orientation val="minMax"/>
          <c:max val="12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138062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B4A6F"/>
              </a:solidFill>
              <a:latin typeface="+mn-lt"/>
              <a:cs typeface="+mn-lt"/>
            </a:defRPr>
          </a:pPr>
          <a:endParaRPr lang="ja-JP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EA6D06-0D78-437D-9F0D-905D6BD45671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9E745A-8430-431F-B969-4E42882C86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6561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mtClean="0"/>
              <a:t>システムの流れ（たたき台）。準備：</a:t>
            </a:r>
            <a:r>
              <a:rPr lang="en-US" altLang="ja-JP" smtClean="0"/>
              <a:t>1) </a:t>
            </a:r>
            <a:r>
              <a:rPr lang="ja-JP" altLang="en-US" smtClean="0"/>
              <a:t>ビジネスパートナーがエンジニアの基本情報を登録 </a:t>
            </a:r>
            <a:r>
              <a:rPr lang="en-US" altLang="ja-JP" smtClean="0"/>
              <a:t>2) </a:t>
            </a:r>
            <a:r>
              <a:rPr lang="ja-JP" altLang="en-US" smtClean="0"/>
              <a:t>エンジニアが自分の情報を登録し、やり取りしながら理想のスキルシートを作る。ここでひと区切り。案件ごと：</a:t>
            </a:r>
            <a:r>
              <a:rPr lang="en-US" altLang="ja-JP" smtClean="0"/>
              <a:t>3) </a:t>
            </a:r>
            <a:r>
              <a:rPr lang="ja-JP" altLang="en-US" smtClean="0"/>
              <a:t>案件が届き、システムが条件に合うエンジニアを選んで送る（所属先にも通知） </a:t>
            </a:r>
            <a:r>
              <a:rPr lang="en-US" altLang="ja-JP" smtClean="0"/>
              <a:t>4) </a:t>
            </a:r>
            <a:r>
              <a:rPr lang="ja-JP" altLang="en-US" smtClean="0"/>
              <a:t>エンジニアが応募 </a:t>
            </a:r>
            <a:r>
              <a:rPr lang="en-US" altLang="ja-JP" smtClean="0"/>
              <a:t>5) </a:t>
            </a:r>
            <a:r>
              <a:rPr lang="ja-JP" altLang="en-US" smtClean="0"/>
              <a:t>面談の依頼が入る。このとき面談対策の</a:t>
            </a:r>
            <a:r>
              <a:rPr lang="en-US" altLang="ja-JP" smtClean="0"/>
              <a:t>Q&amp;A</a:t>
            </a:r>
            <a:r>
              <a:rPr lang="ja-JP" altLang="en-US" smtClean="0"/>
              <a:t>を提案 </a:t>
            </a:r>
            <a:r>
              <a:rPr lang="en-US" altLang="ja-JP" smtClean="0"/>
              <a:t>6) </a:t>
            </a:r>
            <a:r>
              <a:rPr lang="ja-JP" altLang="en-US" smtClean="0"/>
              <a:t>面談→合格。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3B6E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188720"/>
            <a:ext cx="53035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2743200"/>
            <a:ext cx="53035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accent4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C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Parks（仮）｜阿部さん向け企画書（たたき台）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11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3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/>
          </p:nvPr>
        </p:nvSpPr>
        <p:spPr>
          <a:xfrm>
            <a:off x="548640" y="118872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Parks（仮）</a:t>
            </a:r>
            <a:endParaRPr lang="en-US" sz="4000" dirty="0"/>
          </a:p>
        </p:txBody>
      </p:sp>
      <p:sp>
        <p:nvSpPr>
          <p:cNvPr id="3" name="Text 1"/>
          <p:cNvSpPr>
            <a:spLocks noGrp="1"/>
          </p:cNvSpPr>
          <p:nvPr>
            <p:ph type="body" idx="102"/>
          </p:nvPr>
        </p:nvSpPr>
        <p:spPr>
          <a:xfrm>
            <a:off x="548640" y="2743200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4"/>
                </a:solidFill>
              </a:rPr>
              <a:t>ビジネスパートナーとエンジニアが、気楽に参加できる場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chemeClr val="accent4"/>
                </a:solidFill>
              </a:rPr>
              <a:t>エンジニアの成約率を、ぐっと上げる仕組み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chemeClr val="accent4"/>
                </a:solidFill>
              </a:rPr>
              <a:t>阿部さんへのご提案（たたき台）</a:t>
            </a:r>
            <a:endParaRPr lang="en-US" sz="16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accent4"/>
                </a:solidFill>
              </a:rPr>
              <a:t>2026年10月14日</a:t>
            </a:r>
            <a:endParaRPr lang="en-US" sz="1600" dirty="0"/>
          </a:p>
        </p:txBody>
      </p:sp>
      <p:sp>
        <p:nvSpPr>
          <p:cNvPr id="4" name="表紙円"/>
          <p:cNvSpPr/>
          <p:nvPr/>
        </p:nvSpPr>
        <p:spPr>
          <a:xfrm>
            <a:off x="6903720" y="1920240"/>
            <a:ext cx="1280160" cy="12801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表紙アイコン" descr="表紙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355" y="2201875"/>
            <a:ext cx="716890" cy="7168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このプロジェクトに賭ける私の想い</a:t>
            </a:r>
            <a:endParaRPr lang="en-US" sz="2800" dirty="0"/>
          </a:p>
        </p:txBody>
      </p:sp>
      <p:sp>
        <p:nvSpPr>
          <p:cNvPr id="3" name="想い1円"/>
          <p:cNvSpPr/>
          <p:nvPr/>
        </p:nvSpPr>
        <p:spPr>
          <a:xfrm>
            <a:off x="457200" y="12344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想い1アイコン" descr="想い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1375258"/>
            <a:ext cx="358445" cy="358445"/>
          </a:xfrm>
          <a:prstGeom prst="rect">
            <a:avLst/>
          </a:prstGeom>
        </p:spPr>
      </p:pic>
      <p:sp>
        <p:nvSpPr>
          <p:cNvPr id="5" name="想い文1"/>
          <p:cNvSpPr txBox="1"/>
          <p:nvPr/>
        </p:nvSpPr>
        <p:spPr>
          <a:xfrm>
            <a:off x="1325880" y="1234440"/>
            <a:ext cx="7360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ビジネスパートナーとエンジニアの、最適な環境を作りたい</a:t>
            </a:r>
            <a:endParaRPr lang="en-US" sz="1800" dirty="0"/>
          </a:p>
        </p:txBody>
      </p:sp>
      <p:sp>
        <p:nvSpPr>
          <p:cNvPr id="6" name="想い2円"/>
          <p:cNvSpPr/>
          <p:nvPr/>
        </p:nvSpPr>
        <p:spPr>
          <a:xfrm>
            <a:off x="457200" y="21031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想い2アイコン" descr="想い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8" y="2243938"/>
            <a:ext cx="358445" cy="358445"/>
          </a:xfrm>
          <a:prstGeom prst="rect">
            <a:avLst/>
          </a:prstGeom>
        </p:spPr>
      </p:pic>
      <p:sp>
        <p:nvSpPr>
          <p:cNvPr id="8" name="想い文2"/>
          <p:cNvSpPr txBox="1"/>
          <p:nvPr/>
        </p:nvSpPr>
        <p:spPr>
          <a:xfrm>
            <a:off x="1325880" y="2103120"/>
            <a:ext cx="7360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ビジネスパートナーの手間をなくし、快適な収益環境を作りたい</a:t>
            </a:r>
            <a:endParaRPr lang="en-US" sz="1800" dirty="0"/>
          </a:p>
        </p:txBody>
      </p:sp>
      <p:sp>
        <p:nvSpPr>
          <p:cNvPr id="9" name="想い3円"/>
          <p:cNvSpPr/>
          <p:nvPr/>
        </p:nvSpPr>
        <p:spPr>
          <a:xfrm>
            <a:off x="457200" y="2971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想い3アイコン" descr="想い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18" y="3112618"/>
            <a:ext cx="358445" cy="358445"/>
          </a:xfrm>
          <a:prstGeom prst="rect">
            <a:avLst/>
          </a:prstGeom>
        </p:spPr>
      </p:pic>
      <p:sp>
        <p:nvSpPr>
          <p:cNvPr id="11" name="想い文3"/>
          <p:cNvSpPr txBox="1"/>
          <p:nvPr/>
        </p:nvSpPr>
        <p:spPr>
          <a:xfrm>
            <a:off x="1325880" y="2971800"/>
            <a:ext cx="7360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エンジニアのビジネス環境を豊かにしたい</a:t>
            </a:r>
            <a:endParaRPr lang="en-US" sz="1800" dirty="0"/>
          </a:p>
        </p:txBody>
      </p:sp>
      <p:sp>
        <p:nvSpPr>
          <p:cNvPr id="12" name="経験帯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経験文"/>
          <p:cNvSpPr txBox="1"/>
          <p:nvPr/>
        </p:nvSpPr>
        <p:spPr>
          <a:xfrm>
            <a:off x="457200" y="3840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エンジニアを15年以上続けてきた私だから、提案できます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現場の課題を、ビジネスパートナーの束ねで解く</a:t>
            </a:r>
            <a:endParaRPr lang="en-US" sz="2800" dirty="0"/>
          </a:p>
        </p:txBody>
      </p:sp>
      <p:sp>
        <p:nvSpPr>
          <p:cNvPr id="3" name="ビジネスパートナーカード"/>
          <p:cNvSpPr/>
          <p:nvPr/>
        </p:nvSpPr>
        <p:spPr>
          <a:xfrm>
            <a:off x="457200" y="1188720"/>
            <a:ext cx="374904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BP円"/>
          <p:cNvSpPr/>
          <p:nvPr/>
        </p:nvSpPr>
        <p:spPr>
          <a:xfrm>
            <a:off x="594360" y="12801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BPアイコン" descr="B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886" y="1370686"/>
            <a:ext cx="230429" cy="230429"/>
          </a:xfrm>
          <a:prstGeom prst="rect">
            <a:avLst/>
          </a:prstGeom>
        </p:spPr>
      </p:pic>
      <p:sp>
        <p:nvSpPr>
          <p:cNvPr id="6" name="BP題"/>
          <p:cNvSpPr txBox="1"/>
          <p:nvPr/>
        </p:nvSpPr>
        <p:spPr>
          <a:xfrm>
            <a:off x="1097280" y="1280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ビジネスパートナー</a:t>
            </a:r>
            <a:endParaRPr lang="en-US" sz="1600" dirty="0"/>
          </a:p>
        </p:txBody>
      </p:sp>
      <p:sp>
        <p:nvSpPr>
          <p:cNvPr id="7" name="BP本文"/>
          <p:cNvSpPr txBox="1"/>
          <p:nvPr/>
        </p:nvSpPr>
        <p:spPr>
          <a:xfrm>
            <a:off x="640080" y="178308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案件は個別に待ち、連携は友人どうし。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人が足りず、取りこぼしも出る。</a:t>
            </a:r>
            <a:endParaRPr lang="en-US" sz="1400" dirty="0"/>
          </a:p>
        </p:txBody>
      </p:sp>
      <p:sp>
        <p:nvSpPr>
          <p:cNvPr id="8" name="エンジニアカード"/>
          <p:cNvSpPr/>
          <p:nvPr/>
        </p:nvSpPr>
        <p:spPr>
          <a:xfrm>
            <a:off x="457200" y="2560320"/>
            <a:ext cx="374904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EG円"/>
          <p:cNvSpPr/>
          <p:nvPr/>
        </p:nvSpPr>
        <p:spPr>
          <a:xfrm>
            <a:off x="594360" y="26517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EGアイコン" descr="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86" y="2742286"/>
            <a:ext cx="230429" cy="230429"/>
          </a:xfrm>
          <a:prstGeom prst="rect">
            <a:avLst/>
          </a:prstGeom>
        </p:spPr>
      </p:pic>
      <p:sp>
        <p:nvSpPr>
          <p:cNvPr id="11" name="EG題"/>
          <p:cNvSpPr txBox="1"/>
          <p:nvPr/>
        </p:nvSpPr>
        <p:spPr>
          <a:xfrm>
            <a:off x="1097280" y="2651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エンジニア</a:t>
            </a:r>
            <a:endParaRPr lang="en-US" sz="1600" dirty="0"/>
          </a:p>
        </p:txBody>
      </p:sp>
      <p:sp>
        <p:nvSpPr>
          <p:cNvPr id="12" name="EG本文"/>
          <p:cNvSpPr txBox="1"/>
          <p:nvPr/>
        </p:nvSpPr>
        <p:spPr>
          <a:xfrm>
            <a:off x="640080" y="315468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孤独になりやすく、知識が残りにくい。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案件の選択肢は、所属先の中だけ。</a:t>
            </a:r>
            <a:endParaRPr lang="en-US" sz="1400" dirty="0"/>
          </a:p>
        </p:txBody>
      </p:sp>
      <p:sp>
        <p:nvSpPr>
          <p:cNvPr id="13" name="箱1"/>
          <p:cNvSpPr/>
          <p:nvPr/>
        </p:nvSpPr>
        <p:spPr>
          <a:xfrm>
            <a:off x="4434840" y="1188720"/>
            <a:ext cx="141732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箱文1"/>
          <p:cNvSpPr txBox="1"/>
          <p:nvPr/>
        </p:nvSpPr>
        <p:spPr>
          <a:xfrm>
            <a:off x="4434840" y="11887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パートナーA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エンジニア多数</a:t>
            </a:r>
            <a:endParaRPr lang="en-US" sz="1400" dirty="0"/>
          </a:p>
        </p:txBody>
      </p:sp>
      <p:sp>
        <p:nvSpPr>
          <p:cNvPr id="15" name="箱2"/>
          <p:cNvSpPr/>
          <p:nvPr/>
        </p:nvSpPr>
        <p:spPr>
          <a:xfrm>
            <a:off x="4434840" y="1920240"/>
            <a:ext cx="141732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箱文2"/>
          <p:cNvSpPr txBox="1"/>
          <p:nvPr/>
        </p:nvSpPr>
        <p:spPr>
          <a:xfrm>
            <a:off x="4434840" y="192024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パートナーB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エンジニア多数</a:t>
            </a:r>
            <a:endParaRPr lang="en-US" sz="1400" dirty="0"/>
          </a:p>
        </p:txBody>
      </p:sp>
      <p:sp>
        <p:nvSpPr>
          <p:cNvPr id="17" name="箱3"/>
          <p:cNvSpPr/>
          <p:nvPr/>
        </p:nvSpPr>
        <p:spPr>
          <a:xfrm>
            <a:off x="4434840" y="2651760"/>
            <a:ext cx="141732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箱文3"/>
          <p:cNvSpPr txBox="1"/>
          <p:nvPr/>
        </p:nvSpPr>
        <p:spPr>
          <a:xfrm>
            <a:off x="4434840" y="26517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パートナーC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エンジニア多数</a:t>
            </a:r>
            <a:endParaRPr lang="en-US" sz="1400" dirty="0"/>
          </a:p>
        </p:txBody>
      </p:sp>
      <p:sp>
        <p:nvSpPr>
          <p:cNvPr id="19" name="矢印1"/>
          <p:cNvSpPr/>
          <p:nvPr/>
        </p:nvSpPr>
        <p:spPr>
          <a:xfrm>
            <a:off x="5897880" y="2011680"/>
            <a:ext cx="274320" cy="36576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GP円"/>
          <p:cNvSpPr/>
          <p:nvPr/>
        </p:nvSpPr>
        <p:spPr>
          <a:xfrm>
            <a:off x="6217920" y="1463040"/>
            <a:ext cx="1325880" cy="1325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GP文"/>
          <p:cNvSpPr txBox="1"/>
          <p:nvPr/>
        </p:nvSpPr>
        <p:spPr>
          <a:xfrm>
            <a:off x="6217920" y="146304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GP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（グループ）</a:t>
            </a:r>
            <a:endParaRPr lang="en-US" sz="1400" dirty="0"/>
          </a:p>
        </p:txBody>
      </p:sp>
      <p:sp>
        <p:nvSpPr>
          <p:cNvPr id="22" name="矢印2"/>
          <p:cNvSpPr/>
          <p:nvPr/>
        </p:nvSpPr>
        <p:spPr>
          <a:xfrm>
            <a:off x="7589520" y="2011680"/>
            <a:ext cx="274320" cy="36576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案件箱"/>
          <p:cNvSpPr/>
          <p:nvPr/>
        </p:nvSpPr>
        <p:spPr>
          <a:xfrm>
            <a:off x="7909560" y="1645920"/>
            <a:ext cx="777240" cy="96012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案件文"/>
          <p:cNvSpPr txBox="1"/>
          <p:nvPr/>
        </p:nvSpPr>
        <p:spPr>
          <a:xfrm>
            <a:off x="7909560" y="1645920"/>
            <a:ext cx="777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</a:t>
            </a:r>
            <a:endParaRPr lang="en-US" sz="1400" dirty="0"/>
          </a:p>
        </p:txBody>
      </p:sp>
      <p:sp>
        <p:nvSpPr>
          <p:cNvPr id="25" name="GP説明"/>
          <p:cNvSpPr txBox="1"/>
          <p:nvPr/>
        </p:nvSpPr>
        <p:spPr>
          <a:xfrm>
            <a:off x="4434840" y="329184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GPに来た案件を、全エンジニアの中から、いちばん合う人に結びつけます。</a:t>
            </a:r>
            <a:endParaRPr lang="en-US" sz="1400" dirty="0"/>
          </a:p>
        </p:txBody>
      </p:sp>
      <p:sp>
        <p:nvSpPr>
          <p:cNvPr id="26" name="メッセージ帯"/>
          <p:cNvSpPr/>
          <p:nvPr/>
        </p:nvSpPr>
        <p:spPr>
          <a:xfrm>
            <a:off x="457200" y="3977640"/>
            <a:ext cx="8229600" cy="594360"/>
          </a:xfrm>
          <a:prstGeom prst="roundRect">
            <a:avLst>
              <a:gd name="adj" fmla="val 1846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メッセージ文"/>
          <p:cNvSpPr txBox="1"/>
          <p:nvPr/>
        </p:nvSpPr>
        <p:spPr>
          <a:xfrm>
            <a:off x="457200" y="3977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ビジネスパートナーを束ねれば、案件も人も、もっと活かせます</a:t>
            </a:r>
            <a:endParaRPr lang="en-US" sz="16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エンジニアの成約率が、ぐっと上がる仕組み</a:t>
            </a:r>
            <a:endParaRPr lang="en-US" sz="2800" dirty="0"/>
          </a:p>
        </p:txBody>
      </p:sp>
      <p:graphicFrame>
        <p:nvGraphicFramePr>
          <p:cNvPr id="3" name="成約率グラフ"/>
          <p:cNvGraphicFramePr/>
          <p:nvPr/>
        </p:nvGraphicFramePr>
        <p:xfrm>
          <a:off x="457200" y="1097280"/>
          <a:ext cx="393192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成約率注記"/>
          <p:cNvSpPr txBox="1"/>
          <p:nvPr/>
        </p:nvSpPr>
        <p:spPr>
          <a:xfrm>
            <a:off x="457200" y="36118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8C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イメージです（仮の数字）。実際は記録して測ります。</a:t>
            </a:r>
            <a:endParaRPr lang="en-US" sz="1100" dirty="0"/>
          </a:p>
        </p:txBody>
      </p:sp>
      <p:sp>
        <p:nvSpPr>
          <p:cNvPr id="5" name="てこカード1"/>
          <p:cNvSpPr/>
          <p:nvPr/>
        </p:nvSpPr>
        <p:spPr>
          <a:xfrm>
            <a:off x="4617720" y="1143000"/>
            <a:ext cx="406908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6" name="てこ1円"/>
          <p:cNvSpPr/>
          <p:nvPr/>
        </p:nvSpPr>
        <p:spPr>
          <a:xfrm>
            <a:off x="4754880" y="1280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てこ1アイコン" descr="てこ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5522" y="1390802"/>
            <a:ext cx="281635" cy="281635"/>
          </a:xfrm>
          <a:prstGeom prst="rect">
            <a:avLst/>
          </a:prstGeom>
        </p:spPr>
      </p:pic>
      <p:sp>
        <p:nvSpPr>
          <p:cNvPr id="8" name="てこ題1"/>
          <p:cNvSpPr txBox="1"/>
          <p:nvPr/>
        </p:nvSpPr>
        <p:spPr>
          <a:xfrm>
            <a:off x="5440680" y="1216152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誰を出すか</a:t>
            </a:r>
            <a:endParaRPr lang="en-US" sz="1400" dirty="0"/>
          </a:p>
        </p:txBody>
      </p:sp>
      <p:sp>
        <p:nvSpPr>
          <p:cNvPr id="9" name="てこ文1"/>
          <p:cNvSpPr txBox="1"/>
          <p:nvPr/>
        </p:nvSpPr>
        <p:spPr>
          <a:xfrm>
            <a:off x="5440680" y="15361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全員の中から、いちばん合う人を選ぶ</a:t>
            </a:r>
            <a:endParaRPr lang="en-US" sz="1200" dirty="0"/>
          </a:p>
        </p:txBody>
      </p:sp>
      <p:sp>
        <p:nvSpPr>
          <p:cNvPr id="10" name="てこカード2"/>
          <p:cNvSpPr/>
          <p:nvPr/>
        </p:nvSpPr>
        <p:spPr>
          <a:xfrm>
            <a:off x="4617720" y="2011680"/>
            <a:ext cx="406908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1" name="てこ2円"/>
          <p:cNvSpPr/>
          <p:nvPr/>
        </p:nvSpPr>
        <p:spPr>
          <a:xfrm>
            <a:off x="4754880" y="21488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てこ2アイコン" descr="てこ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5522" y="2259482"/>
            <a:ext cx="281635" cy="281635"/>
          </a:xfrm>
          <a:prstGeom prst="rect">
            <a:avLst/>
          </a:prstGeom>
        </p:spPr>
      </p:pic>
      <p:sp>
        <p:nvSpPr>
          <p:cNvPr id="13" name="てこ題2"/>
          <p:cNvSpPr txBox="1"/>
          <p:nvPr/>
        </p:nvSpPr>
        <p:spPr>
          <a:xfrm>
            <a:off x="5440680" y="2084832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出し方</a:t>
            </a:r>
            <a:endParaRPr lang="en-US" sz="1400" dirty="0"/>
          </a:p>
        </p:txBody>
      </p:sp>
      <p:sp>
        <p:nvSpPr>
          <p:cNvPr id="14" name="てこ文2"/>
          <p:cNvSpPr txBox="1"/>
          <p:nvPr/>
        </p:nvSpPr>
        <p:spPr>
          <a:xfrm>
            <a:off x="5440680" y="240487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案件別のスキルシートと推薦コメント</a:t>
            </a:r>
            <a:endParaRPr lang="en-US" sz="1200" dirty="0"/>
          </a:p>
        </p:txBody>
      </p:sp>
      <p:sp>
        <p:nvSpPr>
          <p:cNvPr id="15" name="てこカード3"/>
          <p:cNvSpPr/>
          <p:nvPr/>
        </p:nvSpPr>
        <p:spPr>
          <a:xfrm>
            <a:off x="4617720" y="2880360"/>
            <a:ext cx="406908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6" name="てこ3円"/>
          <p:cNvSpPr/>
          <p:nvPr/>
        </p:nvSpPr>
        <p:spPr>
          <a:xfrm>
            <a:off x="4754880" y="3017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てこ3アイコン" descr="てこ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5522" y="3128162"/>
            <a:ext cx="281635" cy="281635"/>
          </a:xfrm>
          <a:prstGeom prst="rect">
            <a:avLst/>
          </a:prstGeom>
        </p:spPr>
      </p:pic>
      <p:sp>
        <p:nvSpPr>
          <p:cNvPr id="18" name="てこ題3"/>
          <p:cNvSpPr txBox="1"/>
          <p:nvPr/>
        </p:nvSpPr>
        <p:spPr>
          <a:xfrm>
            <a:off x="5440680" y="2953512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面談での勝ち方</a:t>
            </a:r>
            <a:endParaRPr lang="en-US" sz="1400" dirty="0"/>
          </a:p>
        </p:txBody>
      </p:sp>
      <p:sp>
        <p:nvSpPr>
          <p:cNvPr id="19" name="てこ文3"/>
          <p:cNvSpPr txBox="1"/>
          <p:nvPr/>
        </p:nvSpPr>
        <p:spPr>
          <a:xfrm>
            <a:off x="5440680" y="32735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想定質問・模擬面談・経験の「型」</a:t>
            </a:r>
            <a:endParaRPr lang="en-US" sz="1200" dirty="0"/>
          </a:p>
        </p:txBody>
      </p:sp>
      <p:sp>
        <p:nvSpPr>
          <p:cNvPr id="20" name="ループ帯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1" name="ループ円"/>
          <p:cNvSpPr/>
          <p:nvPr/>
        </p:nvSpPr>
        <p:spPr>
          <a:xfrm>
            <a:off x="594360" y="4023360"/>
            <a:ext cx="502920" cy="502920"/>
          </a:xfrm>
          <a:prstGeom prst="ellipse">
            <a:avLst/>
          </a:prstGeom>
          <a:solidFill>
            <a:srgbClr val="F5B971"/>
          </a:solidFill>
          <a:ln w="12700">
            <a:solidFill>
              <a:srgbClr val="F5B971"/>
            </a:solidFill>
            <a:prstDash val="solid"/>
          </a:ln>
        </p:spPr>
      </p:sp>
      <p:pic>
        <p:nvPicPr>
          <p:cNvPr id="22" name="ループアイコン" descr="ループ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002" y="4134002"/>
            <a:ext cx="281635" cy="281635"/>
          </a:xfrm>
          <a:prstGeom prst="rect">
            <a:avLst/>
          </a:prstGeom>
        </p:spPr>
      </p:pic>
      <p:sp>
        <p:nvSpPr>
          <p:cNvPr id="23" name="ループ題"/>
          <p:cNvSpPr txBox="1"/>
          <p:nvPr/>
        </p:nvSpPr>
        <p:spPr>
          <a:xfrm>
            <a:off x="1188720" y="39319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使うほど上がる</a:t>
            </a:r>
            <a:endParaRPr lang="en-US" sz="1400" dirty="0"/>
          </a:p>
        </p:txBody>
      </p:sp>
      <p:sp>
        <p:nvSpPr>
          <p:cNvPr id="24" name="ループ札1"/>
          <p:cNvSpPr/>
          <p:nvPr/>
        </p:nvSpPr>
        <p:spPr>
          <a:xfrm>
            <a:off x="2743200" y="4069080"/>
            <a:ext cx="1188720" cy="411480"/>
          </a:xfrm>
          <a:prstGeom prst="roundRect">
            <a:avLst>
              <a:gd name="adj" fmla="val 44444"/>
            </a:avLst>
          </a:prstGeom>
          <a:solidFill>
            <a:schemeClr val="accent4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5" name="ループ札文1"/>
          <p:cNvSpPr txBox="1"/>
          <p:nvPr/>
        </p:nvSpPr>
        <p:spPr>
          <a:xfrm>
            <a:off x="2743200" y="40690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結果を記録</a:t>
            </a:r>
            <a:endParaRPr lang="en-US" sz="1100" dirty="0"/>
          </a:p>
        </p:txBody>
      </p:sp>
      <p:sp>
        <p:nvSpPr>
          <p:cNvPr id="26" name="ループ矢印1"/>
          <p:cNvSpPr/>
          <p:nvPr/>
        </p:nvSpPr>
        <p:spPr>
          <a:xfrm>
            <a:off x="3950208" y="4160520"/>
            <a:ext cx="237744" cy="22860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7" name="ループ札2"/>
          <p:cNvSpPr/>
          <p:nvPr/>
        </p:nvSpPr>
        <p:spPr>
          <a:xfrm>
            <a:off x="4224528" y="4069080"/>
            <a:ext cx="1188720" cy="411480"/>
          </a:xfrm>
          <a:prstGeom prst="roundRect">
            <a:avLst>
              <a:gd name="adj" fmla="val 44444"/>
            </a:avLst>
          </a:prstGeom>
          <a:solidFill>
            <a:schemeClr val="accent4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8" name="ループ札文2"/>
          <p:cNvSpPr txBox="1"/>
          <p:nvPr/>
        </p:nvSpPr>
        <p:spPr>
          <a:xfrm>
            <a:off x="4224528" y="40690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型にして蓄積</a:t>
            </a:r>
            <a:endParaRPr lang="en-US" sz="1100" dirty="0"/>
          </a:p>
        </p:txBody>
      </p:sp>
      <p:sp>
        <p:nvSpPr>
          <p:cNvPr id="29" name="ループ矢印2"/>
          <p:cNvSpPr/>
          <p:nvPr/>
        </p:nvSpPr>
        <p:spPr>
          <a:xfrm>
            <a:off x="5431536" y="4160520"/>
            <a:ext cx="237744" cy="22860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0" name="ループ札3"/>
          <p:cNvSpPr/>
          <p:nvPr/>
        </p:nvSpPr>
        <p:spPr>
          <a:xfrm>
            <a:off x="5705856" y="4069080"/>
            <a:ext cx="1188720" cy="411480"/>
          </a:xfrm>
          <a:prstGeom prst="roundRect">
            <a:avLst>
              <a:gd name="adj" fmla="val 44444"/>
            </a:avLst>
          </a:prstGeom>
          <a:solidFill>
            <a:schemeClr val="accent4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1" name="ループ札文3"/>
          <p:cNvSpPr txBox="1"/>
          <p:nvPr/>
        </p:nvSpPr>
        <p:spPr>
          <a:xfrm>
            <a:off x="5705856" y="40690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全員に共有</a:t>
            </a:r>
            <a:endParaRPr lang="en-US" sz="1100" dirty="0"/>
          </a:p>
        </p:txBody>
      </p:sp>
      <p:sp>
        <p:nvSpPr>
          <p:cNvPr id="32" name="ループ矢印3"/>
          <p:cNvSpPr/>
          <p:nvPr/>
        </p:nvSpPr>
        <p:spPr>
          <a:xfrm>
            <a:off x="6912864" y="4160520"/>
            <a:ext cx="237744" cy="22860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3" name="ループ札4"/>
          <p:cNvSpPr/>
          <p:nvPr/>
        </p:nvSpPr>
        <p:spPr>
          <a:xfrm>
            <a:off x="7187184" y="4069080"/>
            <a:ext cx="1188720" cy="411480"/>
          </a:xfrm>
          <a:prstGeom prst="roundRect">
            <a:avLst>
              <a:gd name="adj" fmla="val 44444"/>
            </a:avLst>
          </a:prstGeom>
          <a:solidFill>
            <a:schemeClr val="accent4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4" name="ループ札文4"/>
          <p:cNvSpPr txBox="1"/>
          <p:nvPr/>
        </p:nvSpPr>
        <p:spPr>
          <a:xfrm>
            <a:off x="7187184" y="40690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成約率が上がる</a:t>
            </a:r>
            <a:endParaRPr lang="en-US" sz="11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登録から合格までの流れ</a:t>
            </a:r>
            <a:endParaRPr lang="en-US" sz="28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36" name="準備ラベル"/>
          <p:cNvSpPr/>
          <p:nvPr/>
        </p:nvSpPr>
        <p:spPr>
          <a:xfrm>
            <a:off x="457200" y="1143000"/>
            <a:ext cx="838200" cy="1270000"/>
          </a:xfrm>
          <a:prstGeom prst="roundRect">
            <a:avLst>
              <a:gd name="adj" fmla="val 12000"/>
            </a:avLst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kumimoji="1" lang="ja-JP" altLang="en-US" sz="1500" b="1" dirty="0" smtClean="0">
                <a:solidFill>
                  <a:srgbClr val="FFFFFF"/>
                </a:solidFill>
                <a:latin typeface="Meiryo"/>
                <a:ea typeface="Meiryo"/>
              </a:rPr>
              <a:t>準備</a:t>
            </a:r>
          </a:p>
          <a:p>
            <a:pPr algn="ctr"/>
            <a:r>
              <a:rPr kumimoji="1" lang="ja-JP" altLang="en-US" sz="1000" dirty="0" smtClean="0">
                <a:solidFill>
                  <a:srgbClr val="FFFFFF"/>
                </a:solidFill>
                <a:latin typeface="Meiryo"/>
                <a:ea typeface="Meiryo"/>
              </a:rPr>
              <a:t>最初に</a:t>
            </a:r>
            <a:r>
              <a:rPr kumimoji="1" lang="en-US" altLang="ja-JP" sz="1000" dirty="0" smtClean="0">
                <a:solidFill>
                  <a:srgbClr val="FFFFFF"/>
                </a:solidFill>
                <a:latin typeface="Meiryo"/>
                <a:ea typeface="Meiryo"/>
              </a:rPr>
              <a:t>1</a:t>
            </a:r>
            <a:r>
              <a:rPr kumimoji="1" lang="ja-JP" altLang="en-US" sz="1000" dirty="0" smtClean="0">
                <a:solidFill>
                  <a:srgbClr val="FFFFFF"/>
                </a:solidFill>
                <a:latin typeface="Meiryo"/>
                <a:ea typeface="Meiryo"/>
              </a:rPr>
              <a:t>回</a:t>
            </a:r>
            <a:endParaRPr kumimoji="1" lang="en-US" altLang="ja-JP" sz="1000" dirty="0">
              <a:solidFill>
                <a:srgbClr val="FFFFFF"/>
              </a:solidFill>
              <a:latin typeface="Meiryo"/>
              <a:ea typeface="Meiryo"/>
            </a:endParaRPr>
          </a:p>
        </p:txBody>
      </p:sp>
      <p:sp>
        <p:nvSpPr>
          <p:cNvPr id="37" name="手順1カード"/>
          <p:cNvSpPr/>
          <p:nvPr/>
        </p:nvSpPr>
        <p:spPr>
          <a:xfrm>
            <a:off x="1397000" y="1143000"/>
            <a:ext cx="2463800" cy="12700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手順1円"/>
          <p:cNvSpPr/>
          <p:nvPr/>
        </p:nvSpPr>
        <p:spPr>
          <a:xfrm>
            <a:off x="1549400" y="1320800"/>
            <a:ext cx="533400" cy="5334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9" name="手順1アイコン" descr="B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100" y="1460500"/>
            <a:ext cx="254000" cy="254000"/>
          </a:xfrm>
          <a:prstGeom prst="rect">
            <a:avLst/>
          </a:prstGeom>
        </p:spPr>
      </p:pic>
      <p:sp>
        <p:nvSpPr>
          <p:cNvPr id="40" name="手順1番号"/>
          <p:cNvSpPr/>
          <p:nvPr/>
        </p:nvSpPr>
        <p:spPr>
          <a:xfrm>
            <a:off x="1473200" y="1244600"/>
            <a:ext cx="228600" cy="2286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000" b="1" dirty="0" smtClean="0">
                <a:solidFill>
                  <a:srgbClr val="4A7FB5"/>
                </a:solidFill>
                <a:latin typeface="Meiryo"/>
                <a:ea typeface="Meiryo"/>
              </a:rPr>
              <a:t>1</a:t>
            </a:r>
            <a:endParaRPr kumimoji="1" lang="en-US" altLang="ja-JP" sz="1000" b="1" dirty="0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41" name="手順1題"/>
          <p:cNvSpPr txBox="1"/>
          <p:nvPr/>
        </p:nvSpPr>
        <p:spPr>
          <a:xfrm>
            <a:off x="2184400" y="1295399"/>
            <a:ext cx="16002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1200" b="1" dirty="0" smtClean="0">
                <a:solidFill>
                  <a:srgbClr val="4A7FB5"/>
                </a:solidFill>
                <a:latin typeface="Meiryo"/>
                <a:ea typeface="Meiryo"/>
              </a:rPr>
              <a:t>ビジネスパートナー</a:t>
            </a:r>
          </a:p>
          <a:p>
            <a:r>
              <a:rPr kumimoji="1" lang="ja-JP" altLang="en-US" sz="1200" b="1" dirty="0" smtClean="0">
                <a:solidFill>
                  <a:srgbClr val="4A7FB5"/>
                </a:solidFill>
                <a:latin typeface="Meiryo"/>
                <a:ea typeface="Meiryo"/>
              </a:rPr>
              <a:t>が登録</a:t>
            </a:r>
            <a:endParaRPr kumimoji="1" lang="en-US" altLang="ja-JP" sz="1200" b="1" dirty="0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42" name="手順1文"/>
          <p:cNvSpPr txBox="1"/>
          <p:nvPr/>
        </p:nvSpPr>
        <p:spPr>
          <a:xfrm>
            <a:off x="1549400" y="1955799"/>
            <a:ext cx="2159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100" dirty="0" smtClean="0">
                <a:solidFill>
                  <a:srgbClr val="2B4A6F"/>
                </a:solidFill>
                <a:latin typeface="Meiryo"/>
                <a:ea typeface="Meiryo"/>
              </a:rPr>
              <a:t>エンジニアの基本情報を入力</a:t>
            </a:r>
            <a:endParaRPr kumimoji="1" lang="en-US" altLang="ja-JP" sz="1100" dirty="0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43" name="矢印1"/>
          <p:cNvSpPr/>
          <p:nvPr/>
        </p:nvSpPr>
        <p:spPr>
          <a:xfrm>
            <a:off x="3911600" y="1663700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手順2カード"/>
          <p:cNvSpPr/>
          <p:nvPr/>
        </p:nvSpPr>
        <p:spPr>
          <a:xfrm>
            <a:off x="4216400" y="1143000"/>
            <a:ext cx="2463800" cy="12700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手順2円"/>
          <p:cNvSpPr/>
          <p:nvPr/>
        </p:nvSpPr>
        <p:spPr>
          <a:xfrm>
            <a:off x="4368800" y="1320800"/>
            <a:ext cx="533400" cy="5334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6" name="手順2アイコン" descr="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8500" y="1460500"/>
            <a:ext cx="254000" cy="254000"/>
          </a:xfrm>
          <a:prstGeom prst="rect">
            <a:avLst/>
          </a:prstGeom>
        </p:spPr>
      </p:pic>
      <p:sp>
        <p:nvSpPr>
          <p:cNvPr id="47" name="手順2番号"/>
          <p:cNvSpPr/>
          <p:nvPr/>
        </p:nvSpPr>
        <p:spPr>
          <a:xfrm>
            <a:off x="4292600" y="1244600"/>
            <a:ext cx="228600" cy="2286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000" b="1" dirty="0" smtClean="0">
                <a:solidFill>
                  <a:srgbClr val="4A7FB5"/>
                </a:solidFill>
                <a:latin typeface="Meiryo"/>
                <a:ea typeface="Meiryo"/>
              </a:rPr>
              <a:t>2</a:t>
            </a:r>
            <a:endParaRPr kumimoji="1" lang="en-US" altLang="ja-JP" sz="1000" b="1" dirty="0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48" name="手順2題"/>
          <p:cNvSpPr txBox="1"/>
          <p:nvPr/>
        </p:nvSpPr>
        <p:spPr>
          <a:xfrm>
            <a:off x="5003800" y="1295399"/>
            <a:ext cx="16002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1200" b="1" dirty="0" smtClean="0">
                <a:solidFill>
                  <a:srgbClr val="4A7FB5"/>
                </a:solidFill>
                <a:latin typeface="Meiryo"/>
                <a:ea typeface="Meiryo"/>
              </a:rPr>
              <a:t>エンジニアが登録</a:t>
            </a:r>
            <a:endParaRPr kumimoji="1" lang="en-US" altLang="ja-JP" sz="1200" b="1" dirty="0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49" name="手順2文"/>
          <p:cNvSpPr txBox="1"/>
          <p:nvPr/>
        </p:nvSpPr>
        <p:spPr>
          <a:xfrm>
            <a:off x="4368800" y="1955799"/>
            <a:ext cx="2159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100" dirty="0" smtClean="0">
                <a:solidFill>
                  <a:srgbClr val="2B4A6F"/>
                </a:solidFill>
                <a:latin typeface="Meiryo"/>
                <a:ea typeface="Meiryo"/>
              </a:rPr>
              <a:t>経歴・スキルを入力し、</a:t>
            </a:r>
          </a:p>
          <a:p>
            <a:r>
              <a:rPr kumimoji="1" lang="ja-JP" altLang="en-US" sz="1100" dirty="0" smtClean="0">
                <a:solidFill>
                  <a:srgbClr val="2B4A6F"/>
                </a:solidFill>
                <a:latin typeface="Meiryo"/>
                <a:ea typeface="Meiryo"/>
              </a:rPr>
              <a:t>やり取りしながら仕上げる</a:t>
            </a:r>
            <a:endParaRPr kumimoji="1" lang="en-US" altLang="ja-JP" sz="1100" dirty="0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50" name="矢印2"/>
          <p:cNvSpPr/>
          <p:nvPr/>
        </p:nvSpPr>
        <p:spPr>
          <a:xfrm>
            <a:off x="6731000" y="1663700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成果カード"/>
          <p:cNvSpPr/>
          <p:nvPr/>
        </p:nvSpPr>
        <p:spPr>
          <a:xfrm>
            <a:off x="7035800" y="1143000"/>
            <a:ext cx="1651000" cy="1270000"/>
          </a:xfrm>
          <a:prstGeom prst="roundRect">
            <a:avLst>
              <a:gd name="adj" fmla="val 12000"/>
            </a:avLst>
          </a:prstGeom>
          <a:solidFill>
            <a:srgbClr val="F5B971"/>
          </a:solidFill>
          <a:ln w="12700">
            <a:solidFill>
              <a:srgbClr val="F5B9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成果円"/>
          <p:cNvSpPr/>
          <p:nvPr/>
        </p:nvSpPr>
        <p:spPr>
          <a:xfrm>
            <a:off x="7569200" y="1244600"/>
            <a:ext cx="584200" cy="5842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3" name="成果アイコン" descr="てこ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1600" y="1397000"/>
            <a:ext cx="279400" cy="279400"/>
          </a:xfrm>
          <a:prstGeom prst="rect">
            <a:avLst/>
          </a:prstGeom>
        </p:spPr>
      </p:pic>
      <p:sp>
        <p:nvSpPr>
          <p:cNvPr id="54" name="成果文"/>
          <p:cNvSpPr txBox="1"/>
          <p:nvPr/>
        </p:nvSpPr>
        <p:spPr>
          <a:xfrm>
            <a:off x="7112000" y="1879599"/>
            <a:ext cx="14986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ja-JP" altLang="en-US" sz="1200" b="1" dirty="0" smtClean="0">
                <a:solidFill>
                  <a:srgbClr val="2B4A6F"/>
                </a:solidFill>
                <a:latin typeface="Meiryo"/>
                <a:ea typeface="Meiryo"/>
              </a:rPr>
              <a:t>理想の</a:t>
            </a:r>
          </a:p>
          <a:p>
            <a:pPr algn="ctr"/>
            <a:r>
              <a:rPr kumimoji="1" lang="ja-JP" altLang="en-US" sz="1200" b="1" dirty="0" smtClean="0">
                <a:solidFill>
                  <a:srgbClr val="2B4A6F"/>
                </a:solidFill>
                <a:latin typeface="Meiryo"/>
                <a:ea typeface="Meiryo"/>
              </a:rPr>
              <a:t>スキルシートが完成</a:t>
            </a:r>
            <a:endParaRPr kumimoji="1" lang="en-US" altLang="ja-JP" sz="1200" b="1" dirty="0">
              <a:solidFill>
                <a:srgbClr val="2B4A6F"/>
              </a:solidFill>
              <a:latin typeface="Meiryo"/>
              <a:ea typeface="Meiryo"/>
            </a:endParaRPr>
          </a:p>
        </p:txBody>
      </p:sp>
      <p:cxnSp>
        <p:nvCxnSpPr>
          <p:cNvPr id="55" name="区切り線"/>
          <p:cNvCxnSpPr/>
          <p:nvPr/>
        </p:nvCxnSpPr>
        <p:spPr>
          <a:xfrm>
            <a:off x="457200" y="2527300"/>
            <a:ext cx="8229600" cy="0"/>
          </a:xfrm>
          <a:prstGeom prst="line">
            <a:avLst/>
          </a:prstGeom>
          <a:ln w="15875">
            <a:solidFill>
              <a:srgbClr val="8DB8D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区切り文"/>
          <p:cNvSpPr txBox="1"/>
          <p:nvPr/>
        </p:nvSpPr>
        <p:spPr>
          <a:xfrm>
            <a:off x="3810000" y="2425700"/>
            <a:ext cx="1524000" cy="2032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ja-JP" altLang="en-US" sz="1000" dirty="0" smtClean="0">
                <a:solidFill>
                  <a:srgbClr val="7A8CA3"/>
                </a:solidFill>
                <a:latin typeface="Meiryo"/>
                <a:ea typeface="Meiryo"/>
              </a:rPr>
              <a:t>ここでひと区切り</a:t>
            </a:r>
            <a:endParaRPr kumimoji="1" lang="en-US" altLang="ja-JP" sz="1000" dirty="0">
              <a:solidFill>
                <a:srgbClr val="7A8CA3"/>
              </a:solidFill>
              <a:latin typeface="Meiryo"/>
              <a:ea typeface="Meiryo"/>
            </a:endParaRPr>
          </a:p>
        </p:txBody>
      </p:sp>
      <p:sp>
        <p:nvSpPr>
          <p:cNvPr id="57" name="案件ラベル"/>
          <p:cNvSpPr/>
          <p:nvPr/>
        </p:nvSpPr>
        <p:spPr>
          <a:xfrm>
            <a:off x="457200" y="2641600"/>
            <a:ext cx="838200" cy="1422400"/>
          </a:xfrm>
          <a:prstGeom prst="roundRect">
            <a:avLst>
              <a:gd name="adj" fmla="val 12000"/>
            </a:avLst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kumimoji="1" lang="ja-JP" altLang="en-US" sz="1500" b="1" dirty="0" smtClean="0">
                <a:solidFill>
                  <a:srgbClr val="FFFFFF"/>
                </a:solidFill>
                <a:latin typeface="Meiryo"/>
                <a:ea typeface="Meiryo"/>
              </a:rPr>
              <a:t>案件</a:t>
            </a:r>
          </a:p>
          <a:p>
            <a:pPr algn="ctr"/>
            <a:r>
              <a:rPr kumimoji="1" lang="ja-JP" altLang="en-US" sz="1000" dirty="0" smtClean="0">
                <a:solidFill>
                  <a:srgbClr val="FFFFFF"/>
                </a:solidFill>
                <a:latin typeface="Meiryo"/>
                <a:ea typeface="Meiryo"/>
              </a:rPr>
              <a:t>届くたびに</a:t>
            </a:r>
            <a:endParaRPr kumimoji="1" lang="en-US" altLang="ja-JP" sz="1000" dirty="0">
              <a:solidFill>
                <a:srgbClr val="FFFFFF"/>
              </a:solidFill>
              <a:latin typeface="Meiryo"/>
              <a:ea typeface="Meiryo"/>
            </a:endParaRPr>
          </a:p>
        </p:txBody>
      </p:sp>
      <p:sp>
        <p:nvSpPr>
          <p:cNvPr id="58" name="手順3カード"/>
          <p:cNvSpPr/>
          <p:nvPr/>
        </p:nvSpPr>
        <p:spPr>
          <a:xfrm>
            <a:off x="1397000" y="2641600"/>
            <a:ext cx="1549400" cy="14224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手順3円"/>
          <p:cNvSpPr/>
          <p:nvPr/>
        </p:nvSpPr>
        <p:spPr>
          <a:xfrm>
            <a:off x="1905000" y="2768600"/>
            <a:ext cx="533400" cy="5334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0" name="手順3アイコン" descr="てこ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4700" y="2908300"/>
            <a:ext cx="254000" cy="254000"/>
          </a:xfrm>
          <a:prstGeom prst="rect">
            <a:avLst/>
          </a:prstGeom>
        </p:spPr>
      </p:pic>
      <p:sp>
        <p:nvSpPr>
          <p:cNvPr id="61" name="手順3番号"/>
          <p:cNvSpPr/>
          <p:nvPr/>
        </p:nvSpPr>
        <p:spPr>
          <a:xfrm>
            <a:off x="1790700" y="2692400"/>
            <a:ext cx="228600" cy="2286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000" b="1" dirty="0" smtClean="0">
                <a:solidFill>
                  <a:srgbClr val="4A7FB5"/>
                </a:solidFill>
                <a:latin typeface="Meiryo"/>
                <a:ea typeface="Meiryo"/>
              </a:rPr>
              <a:t>3</a:t>
            </a:r>
            <a:endParaRPr kumimoji="1" lang="en-US" altLang="ja-JP" sz="1000" b="1" dirty="0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62" name="手順3題"/>
          <p:cNvSpPr txBox="1"/>
          <p:nvPr/>
        </p:nvSpPr>
        <p:spPr>
          <a:xfrm>
            <a:off x="1473200" y="3352800"/>
            <a:ext cx="1397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ja-JP" altLang="en-US" sz="1200" b="1" dirty="0" smtClean="0">
                <a:solidFill>
                  <a:srgbClr val="4A7FB5"/>
                </a:solidFill>
                <a:latin typeface="Meiryo"/>
                <a:ea typeface="Meiryo"/>
              </a:rPr>
              <a:t>案件が届く</a:t>
            </a:r>
            <a:endParaRPr kumimoji="1" lang="en-US" altLang="ja-JP" sz="1200" b="1" dirty="0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63" name="手順3文"/>
          <p:cNvSpPr txBox="1"/>
          <p:nvPr/>
        </p:nvSpPr>
        <p:spPr>
          <a:xfrm>
            <a:off x="1498600" y="3632199"/>
            <a:ext cx="13462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100" dirty="0" smtClean="0">
                <a:solidFill>
                  <a:srgbClr val="2B4A6F"/>
                </a:solidFill>
                <a:latin typeface="Meiryo"/>
                <a:ea typeface="Meiryo"/>
              </a:rPr>
              <a:t>システムが合う人を</a:t>
            </a:r>
          </a:p>
          <a:p>
            <a:pPr algn="ctr"/>
            <a:r>
              <a:rPr kumimoji="1" lang="ja-JP" altLang="en-US" sz="1100" dirty="0" smtClean="0">
                <a:solidFill>
                  <a:srgbClr val="2B4A6F"/>
                </a:solidFill>
                <a:latin typeface="Meiryo"/>
                <a:ea typeface="Meiryo"/>
              </a:rPr>
              <a:t>選んで送る</a:t>
            </a:r>
            <a:endParaRPr kumimoji="1" lang="en-US" altLang="ja-JP" sz="1100" dirty="0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64" name="矢印3"/>
          <p:cNvSpPr/>
          <p:nvPr/>
        </p:nvSpPr>
        <p:spPr>
          <a:xfrm>
            <a:off x="2997200" y="3238500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手順4カード"/>
          <p:cNvSpPr/>
          <p:nvPr/>
        </p:nvSpPr>
        <p:spPr>
          <a:xfrm>
            <a:off x="3302000" y="2641600"/>
            <a:ext cx="1549400" cy="14224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手順4円"/>
          <p:cNvSpPr/>
          <p:nvPr/>
        </p:nvSpPr>
        <p:spPr>
          <a:xfrm>
            <a:off x="3810000" y="2768600"/>
            <a:ext cx="533400" cy="5334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7" name="手順4アイコン"/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7000" y="2895600"/>
            <a:ext cx="279400" cy="279400"/>
          </a:xfrm>
          <a:prstGeom prst="rect">
            <a:avLst/>
          </a:prstGeom>
        </p:spPr>
      </p:pic>
      <p:sp>
        <p:nvSpPr>
          <p:cNvPr id="68" name="手順4番号"/>
          <p:cNvSpPr/>
          <p:nvPr/>
        </p:nvSpPr>
        <p:spPr>
          <a:xfrm>
            <a:off x="3695700" y="2692400"/>
            <a:ext cx="228600" cy="2286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000" b="1" dirty="0" smtClean="0">
                <a:solidFill>
                  <a:srgbClr val="4A7FB5"/>
                </a:solidFill>
                <a:latin typeface="Meiryo"/>
                <a:ea typeface="Meiryo"/>
              </a:rPr>
              <a:t>4</a:t>
            </a:r>
            <a:endParaRPr kumimoji="1" lang="en-US" altLang="ja-JP" sz="1000" b="1" dirty="0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69" name="手順4題"/>
          <p:cNvSpPr txBox="1"/>
          <p:nvPr/>
        </p:nvSpPr>
        <p:spPr>
          <a:xfrm>
            <a:off x="3378200" y="3352800"/>
            <a:ext cx="1397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ja-JP" altLang="en-US" sz="1200" b="1" dirty="0" smtClean="0">
                <a:solidFill>
                  <a:srgbClr val="4A7FB5"/>
                </a:solidFill>
                <a:latin typeface="Meiryo"/>
                <a:ea typeface="Meiryo"/>
              </a:rPr>
              <a:t>応募</a:t>
            </a:r>
            <a:endParaRPr kumimoji="1" lang="en-US" altLang="ja-JP" sz="1200" b="1" dirty="0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70" name="手順4文"/>
          <p:cNvSpPr txBox="1"/>
          <p:nvPr/>
        </p:nvSpPr>
        <p:spPr>
          <a:xfrm>
            <a:off x="3403600" y="3632199"/>
            <a:ext cx="13462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100" dirty="0" smtClean="0">
                <a:solidFill>
                  <a:srgbClr val="2B4A6F"/>
                </a:solidFill>
                <a:latin typeface="Meiryo"/>
                <a:ea typeface="Meiryo"/>
              </a:rPr>
              <a:t>エンジニアが</a:t>
            </a:r>
          </a:p>
          <a:p>
            <a:pPr algn="ctr"/>
            <a:r>
              <a:rPr kumimoji="1" lang="ja-JP" altLang="en-US" sz="1100" dirty="0" smtClean="0">
                <a:solidFill>
                  <a:srgbClr val="2B4A6F"/>
                </a:solidFill>
                <a:latin typeface="Meiryo"/>
                <a:ea typeface="Meiryo"/>
              </a:rPr>
              <a:t>案件に応募</a:t>
            </a:r>
            <a:endParaRPr kumimoji="1" lang="en-US" altLang="ja-JP" sz="1100" dirty="0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71" name="矢印4"/>
          <p:cNvSpPr/>
          <p:nvPr/>
        </p:nvSpPr>
        <p:spPr>
          <a:xfrm>
            <a:off x="4902200" y="3238500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手順5カード"/>
          <p:cNvSpPr/>
          <p:nvPr/>
        </p:nvSpPr>
        <p:spPr>
          <a:xfrm>
            <a:off x="5207000" y="2641600"/>
            <a:ext cx="1549400" cy="14224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3" name="手順5円"/>
          <p:cNvSpPr/>
          <p:nvPr/>
        </p:nvSpPr>
        <p:spPr>
          <a:xfrm>
            <a:off x="5715000" y="2768600"/>
            <a:ext cx="533400" cy="5334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4" name="手順5アイコン"/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0" y="2895600"/>
            <a:ext cx="279400" cy="279400"/>
          </a:xfrm>
          <a:prstGeom prst="rect">
            <a:avLst/>
          </a:prstGeom>
        </p:spPr>
      </p:pic>
      <p:sp>
        <p:nvSpPr>
          <p:cNvPr id="75" name="手順5番号"/>
          <p:cNvSpPr/>
          <p:nvPr/>
        </p:nvSpPr>
        <p:spPr>
          <a:xfrm>
            <a:off x="5600700" y="2692400"/>
            <a:ext cx="228600" cy="2286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000" b="1" dirty="0" smtClean="0">
                <a:solidFill>
                  <a:srgbClr val="4A7FB5"/>
                </a:solidFill>
                <a:latin typeface="Meiryo"/>
                <a:ea typeface="Meiryo"/>
              </a:rPr>
              <a:t>5</a:t>
            </a:r>
            <a:endParaRPr kumimoji="1" lang="en-US" altLang="ja-JP" sz="1000" b="1" dirty="0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76" name="手順5題"/>
          <p:cNvSpPr txBox="1"/>
          <p:nvPr/>
        </p:nvSpPr>
        <p:spPr>
          <a:xfrm>
            <a:off x="5283200" y="3352800"/>
            <a:ext cx="1397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ja-JP" altLang="en-US" sz="1200" b="1" dirty="0" smtClean="0">
                <a:solidFill>
                  <a:srgbClr val="4A7FB5"/>
                </a:solidFill>
                <a:latin typeface="Meiryo"/>
                <a:ea typeface="Meiryo"/>
              </a:rPr>
              <a:t>面談の依頼</a:t>
            </a:r>
            <a:endParaRPr kumimoji="1" lang="en-US" altLang="ja-JP" sz="1200" b="1" dirty="0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77" name="手順5文"/>
          <p:cNvSpPr txBox="1"/>
          <p:nvPr/>
        </p:nvSpPr>
        <p:spPr>
          <a:xfrm>
            <a:off x="5308600" y="3632199"/>
            <a:ext cx="13462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100" dirty="0" smtClean="0">
                <a:solidFill>
                  <a:srgbClr val="2B4A6F"/>
                </a:solidFill>
                <a:latin typeface="Meiryo"/>
                <a:ea typeface="Meiryo"/>
              </a:rPr>
              <a:t>エンジニアに</a:t>
            </a:r>
          </a:p>
          <a:p>
            <a:pPr algn="ctr"/>
            <a:r>
              <a:rPr kumimoji="1" lang="ja-JP" altLang="en-US" sz="1100" dirty="0" smtClean="0">
                <a:solidFill>
                  <a:srgbClr val="2B4A6F"/>
                </a:solidFill>
                <a:latin typeface="Meiryo"/>
                <a:ea typeface="Meiryo"/>
              </a:rPr>
              <a:t>依頼が届く</a:t>
            </a:r>
            <a:endParaRPr kumimoji="1" lang="en-US" altLang="ja-JP" sz="1100" dirty="0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78" name="矢印5"/>
          <p:cNvSpPr/>
          <p:nvPr/>
        </p:nvSpPr>
        <p:spPr>
          <a:xfrm>
            <a:off x="6807200" y="3238500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" name="手順6カード"/>
          <p:cNvSpPr/>
          <p:nvPr/>
        </p:nvSpPr>
        <p:spPr>
          <a:xfrm>
            <a:off x="7112000" y="2641600"/>
            <a:ext cx="1574800" cy="1422400"/>
          </a:xfrm>
          <a:prstGeom prst="roundRect">
            <a:avLst>
              <a:gd name="adj" fmla="val 12000"/>
            </a:avLst>
          </a:prstGeom>
          <a:solidFill>
            <a:srgbClr val="4A7FB5"/>
          </a:solidFill>
          <a:ln w="9525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0" name="手順6円"/>
          <p:cNvSpPr/>
          <p:nvPr/>
        </p:nvSpPr>
        <p:spPr>
          <a:xfrm>
            <a:off x="7632700" y="2768600"/>
            <a:ext cx="533400" cy="533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1" name="手順6アイコン"/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9700" y="2895600"/>
            <a:ext cx="279400" cy="279400"/>
          </a:xfrm>
          <a:prstGeom prst="rect">
            <a:avLst/>
          </a:prstGeom>
        </p:spPr>
      </p:pic>
      <p:sp>
        <p:nvSpPr>
          <p:cNvPr id="82" name="手順6番号"/>
          <p:cNvSpPr/>
          <p:nvPr/>
        </p:nvSpPr>
        <p:spPr>
          <a:xfrm>
            <a:off x="7518400" y="2692400"/>
            <a:ext cx="228600" cy="2286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000" b="1" dirty="0" smtClean="0">
                <a:solidFill>
                  <a:srgbClr val="4A7FB5"/>
                </a:solidFill>
                <a:latin typeface="Meiryo"/>
                <a:ea typeface="Meiryo"/>
              </a:rPr>
              <a:t>6</a:t>
            </a:r>
            <a:endParaRPr kumimoji="1" lang="en-US" altLang="ja-JP" sz="1000" b="1" dirty="0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83" name="手順6題"/>
          <p:cNvSpPr txBox="1"/>
          <p:nvPr/>
        </p:nvSpPr>
        <p:spPr>
          <a:xfrm>
            <a:off x="7188200" y="3352800"/>
            <a:ext cx="14224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ja-JP" altLang="en-US" sz="1200" b="1" dirty="0" smtClean="0">
                <a:solidFill>
                  <a:srgbClr val="FFFFFF"/>
                </a:solidFill>
                <a:latin typeface="Meiryo"/>
                <a:ea typeface="Meiryo"/>
              </a:rPr>
              <a:t>面談・合格</a:t>
            </a:r>
            <a:endParaRPr kumimoji="1" lang="en-US" altLang="ja-JP" sz="1200" b="1" dirty="0">
              <a:solidFill>
                <a:srgbClr val="FFFFFF"/>
              </a:solidFill>
              <a:latin typeface="Meiryo"/>
              <a:ea typeface="Meiryo"/>
            </a:endParaRPr>
          </a:p>
        </p:txBody>
      </p:sp>
      <p:sp>
        <p:nvSpPr>
          <p:cNvPr id="84" name="手順6文"/>
          <p:cNvSpPr txBox="1"/>
          <p:nvPr/>
        </p:nvSpPr>
        <p:spPr>
          <a:xfrm>
            <a:off x="7213600" y="3632199"/>
            <a:ext cx="1371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100" dirty="0" smtClean="0">
                <a:solidFill>
                  <a:srgbClr val="FFFFFF"/>
                </a:solidFill>
                <a:latin typeface="Meiryo"/>
                <a:ea typeface="Meiryo"/>
              </a:rPr>
              <a:t>面談を受けて</a:t>
            </a:r>
          </a:p>
          <a:p>
            <a:pPr algn="ctr"/>
            <a:r>
              <a:rPr kumimoji="1" lang="ja-JP" altLang="en-US" sz="1100" dirty="0" smtClean="0">
                <a:solidFill>
                  <a:srgbClr val="FFFFFF"/>
                </a:solidFill>
                <a:latin typeface="Meiryo"/>
                <a:ea typeface="Meiryo"/>
              </a:rPr>
              <a:t>合格（成約）</a:t>
            </a:r>
            <a:endParaRPr kumimoji="1" lang="en-US" altLang="ja-JP" sz="1100" dirty="0">
              <a:solidFill>
                <a:srgbClr val="FFFFFF"/>
              </a:solidFill>
              <a:latin typeface="Meiryo"/>
              <a:ea typeface="Meiryo"/>
            </a:endParaRPr>
          </a:p>
        </p:txBody>
      </p:sp>
      <p:cxnSp>
        <p:nvCxnSpPr>
          <p:cNvPr id="85" name="通知線"/>
          <p:cNvCxnSpPr/>
          <p:nvPr/>
        </p:nvCxnSpPr>
        <p:spPr>
          <a:xfrm>
            <a:off x="2171700" y="4064000"/>
            <a:ext cx="0" cy="101600"/>
          </a:xfrm>
          <a:prstGeom prst="line">
            <a:avLst/>
          </a:prstGeom>
          <a:ln w="19050">
            <a:solidFill>
              <a:srgbClr val="8DB8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通知カード"/>
          <p:cNvSpPr/>
          <p:nvPr/>
        </p:nvSpPr>
        <p:spPr>
          <a:xfrm>
            <a:off x="1346200" y="4165600"/>
            <a:ext cx="1651000" cy="3810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7" name="通知円"/>
          <p:cNvSpPr/>
          <p:nvPr/>
        </p:nvSpPr>
        <p:spPr>
          <a:xfrm>
            <a:off x="1422400" y="4216400"/>
            <a:ext cx="279400" cy="2794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8" name="通知アイコン"/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" y="4279900"/>
            <a:ext cx="152400" cy="152400"/>
          </a:xfrm>
          <a:prstGeom prst="rect">
            <a:avLst/>
          </a:prstGeom>
        </p:spPr>
      </p:pic>
      <p:sp>
        <p:nvSpPr>
          <p:cNvPr id="89" name="通知文"/>
          <p:cNvSpPr txBox="1"/>
          <p:nvPr/>
        </p:nvSpPr>
        <p:spPr>
          <a:xfrm>
            <a:off x="1778000" y="4165599"/>
            <a:ext cx="1168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1100" b="1" dirty="0" smtClean="0">
                <a:solidFill>
                  <a:srgbClr val="4A7FB5"/>
                </a:solidFill>
                <a:latin typeface="Meiryo"/>
                <a:ea typeface="Meiryo"/>
              </a:rPr>
              <a:t>所属先にも通知</a:t>
            </a:r>
            <a:endParaRPr kumimoji="1" lang="en-US" altLang="ja-JP" sz="1100" b="1" dirty="0">
              <a:solidFill>
                <a:srgbClr val="4A7FB5"/>
              </a:solidFill>
              <a:latin typeface="Meiryo"/>
              <a:ea typeface="Meiryo"/>
            </a:endParaRPr>
          </a:p>
        </p:txBody>
      </p:sp>
      <p:cxnSp>
        <p:nvCxnSpPr>
          <p:cNvPr id="90" name="QA線"/>
          <p:cNvCxnSpPr/>
          <p:nvPr/>
        </p:nvCxnSpPr>
        <p:spPr>
          <a:xfrm>
            <a:off x="5981700" y="4064000"/>
            <a:ext cx="0" cy="101600"/>
          </a:xfrm>
          <a:prstGeom prst="line">
            <a:avLst/>
          </a:prstGeom>
          <a:ln w="19050">
            <a:solidFill>
              <a:srgbClr val="8DB8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QAカード"/>
          <p:cNvSpPr/>
          <p:nvPr/>
        </p:nvSpPr>
        <p:spPr>
          <a:xfrm>
            <a:off x="4902200" y="4165600"/>
            <a:ext cx="2159000" cy="381000"/>
          </a:xfrm>
          <a:prstGeom prst="roundRect">
            <a:avLst>
              <a:gd name="adj" fmla="val 12000"/>
            </a:avLst>
          </a:prstGeom>
          <a:solidFill>
            <a:srgbClr val="F5B971"/>
          </a:solidFill>
          <a:ln w="12700">
            <a:solidFill>
              <a:srgbClr val="F5B9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2" name="QA円"/>
          <p:cNvSpPr/>
          <p:nvPr/>
        </p:nvSpPr>
        <p:spPr>
          <a:xfrm>
            <a:off x="4978400" y="4216400"/>
            <a:ext cx="279400" cy="2794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3" name="QAアイコン" descr="てこ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41900" y="4279900"/>
            <a:ext cx="152400" cy="152400"/>
          </a:xfrm>
          <a:prstGeom prst="rect">
            <a:avLst/>
          </a:prstGeom>
        </p:spPr>
      </p:pic>
      <p:sp>
        <p:nvSpPr>
          <p:cNvPr id="94" name="QA文"/>
          <p:cNvSpPr txBox="1"/>
          <p:nvPr/>
        </p:nvSpPr>
        <p:spPr>
          <a:xfrm>
            <a:off x="5334000" y="4165599"/>
            <a:ext cx="1676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1200" b="1" dirty="0" smtClean="0">
                <a:solidFill>
                  <a:srgbClr val="2B4A6F"/>
                </a:solidFill>
                <a:latin typeface="Meiryo"/>
                <a:ea typeface="Meiryo"/>
              </a:rPr>
              <a:t>面談対策の</a:t>
            </a:r>
            <a:r>
              <a:rPr kumimoji="1" lang="en-US" altLang="ja-JP" sz="1200" b="1" dirty="0" smtClean="0">
                <a:solidFill>
                  <a:srgbClr val="2B4A6F"/>
                </a:solidFill>
                <a:latin typeface="Meiryo"/>
                <a:ea typeface="Meiryo"/>
              </a:rPr>
              <a:t>Q&amp;A</a:t>
            </a:r>
            <a:r>
              <a:rPr kumimoji="1" lang="ja-JP" altLang="en-US" sz="1200" b="1" dirty="0" smtClean="0">
                <a:solidFill>
                  <a:srgbClr val="2B4A6F"/>
                </a:solidFill>
                <a:latin typeface="Meiryo"/>
                <a:ea typeface="Meiryo"/>
              </a:rPr>
              <a:t>を提案</a:t>
            </a:r>
            <a:endParaRPr kumimoji="1" lang="en-US" altLang="ja-JP" sz="1200" b="1" dirty="0">
              <a:solidFill>
                <a:srgbClr val="2B4A6F"/>
              </a:solidFill>
              <a:latin typeface="Meiryo"/>
              <a:ea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34481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まず小さく試して、数字で確かめる</a:t>
            </a:r>
            <a:endParaRPr lang="en-US" sz="2800" dirty="0"/>
          </a:p>
        </p:txBody>
      </p:sp>
      <p:sp>
        <p:nvSpPr>
          <p:cNvPr id="3" name="段階カード1"/>
          <p:cNvSpPr/>
          <p:nvPr/>
        </p:nvSpPr>
        <p:spPr>
          <a:xfrm>
            <a:off x="457200" y="1097280"/>
            <a:ext cx="256032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段階1円"/>
          <p:cNvSpPr/>
          <p:nvPr/>
        </p:nvSpPr>
        <p:spPr>
          <a:xfrm>
            <a:off x="594360" y="1188720"/>
            <a:ext cx="457200" cy="4572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pic>
        <p:nvPicPr>
          <p:cNvPr id="5" name="段階1アイコン" descr="段階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289304"/>
            <a:ext cx="256032" cy="256032"/>
          </a:xfrm>
          <a:prstGeom prst="rect">
            <a:avLst/>
          </a:prstGeom>
        </p:spPr>
      </p:pic>
      <p:sp>
        <p:nvSpPr>
          <p:cNvPr id="6" name="段階題1"/>
          <p:cNvSpPr txBox="1"/>
          <p:nvPr/>
        </p:nvSpPr>
        <p:spPr>
          <a:xfrm>
            <a:off x="1188720" y="1188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試す</a:t>
            </a:r>
            <a:endParaRPr lang="en-US" sz="1600" dirty="0"/>
          </a:p>
        </p:txBody>
      </p:sp>
      <p:sp>
        <p:nvSpPr>
          <p:cNvPr id="7" name="段階文1"/>
          <p:cNvSpPr txBox="1"/>
          <p:nvPr/>
        </p:nvSpPr>
        <p:spPr>
          <a:xfrm>
            <a:off x="594360" y="1691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エンジニア1〜2人・案件5〜10件で、費用のかからない形で</a:t>
            </a:r>
            <a:endParaRPr lang="en-US" sz="1200" dirty="0"/>
          </a:p>
        </p:txBody>
      </p:sp>
      <p:sp>
        <p:nvSpPr>
          <p:cNvPr id="8" name="段階矢印1"/>
          <p:cNvSpPr/>
          <p:nvPr/>
        </p:nvSpPr>
        <p:spPr>
          <a:xfrm>
            <a:off x="3035808" y="1572768"/>
            <a:ext cx="237744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段階カード2"/>
          <p:cNvSpPr/>
          <p:nvPr/>
        </p:nvSpPr>
        <p:spPr>
          <a:xfrm>
            <a:off x="3291840" y="1097280"/>
            <a:ext cx="256032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段階2円"/>
          <p:cNvSpPr/>
          <p:nvPr/>
        </p:nvSpPr>
        <p:spPr>
          <a:xfrm>
            <a:off x="3429000" y="1188720"/>
            <a:ext cx="457200" cy="4572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pic>
        <p:nvPicPr>
          <p:cNvPr id="11" name="段階2アイコン" descr="段階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584" y="1289304"/>
            <a:ext cx="256032" cy="256032"/>
          </a:xfrm>
          <a:prstGeom prst="rect">
            <a:avLst/>
          </a:prstGeom>
        </p:spPr>
      </p:pic>
      <p:sp>
        <p:nvSpPr>
          <p:cNvPr id="12" name="段階題2"/>
          <p:cNvSpPr txBox="1"/>
          <p:nvPr/>
        </p:nvSpPr>
        <p:spPr>
          <a:xfrm>
            <a:off x="4023360" y="1188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測る</a:t>
            </a:r>
            <a:endParaRPr lang="en-US" sz="1600" dirty="0"/>
          </a:p>
        </p:txBody>
      </p:sp>
      <p:sp>
        <p:nvSpPr>
          <p:cNvPr id="13" name="段階文2"/>
          <p:cNvSpPr txBox="1"/>
          <p:nvPr/>
        </p:nvSpPr>
        <p:spPr>
          <a:xfrm>
            <a:off x="3429000" y="1691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応募から延長まで、1件ずつ記録して通過率を見る</a:t>
            </a:r>
            <a:endParaRPr lang="en-US" sz="1200" dirty="0"/>
          </a:p>
        </p:txBody>
      </p:sp>
      <p:sp>
        <p:nvSpPr>
          <p:cNvPr id="14" name="段階矢印2"/>
          <p:cNvSpPr/>
          <p:nvPr/>
        </p:nvSpPr>
        <p:spPr>
          <a:xfrm>
            <a:off x="5870448" y="1572768"/>
            <a:ext cx="237744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段階カード3"/>
          <p:cNvSpPr/>
          <p:nvPr/>
        </p:nvSpPr>
        <p:spPr>
          <a:xfrm>
            <a:off x="6126480" y="1097280"/>
            <a:ext cx="256032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6" name="段階3円"/>
          <p:cNvSpPr/>
          <p:nvPr/>
        </p:nvSpPr>
        <p:spPr>
          <a:xfrm>
            <a:off x="6263640" y="1188720"/>
            <a:ext cx="457200" cy="457200"/>
          </a:xfrm>
          <a:prstGeom prst="ellipse">
            <a:avLst/>
          </a:prstGeom>
          <a:solidFill>
            <a:srgbClr val="F5B971"/>
          </a:solidFill>
          <a:ln w="12700">
            <a:solidFill>
              <a:srgbClr val="F5B971"/>
            </a:solidFill>
            <a:prstDash val="solid"/>
          </a:ln>
        </p:spPr>
      </p:sp>
      <p:pic>
        <p:nvPicPr>
          <p:cNvPr id="17" name="段階3アイコン" descr="段階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1289304"/>
            <a:ext cx="256032" cy="256032"/>
          </a:xfrm>
          <a:prstGeom prst="rect">
            <a:avLst/>
          </a:prstGeom>
        </p:spPr>
      </p:pic>
      <p:sp>
        <p:nvSpPr>
          <p:cNvPr id="18" name="段階題3"/>
          <p:cNvSpPr txBox="1"/>
          <p:nvPr/>
        </p:nvSpPr>
        <p:spPr>
          <a:xfrm>
            <a:off x="6858000" y="1188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広げる</a:t>
            </a:r>
            <a:endParaRPr lang="en-US" sz="1600" dirty="0"/>
          </a:p>
        </p:txBody>
      </p:sp>
      <p:sp>
        <p:nvSpPr>
          <p:cNvPr id="19" name="段階文3"/>
          <p:cNvSpPr txBox="1"/>
          <p:nvPr/>
        </p:nvSpPr>
        <p:spPr>
          <a:xfrm>
            <a:off x="6263640" y="1691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確かめてから、参加を広げる</a:t>
            </a:r>
            <a:endParaRPr lang="en-US" sz="1200" dirty="0"/>
          </a:p>
        </p:txBody>
      </p:sp>
      <p:sp>
        <p:nvSpPr>
          <p:cNvPr id="20" name="お願い題"/>
          <p:cNvSpPr txBox="1"/>
          <p:nvPr/>
        </p:nvSpPr>
        <p:spPr>
          <a:xfrm>
            <a:off x="457200" y="2423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阿部さんにお願いしたいこと</a:t>
            </a:r>
            <a:endParaRPr lang="en-US" sz="1400" dirty="0"/>
          </a:p>
        </p:txBody>
      </p:sp>
      <p:sp>
        <p:nvSpPr>
          <p:cNvPr id="21" name="お願い1円"/>
          <p:cNvSpPr/>
          <p:nvPr/>
        </p:nvSpPr>
        <p:spPr>
          <a:xfrm>
            <a:off x="457200" y="2788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お願い1アイコン" descr="お願い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" y="2889504"/>
            <a:ext cx="256032" cy="256032"/>
          </a:xfrm>
          <a:prstGeom prst="rect">
            <a:avLst/>
          </a:prstGeom>
        </p:spPr>
      </p:pic>
      <p:sp>
        <p:nvSpPr>
          <p:cNvPr id="23" name="お願い文1"/>
          <p:cNvSpPr txBox="1"/>
          <p:nvPr/>
        </p:nvSpPr>
        <p:spPr>
          <a:xfrm>
            <a:off x="1051560" y="2788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お知り合いのビジネスパートナーへのご紹介</a:t>
            </a:r>
            <a:endParaRPr lang="en-US" sz="1400" dirty="0"/>
          </a:p>
        </p:txBody>
      </p:sp>
      <p:sp>
        <p:nvSpPr>
          <p:cNvPr id="24" name="お願い2円"/>
          <p:cNvSpPr/>
          <p:nvPr/>
        </p:nvSpPr>
        <p:spPr>
          <a:xfrm>
            <a:off x="3291840" y="2788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お願い2アイコン" descr="お願い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2424" y="2889504"/>
            <a:ext cx="256032" cy="256032"/>
          </a:xfrm>
          <a:prstGeom prst="rect">
            <a:avLst/>
          </a:prstGeom>
        </p:spPr>
      </p:pic>
      <p:sp>
        <p:nvSpPr>
          <p:cNvPr id="26" name="お願い文2"/>
          <p:cNvSpPr txBox="1"/>
          <p:nvPr/>
        </p:nvSpPr>
        <p:spPr>
          <a:xfrm>
            <a:off x="3886200" y="2788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成約の確認（監査）</a:t>
            </a:r>
            <a:endParaRPr lang="en-US" sz="1400" dirty="0"/>
          </a:p>
        </p:txBody>
      </p:sp>
      <p:sp>
        <p:nvSpPr>
          <p:cNvPr id="27" name="お願い3円"/>
          <p:cNvSpPr/>
          <p:nvPr/>
        </p:nvSpPr>
        <p:spPr>
          <a:xfrm>
            <a:off x="6126480" y="2788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8" name="お願い3アイコン" descr="お願い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7064" y="2889504"/>
            <a:ext cx="256032" cy="256032"/>
          </a:xfrm>
          <a:prstGeom prst="rect">
            <a:avLst/>
          </a:prstGeom>
        </p:spPr>
      </p:pic>
      <p:sp>
        <p:nvSpPr>
          <p:cNvPr id="29" name="お願い文3"/>
          <p:cNvSpPr txBox="1"/>
          <p:nvPr/>
        </p:nvSpPr>
        <p:spPr>
          <a:xfrm>
            <a:off x="6720840" y="2788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率やルールへのご意見</a:t>
            </a:r>
            <a:endParaRPr lang="en-US" sz="1400" dirty="0"/>
          </a:p>
        </p:txBody>
      </p:sp>
      <p:sp>
        <p:nvSpPr>
          <p:cNvPr id="30" name="報酬枠"/>
          <p:cNvSpPr/>
          <p:nvPr/>
        </p:nvSpPr>
        <p:spPr>
          <a:xfrm>
            <a:off x="457200" y="3429000"/>
            <a:ext cx="8229600" cy="41148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1" name="報酬文"/>
          <p:cNvSpPr txBox="1"/>
          <p:nvPr/>
        </p:nvSpPr>
        <p:spPr>
          <a:xfrm>
            <a:off x="640080" y="3429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阿部さんへの報酬は、成果が見える形で、時期と割合を一緒に相談して決めます。</a:t>
            </a:r>
            <a:endParaRPr lang="en-US" sz="1400" dirty="0"/>
          </a:p>
        </p:txBody>
      </p:sp>
      <p:sp>
        <p:nvSpPr>
          <p:cNvPr id="32" name="オプション枠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3" name="オプション札"/>
          <p:cNvSpPr/>
          <p:nvPr/>
        </p:nvSpPr>
        <p:spPr>
          <a:xfrm>
            <a:off x="594360" y="4114800"/>
            <a:ext cx="1188720" cy="365760"/>
          </a:xfrm>
          <a:prstGeom prst="roundRect">
            <a:avLst>
              <a:gd name="adj" fmla="val 4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オプション札文"/>
          <p:cNvSpPr txBox="1"/>
          <p:nvPr/>
        </p:nvSpPr>
        <p:spPr>
          <a:xfrm>
            <a:off x="594360" y="4114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オプション</a:t>
            </a:r>
            <a:endParaRPr lang="en-US" sz="1200" dirty="0"/>
          </a:p>
        </p:txBody>
      </p:sp>
      <p:sp>
        <p:nvSpPr>
          <p:cNvPr id="35" name="オプション文"/>
          <p:cNvSpPr txBox="1"/>
          <p:nvPr/>
        </p:nvSpPr>
        <p:spPr>
          <a:xfrm>
            <a:off x="1920240" y="39776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成約のあと、育てる方向：配属後のフォローと、スキルの差の見える化。必要に応じて、あとから加えられます。</a:t>
            </a:r>
            <a:endParaRPr lang="en-US" sz="12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ks Blue">
  <a:themeElements>
    <a:clrScheme name="Parks Blue">
      <a:dk1>
        <a:srgbClr val="2B4A6F"/>
      </a:dk1>
      <a:lt1>
        <a:srgbClr val="FFFFFF"/>
      </a:lt1>
      <a:dk2>
        <a:srgbClr val="3F72AF"/>
      </a:dk2>
      <a:lt2>
        <a:srgbClr val="F0F5FA"/>
      </a:lt2>
      <a:accent1>
        <a:srgbClr val="4A7FB5"/>
      </a:accent1>
      <a:accent2>
        <a:srgbClr val="F5B971"/>
      </a:accent2>
      <a:accent3>
        <a:srgbClr val="8DB8DE"/>
      </a:accent3>
      <a:accent4>
        <a:srgbClr val="DCE9F5"/>
      </a:accent4>
      <a:accent5>
        <a:srgbClr val="D9776A"/>
      </a:accent5>
      <a:accent6>
        <a:srgbClr val="7F9BB5"/>
      </a:accent6>
      <a:hlink>
        <a:srgbClr val="3F72AF"/>
      </a:hlink>
      <a:folHlink>
        <a:srgbClr val="7F9BB5"/>
      </a:folHlink>
    </a:clrScheme>
    <a:fontScheme name="Parks Blu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371</Words>
  <Application>Microsoft Office PowerPoint</Application>
  <PresentationFormat>画面に合わせる (16:9)</PresentationFormat>
  <Paragraphs>102</Paragraphs>
  <Slides>6</Slides>
  <Notes>6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7" baseType="lpstr">
      <vt:lpstr>Parks Blue</vt:lpstr>
      <vt:lpstr>Parks（仮）</vt:lpstr>
      <vt:lpstr>このプロジェクトに賭ける私の想い</vt:lpstr>
      <vt:lpstr>現場の課題を、ビジネスパートナーの束ねで解く</vt:lpstr>
      <vt:lpstr>エンジニアの成約率が、ぐっと上がる仕組み</vt:lpstr>
      <vt:lpstr>登録から合格までの流れ</vt:lpstr>
      <vt:lpstr>まず小さく試して、数字で確かめる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Parks（仮）企画書 たたき台</dc:title>
  <dc:subject>PptxGenJS Presentation</dc:subject>
  <dc:creator>tezzo</dc:creator>
  <cp:lastModifiedBy>rock@jona.jp</cp:lastModifiedBy>
  <cp:revision>2</cp:revision>
  <dcterms:created xsi:type="dcterms:W3CDTF">2026-10-13T22:51:16Z</dcterms:created>
  <dcterms:modified xsi:type="dcterms:W3CDTF">2026-10-13T23:47:59Z</dcterms:modified>
</cp:coreProperties>
</file>