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16485f92-9be7-a7e3-ef36-b53a3307e266}">
          <p14:sldIdLst>
            <p14:sldId id="256"/>
          </p14:sldIdLst>
        </p14:section>
        <p14:section name="想い" id="{7266e59c-8b5f-5544-08a8-fd5768de98e6}">
          <p14:sldIdLst>
            <p14:sldId id="257"/>
          </p14:sldIdLst>
        </p14:section>
        <p14:section name="提案" id="{324ddffa-62ca-a420-7236-c5f9d4357cb5}">
          <p14:sldIdLst>
            <p14:sldId id="258"/>
          </p14:sldIdLst>
        </p14:section>
        <p14:section name="成約率" id="{2993a237-e66b-542d-54d3-d811ac81748a}">
          <p14:sldIdLst>
            <p14:sldId id="259"/>
          </p14:sldIdLst>
        </p14:section>
        <p14:section name="費用と安心" id="{df971b41-862a-4c3d-7727-eac3fab33b69}">
          <p14:sldIdLst>
            <p14:sldId id="260"/>
          </p14:sldIdLst>
        </p14:section>
        <p14:section name="進め方" id="{472aca0a-af94-407a-ecf8-51b3b8d8d9d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4A6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4A6F"/>
                </a:solidFill>
                <a:latin typeface="+mn-lt"/>
              </a:rPr>
              <a:t>応募に対する成約率  約2.2倍（仮）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今（仮）</c:v>
                </c:pt>
              </c:strCache>
            </c:strRef>
          </c:tx>
          <c:spPr>
            <a:solidFill>
              <a:srgbClr val="C9D8E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応募</c:v>
                  </c:pt>
                  <c:pt idx="1">
                    <c:v>書類通過</c:v>
                  </c:pt>
                  <c:pt idx="2">
                    <c:v>成約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30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GP（仮）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応募</c:v>
                  </c:pt>
                  <c:pt idx="1">
                    <c:v>書類通過</c:v>
                  </c:pt>
                  <c:pt idx="2">
                    <c:v>成約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B4A6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4A6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4A6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4A6F"/>
                </a:solidFill>
                <a:latin typeface="+mn-lt"/>
              </a:rPr>
              <a:t>負担の例：70万円・3か月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3か月の金額（万円）</c:v>
                </c:pt>
              </c:strCache>
            </c:strRef>
          </c:tx>
          <c:spPr>
            <a:solidFill>
              <a:srgbClr val="8DB8D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B8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9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取り分</c:v>
                  </c:pt>
                  <c:pt idx="1">
                    <c:v>GPへの報酬</c:v>
                  </c:pt>
                  <c:pt idx="2">
                    <c:v>手元に残る額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11.2</c:v>
                </c:pt>
                <c:pt idx="2">
                  <c:v>30.8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4A6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Parks（仮）｜阿部さん向け企画書（たたき台）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ビジネスパートナーとエンジニアが、気楽に参加できる場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エンジニアの成約率を、ぐっと上げる仕組み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阿部さんへのご提案（たたき台）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 descr="想い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/>
          <p:cNvSpPr txBox="1"/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ビジネスパートナーとエンジニアの、最適な環境を作りたい</a:t>
            </a:r>
            <a:endParaRPr lang="en-US" sz="1800" dirty="0"/>
          </a:p>
        </p:txBody>
      </p:sp>
      <p:sp>
        <p:nvSpPr>
          <p:cNvPr id="6" name="想い2円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 descr="想い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/>
          <p:cNvSpPr txBox="1"/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ビジネスパートナーの手間をなくし、快適な収益環境を作りたい</a:t>
            </a:r>
            <a:endParaRPr lang="en-US" sz="1800" dirty="0"/>
          </a:p>
        </p:txBody>
      </p:sp>
      <p:sp>
        <p:nvSpPr>
          <p:cNvPr id="9" name="想い3円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 descr="想い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/>
          <p:cNvSpPr txBox="1"/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エンジニアのビジネス環境を豊かにしたい</a:t>
            </a:r>
            <a:endParaRPr lang="en-US" sz="18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現場の課題を、ビジネスパートナーの束ねで解く</a:t>
            </a:r>
            <a:endParaRPr lang="en-US" sz="2800" dirty="0"/>
          </a:p>
        </p:txBody>
      </p:sp>
      <p:sp>
        <p:nvSpPr>
          <p:cNvPr id="3" name="ビジネスパートナーカード"/>
          <p:cNvSpPr/>
          <p:nvPr/>
        </p:nvSpPr>
        <p:spPr>
          <a:xfrm>
            <a:off x="457200" y="1188720"/>
            <a:ext cx="37490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BP円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Pアイコン" descr="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86" y="1370686"/>
            <a:ext cx="230429" cy="230429"/>
          </a:xfrm>
          <a:prstGeom prst="rect">
            <a:avLst/>
          </a:prstGeom>
        </p:spPr>
      </p:pic>
      <p:sp>
        <p:nvSpPr>
          <p:cNvPr id="6" name="BP題"/>
          <p:cNvSpPr txBox="1"/>
          <p:nvPr/>
        </p:nvSpPr>
        <p:spPr>
          <a:xfrm>
            <a:off x="109728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</a:t>
            </a:r>
            <a:endParaRPr lang="en-US" sz="1600" dirty="0"/>
          </a:p>
        </p:txBody>
      </p:sp>
      <p:sp>
        <p:nvSpPr>
          <p:cNvPr id="7" name="BP本文"/>
          <p:cNvSpPr txBox="1"/>
          <p:nvPr/>
        </p:nvSpPr>
        <p:spPr>
          <a:xfrm>
            <a:off x="64008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案件は個別に待ち、連携は友人どうし。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人が足りず、取りこぼしも出る。</a:t>
            </a:r>
            <a:endParaRPr lang="en-US" sz="1400" dirty="0"/>
          </a:p>
        </p:txBody>
      </p:sp>
      <p:sp>
        <p:nvSpPr>
          <p:cNvPr id="8" name="エンジニアカード"/>
          <p:cNvSpPr/>
          <p:nvPr/>
        </p:nvSpPr>
        <p:spPr>
          <a:xfrm>
            <a:off x="457200" y="2560320"/>
            <a:ext cx="37490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EG円"/>
          <p:cNvSpPr/>
          <p:nvPr/>
        </p:nvSpPr>
        <p:spPr>
          <a:xfrm>
            <a:off x="59436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EGアイコン" descr="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6" y="2742286"/>
            <a:ext cx="230429" cy="230429"/>
          </a:xfrm>
          <a:prstGeom prst="rect">
            <a:avLst/>
          </a:prstGeom>
        </p:spPr>
      </p:pic>
      <p:sp>
        <p:nvSpPr>
          <p:cNvPr id="11" name="EG題"/>
          <p:cNvSpPr txBox="1"/>
          <p:nvPr/>
        </p:nvSpPr>
        <p:spPr>
          <a:xfrm>
            <a:off x="10972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</a:t>
            </a:r>
            <a:endParaRPr lang="en-US" sz="1600" dirty="0"/>
          </a:p>
        </p:txBody>
      </p:sp>
      <p:sp>
        <p:nvSpPr>
          <p:cNvPr id="12" name="EG本文"/>
          <p:cNvSpPr txBox="1"/>
          <p:nvPr/>
        </p:nvSpPr>
        <p:spPr>
          <a:xfrm>
            <a:off x="640080" y="31546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孤独になりやすく、知識が残りにくい。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案件の選択肢は、所属先の中だけ。</a:t>
            </a:r>
            <a:endParaRPr lang="en-US" sz="1400" dirty="0"/>
          </a:p>
        </p:txBody>
      </p:sp>
      <p:sp>
        <p:nvSpPr>
          <p:cNvPr id="13" name="箱1"/>
          <p:cNvSpPr/>
          <p:nvPr/>
        </p:nvSpPr>
        <p:spPr>
          <a:xfrm>
            <a:off x="4434840" y="118872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箱文1"/>
          <p:cNvSpPr txBox="1"/>
          <p:nvPr/>
        </p:nvSpPr>
        <p:spPr>
          <a:xfrm>
            <a:off x="4434840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5" name="箱2"/>
          <p:cNvSpPr/>
          <p:nvPr/>
        </p:nvSpPr>
        <p:spPr>
          <a:xfrm>
            <a:off x="443484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箱文2"/>
          <p:cNvSpPr txBox="1"/>
          <p:nvPr/>
        </p:nvSpPr>
        <p:spPr>
          <a:xfrm>
            <a:off x="4434840" y="19202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7" name="箱3"/>
          <p:cNvSpPr/>
          <p:nvPr/>
        </p:nvSpPr>
        <p:spPr>
          <a:xfrm>
            <a:off x="4434840" y="265176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箱文3"/>
          <p:cNvSpPr txBox="1"/>
          <p:nvPr/>
        </p:nvSpPr>
        <p:spPr>
          <a:xfrm>
            <a:off x="4434840" y="2651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9" name="矢印1"/>
          <p:cNvSpPr/>
          <p:nvPr/>
        </p:nvSpPr>
        <p:spPr>
          <a:xfrm>
            <a:off x="5897880" y="201168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GP円"/>
          <p:cNvSpPr/>
          <p:nvPr/>
        </p:nvSpPr>
        <p:spPr>
          <a:xfrm>
            <a:off x="6217920" y="1463040"/>
            <a:ext cx="1325880" cy="1325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GP文"/>
          <p:cNvSpPr txBox="1"/>
          <p:nvPr/>
        </p:nvSpPr>
        <p:spPr>
          <a:xfrm>
            <a:off x="6217920" y="1463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（グループ）</a:t>
            </a:r>
            <a:endParaRPr lang="en-US" sz="1400" dirty="0"/>
          </a:p>
        </p:txBody>
      </p:sp>
      <p:sp>
        <p:nvSpPr>
          <p:cNvPr id="22" name="矢印2"/>
          <p:cNvSpPr/>
          <p:nvPr/>
        </p:nvSpPr>
        <p:spPr>
          <a:xfrm>
            <a:off x="7589520" y="201168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案件箱"/>
          <p:cNvSpPr/>
          <p:nvPr/>
        </p:nvSpPr>
        <p:spPr>
          <a:xfrm>
            <a:off x="7909560" y="1645920"/>
            <a:ext cx="777240" cy="96012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案件文"/>
          <p:cNvSpPr txBox="1"/>
          <p:nvPr/>
        </p:nvSpPr>
        <p:spPr>
          <a:xfrm>
            <a:off x="7909560" y="164592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</a:t>
            </a:r>
            <a:endParaRPr lang="en-US" sz="1400" dirty="0"/>
          </a:p>
        </p:txBody>
      </p:sp>
      <p:sp>
        <p:nvSpPr>
          <p:cNvPr id="25" name="GP説明"/>
          <p:cNvSpPr txBox="1"/>
          <p:nvPr/>
        </p:nvSpPr>
        <p:spPr>
          <a:xfrm>
            <a:off x="4434840" y="32918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GPに来た案件を、全エンジニアの中から、いちばん合う人に結びつけます。</a:t>
            </a:r>
            <a:endParaRPr lang="en-US" sz="1400" dirty="0"/>
          </a:p>
        </p:txBody>
      </p:sp>
      <p:sp>
        <p:nvSpPr>
          <p:cNvPr id="26" name="メッセージ帯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メッセージ文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ビジネスパートナーを束ねれば、案件も人も、もっと活かせます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エンジニアの成約率が、ぐっと上がる仕組み</a:t>
            </a:r>
            <a:endParaRPr lang="en-US" sz="2800" dirty="0"/>
          </a:p>
        </p:txBody>
      </p:sp>
      <p:graphicFrame>
        <p:nvGraphicFramePr>
          <p:cNvPr id="3" name="成約率グラフ" descr=""/>
          <p:cNvGraphicFramePr/>
          <p:nvPr/>
        </p:nvGraphicFramePr>
        <p:xfrm>
          <a:off x="457200" y="1097280"/>
          <a:ext cx="3931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成約率注記"/>
          <p:cNvSpPr txBox="1"/>
          <p:nvPr/>
        </p:nvSpPr>
        <p:spPr>
          <a:xfrm>
            <a:off x="45720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イメージです（仮の数字）。実際は記録して測ります。</a:t>
            </a:r>
            <a:endParaRPr lang="en-US" sz="1100" dirty="0"/>
          </a:p>
        </p:txBody>
      </p:sp>
      <p:sp>
        <p:nvSpPr>
          <p:cNvPr id="5" name="てこカード1"/>
          <p:cNvSpPr/>
          <p:nvPr/>
        </p:nvSpPr>
        <p:spPr>
          <a:xfrm>
            <a:off x="4617720" y="114300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てこ1円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てこ1アイコン" descr="てこ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22" y="1390802"/>
            <a:ext cx="281635" cy="281635"/>
          </a:xfrm>
          <a:prstGeom prst="rect">
            <a:avLst/>
          </a:prstGeom>
        </p:spPr>
      </p:pic>
      <p:sp>
        <p:nvSpPr>
          <p:cNvPr id="8" name="てこ題1"/>
          <p:cNvSpPr txBox="1"/>
          <p:nvPr/>
        </p:nvSpPr>
        <p:spPr>
          <a:xfrm>
            <a:off x="5440680" y="121615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誰を出すか</a:t>
            </a:r>
            <a:endParaRPr lang="en-US" sz="1400" dirty="0"/>
          </a:p>
        </p:txBody>
      </p:sp>
      <p:sp>
        <p:nvSpPr>
          <p:cNvPr id="9" name="てこ文1"/>
          <p:cNvSpPr txBox="1"/>
          <p:nvPr/>
        </p:nvSpPr>
        <p:spPr>
          <a:xfrm>
            <a:off x="544068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全員の中から、いちばん合う人を選ぶ</a:t>
            </a:r>
            <a:endParaRPr lang="en-US" sz="1200" dirty="0"/>
          </a:p>
        </p:txBody>
      </p:sp>
      <p:sp>
        <p:nvSpPr>
          <p:cNvPr id="10" name="てこカード2"/>
          <p:cNvSpPr/>
          <p:nvPr/>
        </p:nvSpPr>
        <p:spPr>
          <a:xfrm>
            <a:off x="4617720" y="201168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てこ2円"/>
          <p:cNvSpPr/>
          <p:nvPr/>
        </p:nvSpPr>
        <p:spPr>
          <a:xfrm>
            <a:off x="475488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てこ2アイコン" descr="てこ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522" y="2259482"/>
            <a:ext cx="281635" cy="281635"/>
          </a:xfrm>
          <a:prstGeom prst="rect">
            <a:avLst/>
          </a:prstGeom>
        </p:spPr>
      </p:pic>
      <p:sp>
        <p:nvSpPr>
          <p:cNvPr id="13" name="てこ題2"/>
          <p:cNvSpPr txBox="1"/>
          <p:nvPr/>
        </p:nvSpPr>
        <p:spPr>
          <a:xfrm>
            <a:off x="5440680" y="208483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出し方</a:t>
            </a:r>
            <a:endParaRPr lang="en-US" sz="1400" dirty="0"/>
          </a:p>
        </p:txBody>
      </p:sp>
      <p:sp>
        <p:nvSpPr>
          <p:cNvPr id="14" name="てこ文2"/>
          <p:cNvSpPr txBox="1"/>
          <p:nvPr/>
        </p:nvSpPr>
        <p:spPr>
          <a:xfrm>
            <a:off x="5440680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案件別のスキルシートと推薦コメント</a:t>
            </a:r>
            <a:endParaRPr lang="en-US" sz="1200" dirty="0"/>
          </a:p>
        </p:txBody>
      </p:sp>
      <p:sp>
        <p:nvSpPr>
          <p:cNvPr id="15" name="てこカード3"/>
          <p:cNvSpPr/>
          <p:nvPr/>
        </p:nvSpPr>
        <p:spPr>
          <a:xfrm>
            <a:off x="4617720" y="288036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てこ3円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てこ3アイコン" descr="てこ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3128162"/>
            <a:ext cx="281635" cy="281635"/>
          </a:xfrm>
          <a:prstGeom prst="rect">
            <a:avLst/>
          </a:prstGeom>
        </p:spPr>
      </p:pic>
      <p:sp>
        <p:nvSpPr>
          <p:cNvPr id="18" name="てこ題3"/>
          <p:cNvSpPr txBox="1"/>
          <p:nvPr/>
        </p:nvSpPr>
        <p:spPr>
          <a:xfrm>
            <a:off x="5440680" y="295351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面談での勝ち方</a:t>
            </a:r>
            <a:endParaRPr lang="en-US" sz="1400" dirty="0"/>
          </a:p>
        </p:txBody>
      </p:sp>
      <p:sp>
        <p:nvSpPr>
          <p:cNvPr id="19" name="てこ文3"/>
          <p:cNvSpPr txBox="1"/>
          <p:nvPr/>
        </p:nvSpPr>
        <p:spPr>
          <a:xfrm>
            <a:off x="5440680" y="32735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想定質問・模擬面談・経験の「型」</a:t>
            </a:r>
            <a:endParaRPr lang="en-US" sz="1200" dirty="0"/>
          </a:p>
        </p:txBody>
      </p:sp>
      <p:sp>
        <p:nvSpPr>
          <p:cNvPr id="20" name="ループ帯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ループ円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22" name="ループアイコン" descr="ループ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" y="4134002"/>
            <a:ext cx="281635" cy="281635"/>
          </a:xfrm>
          <a:prstGeom prst="rect">
            <a:avLst/>
          </a:prstGeom>
        </p:spPr>
      </p:pic>
      <p:sp>
        <p:nvSpPr>
          <p:cNvPr id="23" name="ループ題"/>
          <p:cNvSpPr txBox="1"/>
          <p:nvPr/>
        </p:nvSpPr>
        <p:spPr>
          <a:xfrm>
            <a:off x="118872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使うほど上がる</a:t>
            </a:r>
            <a:endParaRPr lang="en-US" sz="1400" dirty="0"/>
          </a:p>
        </p:txBody>
      </p:sp>
      <p:sp>
        <p:nvSpPr>
          <p:cNvPr id="24" name="ループ札1"/>
          <p:cNvSpPr/>
          <p:nvPr/>
        </p:nvSpPr>
        <p:spPr>
          <a:xfrm>
            <a:off x="2743200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ループ札文1"/>
          <p:cNvSpPr txBox="1"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結果を記録</a:t>
            </a:r>
            <a:endParaRPr lang="en-US" sz="1100" dirty="0"/>
          </a:p>
        </p:txBody>
      </p:sp>
      <p:sp>
        <p:nvSpPr>
          <p:cNvPr id="26" name="ループ矢印1"/>
          <p:cNvSpPr/>
          <p:nvPr/>
        </p:nvSpPr>
        <p:spPr>
          <a:xfrm>
            <a:off x="3950208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ループ札2"/>
          <p:cNvSpPr/>
          <p:nvPr/>
        </p:nvSpPr>
        <p:spPr>
          <a:xfrm>
            <a:off x="4224528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ループ札文2"/>
          <p:cNvSpPr txBox="1"/>
          <p:nvPr/>
        </p:nvSpPr>
        <p:spPr>
          <a:xfrm>
            <a:off x="4224528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型にして蓄積</a:t>
            </a:r>
            <a:endParaRPr lang="en-US" sz="1100" dirty="0"/>
          </a:p>
        </p:txBody>
      </p:sp>
      <p:sp>
        <p:nvSpPr>
          <p:cNvPr id="29" name="ループ矢印2"/>
          <p:cNvSpPr/>
          <p:nvPr/>
        </p:nvSpPr>
        <p:spPr>
          <a:xfrm>
            <a:off x="5431536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ループ札3"/>
          <p:cNvSpPr/>
          <p:nvPr/>
        </p:nvSpPr>
        <p:spPr>
          <a:xfrm>
            <a:off x="5705856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1" name="ループ札文3"/>
          <p:cNvSpPr txBox="1"/>
          <p:nvPr/>
        </p:nvSpPr>
        <p:spPr>
          <a:xfrm>
            <a:off x="5705856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全員に共有</a:t>
            </a:r>
            <a:endParaRPr lang="en-US" sz="1100" dirty="0"/>
          </a:p>
        </p:txBody>
      </p:sp>
      <p:sp>
        <p:nvSpPr>
          <p:cNvPr id="32" name="ループ矢印3"/>
          <p:cNvSpPr/>
          <p:nvPr/>
        </p:nvSpPr>
        <p:spPr>
          <a:xfrm>
            <a:off x="6912864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ループ札4"/>
          <p:cNvSpPr/>
          <p:nvPr/>
        </p:nvSpPr>
        <p:spPr>
          <a:xfrm>
            <a:off x="7187184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ループ札文4"/>
          <p:cNvSpPr txBox="1"/>
          <p:nvPr/>
        </p:nvSpPr>
        <p:spPr>
          <a:xfrm>
            <a:off x="7187184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成約率が上がる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費用は、成約したときだけ</a:t>
            </a:r>
            <a:endParaRPr lang="en-US" sz="2800" dirty="0"/>
          </a:p>
        </p:txBody>
      </p:sp>
      <p:sp>
        <p:nvSpPr>
          <p:cNvPr id="3" name="初期カード"/>
          <p:cNvSpPr/>
          <p:nvPr/>
        </p:nvSpPr>
        <p:spPr>
          <a:xfrm>
            <a:off x="457200" y="1143000"/>
            <a:ext cx="3749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初期題"/>
          <p:cNvSpPr txBox="1"/>
          <p:nvPr/>
        </p:nvSpPr>
        <p:spPr>
          <a:xfrm>
            <a:off x="640080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初期費用（成約時に1回）</a:t>
            </a:r>
            <a:endParaRPr lang="en-US" sz="1300" dirty="0"/>
          </a:p>
        </p:txBody>
      </p:sp>
      <p:sp>
        <p:nvSpPr>
          <p:cNvPr id="5" name="初期率"/>
          <p:cNvSpPr txBox="1"/>
          <p:nvPr/>
        </p:nvSpPr>
        <p:spPr>
          <a:xfrm>
            <a:off x="64008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7%</a:t>
            </a:r>
            <a:endParaRPr lang="en-US" sz="4000" dirty="0"/>
          </a:p>
        </p:txBody>
      </p:sp>
      <p:sp>
        <p:nvSpPr>
          <p:cNvPr id="6" name="初期例"/>
          <p:cNvSpPr txBox="1"/>
          <p:nvPr/>
        </p:nvSpPr>
        <p:spPr>
          <a:xfrm>
            <a:off x="21031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70万円の案件なら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4.9万円</a:t>
            </a:r>
            <a:endParaRPr lang="en-US" sz="1400" dirty="0"/>
          </a:p>
        </p:txBody>
      </p:sp>
      <p:sp>
        <p:nvSpPr>
          <p:cNvPr id="7" name="月額カード"/>
          <p:cNvSpPr/>
          <p:nvPr/>
        </p:nvSpPr>
        <p:spPr>
          <a:xfrm>
            <a:off x="457200" y="2423160"/>
            <a:ext cx="3749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月額題"/>
          <p:cNvSpPr txBox="1"/>
          <p:nvPr/>
        </p:nvSpPr>
        <p:spPr>
          <a:xfrm>
            <a:off x="64008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月額費用（契約が続く間）</a:t>
            </a:r>
            <a:endParaRPr lang="en-US" sz="1300" dirty="0"/>
          </a:p>
        </p:txBody>
      </p:sp>
      <p:sp>
        <p:nvSpPr>
          <p:cNvPr id="9" name="月額率"/>
          <p:cNvSpPr txBox="1"/>
          <p:nvPr/>
        </p:nvSpPr>
        <p:spPr>
          <a:xfrm>
            <a:off x="64008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3%</a:t>
            </a:r>
            <a:endParaRPr lang="en-US" sz="4000" dirty="0"/>
          </a:p>
        </p:txBody>
      </p:sp>
      <p:sp>
        <p:nvSpPr>
          <p:cNvPr id="10" name="月額例"/>
          <p:cNvSpPr txBox="1"/>
          <p:nvPr/>
        </p:nvSpPr>
        <p:spPr>
          <a:xfrm>
            <a:off x="210312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70万円の案件なら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2.1万円／月</a:t>
            </a:r>
            <a:endParaRPr lang="en-US" sz="1400" dirty="0"/>
          </a:p>
        </p:txBody>
      </p:sp>
      <p:sp>
        <p:nvSpPr>
          <p:cNvPr id="11" name="費用注記"/>
          <p:cNvSpPr txBox="1"/>
          <p:nvPr/>
        </p:nvSpPr>
        <p:spPr>
          <a:xfrm>
            <a:off x="45720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率の基準：ビジネスパートナーが受け取る案件金額（案）</a:t>
            </a:r>
            <a:endParaRPr lang="en-US" sz="1100" dirty="0"/>
          </a:p>
        </p:txBody>
      </p:sp>
      <p:graphicFrame>
        <p:nvGraphicFramePr>
          <p:cNvPr id="12" name="試算グラフ" descr=""/>
          <p:cNvGraphicFramePr/>
          <p:nvPr/>
        </p:nvGraphicFramePr>
        <p:xfrm>
          <a:off x="4434840" y="1097280"/>
          <a:ext cx="4251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試算注記"/>
          <p:cNvSpPr txBox="1"/>
          <p:nvPr/>
        </p:nvSpPr>
        <p:spPr>
          <a:xfrm>
            <a:off x="4434840" y="3611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取り分は仮に20%。成約が約1.4倍以上に増えれば得になります。</a:t>
            </a:r>
            <a:endParaRPr lang="en-US" sz="1100" dirty="0"/>
          </a:p>
        </p:txBody>
      </p:sp>
      <p:sp>
        <p:nvSpPr>
          <p:cNvPr id="14" name="約束カード1"/>
          <p:cNvSpPr/>
          <p:nvPr/>
        </p:nvSpPr>
        <p:spPr>
          <a:xfrm>
            <a:off x="457200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約束1円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約束1アイコン" descr="約束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4205326"/>
            <a:ext cx="230429" cy="230429"/>
          </a:xfrm>
          <a:prstGeom prst="rect">
            <a:avLst/>
          </a:prstGeom>
        </p:spPr>
      </p:pic>
      <p:sp>
        <p:nvSpPr>
          <p:cNvPr id="17" name="約束文1"/>
          <p:cNvSpPr txBox="1"/>
          <p:nvPr/>
        </p:nvSpPr>
        <p:spPr>
          <a:xfrm>
            <a:off x="1051560" y="4023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先払いゼロ</a:t>
            </a:r>
            <a:endParaRPr lang="en-US" sz="1200" dirty="0"/>
          </a:p>
        </p:txBody>
      </p:sp>
      <p:sp>
        <p:nvSpPr>
          <p:cNvPr id="18" name="約束カード2"/>
          <p:cNvSpPr/>
          <p:nvPr/>
        </p:nvSpPr>
        <p:spPr>
          <a:xfrm>
            <a:off x="2542032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約束2円"/>
          <p:cNvSpPr/>
          <p:nvPr/>
        </p:nvSpPr>
        <p:spPr>
          <a:xfrm>
            <a:off x="2633472" y="4114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約束2アイコン" descr="約束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98" y="4205326"/>
            <a:ext cx="230429" cy="230429"/>
          </a:xfrm>
          <a:prstGeom prst="rect">
            <a:avLst/>
          </a:prstGeom>
        </p:spPr>
      </p:pic>
      <p:sp>
        <p:nvSpPr>
          <p:cNvPr id="21" name="約束文2"/>
          <p:cNvSpPr txBox="1"/>
          <p:nvPr/>
        </p:nvSpPr>
        <p:spPr>
          <a:xfrm>
            <a:off x="3136392" y="4023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計算式を全部開示</a:t>
            </a:r>
            <a:endParaRPr lang="en-US" sz="1200" dirty="0"/>
          </a:p>
        </p:txBody>
      </p:sp>
      <p:sp>
        <p:nvSpPr>
          <p:cNvPr id="22" name="約束カード3"/>
          <p:cNvSpPr/>
          <p:nvPr/>
        </p:nvSpPr>
        <p:spPr>
          <a:xfrm>
            <a:off x="4626864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約束3円"/>
          <p:cNvSpPr/>
          <p:nvPr/>
        </p:nvSpPr>
        <p:spPr>
          <a:xfrm>
            <a:off x="4718304" y="4114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約束3アイコン" descr="約束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30" y="4205326"/>
            <a:ext cx="230429" cy="230429"/>
          </a:xfrm>
          <a:prstGeom prst="rect">
            <a:avLst/>
          </a:prstGeom>
        </p:spPr>
      </p:pic>
      <p:sp>
        <p:nvSpPr>
          <p:cNvPr id="25" name="約束文3"/>
          <p:cNvSpPr txBox="1"/>
          <p:nvPr/>
        </p:nvSpPr>
        <p:spPr>
          <a:xfrm>
            <a:off x="5221224" y="4023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いつでも退会OK</a:t>
            </a:r>
            <a:endParaRPr lang="en-US" sz="1200" dirty="0"/>
          </a:p>
        </p:txBody>
      </p:sp>
      <p:sp>
        <p:nvSpPr>
          <p:cNvPr id="26" name="約束カード4"/>
          <p:cNvSpPr/>
          <p:nvPr/>
        </p:nvSpPr>
        <p:spPr>
          <a:xfrm>
            <a:off x="6711696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約束4円"/>
          <p:cNvSpPr/>
          <p:nvPr/>
        </p:nvSpPr>
        <p:spPr>
          <a:xfrm>
            <a:off x="6803136" y="4114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約束4アイコン" descr="約束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662" y="4205326"/>
            <a:ext cx="230429" cy="230429"/>
          </a:xfrm>
          <a:prstGeom prst="rect">
            <a:avLst/>
          </a:prstGeom>
        </p:spPr>
      </p:pic>
      <p:sp>
        <p:nvSpPr>
          <p:cNvPr id="29" name="約束文4"/>
          <p:cNvSpPr txBox="1"/>
          <p:nvPr/>
        </p:nvSpPr>
        <p:spPr>
          <a:xfrm>
            <a:off x="7306056" y="4023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まず小さく試して、数字で確かめる</a:t>
            </a:r>
            <a:endParaRPr lang="en-US" sz="2800" dirty="0"/>
          </a:p>
        </p:txBody>
      </p:sp>
      <p:sp>
        <p:nvSpPr>
          <p:cNvPr id="3" name="段階カード1"/>
          <p:cNvSpPr/>
          <p:nvPr/>
        </p:nvSpPr>
        <p:spPr>
          <a:xfrm>
            <a:off x="45720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段階1円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5" name="段階1アイコン" descr="段階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89304"/>
            <a:ext cx="256032" cy="256032"/>
          </a:xfrm>
          <a:prstGeom prst="rect">
            <a:avLst/>
          </a:prstGeom>
        </p:spPr>
      </p:pic>
      <p:sp>
        <p:nvSpPr>
          <p:cNvPr id="6" name="段階題1"/>
          <p:cNvSpPr txBox="1"/>
          <p:nvPr/>
        </p:nvSpPr>
        <p:spPr>
          <a:xfrm>
            <a:off x="11887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試す</a:t>
            </a:r>
            <a:endParaRPr lang="en-US" sz="1600" dirty="0"/>
          </a:p>
        </p:txBody>
      </p:sp>
      <p:sp>
        <p:nvSpPr>
          <p:cNvPr id="7" name="段階文1"/>
          <p:cNvSpPr txBox="1"/>
          <p:nvPr/>
        </p:nvSpPr>
        <p:spPr>
          <a:xfrm>
            <a:off x="5943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エンジニア1〜2人・案件5〜10件で、費用のかからない形で</a:t>
            </a:r>
            <a:endParaRPr lang="en-US" sz="1200" dirty="0"/>
          </a:p>
        </p:txBody>
      </p:sp>
      <p:sp>
        <p:nvSpPr>
          <p:cNvPr id="8" name="段階矢印1"/>
          <p:cNvSpPr/>
          <p:nvPr/>
        </p:nvSpPr>
        <p:spPr>
          <a:xfrm>
            <a:off x="3035808" y="1572768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段階カード2"/>
          <p:cNvSpPr/>
          <p:nvPr/>
        </p:nvSpPr>
        <p:spPr>
          <a:xfrm>
            <a:off x="329184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段階2円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11" name="段階2アイコン" descr="段階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289304"/>
            <a:ext cx="256032" cy="256032"/>
          </a:xfrm>
          <a:prstGeom prst="rect">
            <a:avLst/>
          </a:prstGeom>
        </p:spPr>
      </p:pic>
      <p:sp>
        <p:nvSpPr>
          <p:cNvPr id="12" name="段階題2"/>
          <p:cNvSpPr txBox="1"/>
          <p:nvPr/>
        </p:nvSpPr>
        <p:spPr>
          <a:xfrm>
            <a:off x="402336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</a:t>
            </a:r>
            <a:endParaRPr lang="en-US" sz="1600" dirty="0"/>
          </a:p>
        </p:txBody>
      </p:sp>
      <p:sp>
        <p:nvSpPr>
          <p:cNvPr id="13" name="段階文2"/>
          <p:cNvSpPr txBox="1"/>
          <p:nvPr/>
        </p:nvSpPr>
        <p:spPr>
          <a:xfrm>
            <a:off x="342900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応募から延長まで、1件ずつ記録して通過率を見る</a:t>
            </a:r>
            <a:endParaRPr lang="en-US" sz="1200" dirty="0"/>
          </a:p>
        </p:txBody>
      </p:sp>
      <p:sp>
        <p:nvSpPr>
          <p:cNvPr id="14" name="段階矢印2"/>
          <p:cNvSpPr/>
          <p:nvPr/>
        </p:nvSpPr>
        <p:spPr>
          <a:xfrm>
            <a:off x="5870448" y="1572768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段階カード3"/>
          <p:cNvSpPr/>
          <p:nvPr/>
        </p:nvSpPr>
        <p:spPr>
          <a:xfrm>
            <a:off x="612648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段階3円"/>
          <p:cNvSpPr/>
          <p:nvPr/>
        </p:nvSpPr>
        <p:spPr>
          <a:xfrm>
            <a:off x="6263640" y="1188720"/>
            <a:ext cx="457200" cy="45720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17" name="段階3アイコン" descr="段階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289304"/>
            <a:ext cx="256032" cy="256032"/>
          </a:xfrm>
          <a:prstGeom prst="rect">
            <a:avLst/>
          </a:prstGeom>
        </p:spPr>
      </p:pic>
      <p:sp>
        <p:nvSpPr>
          <p:cNvPr id="18" name="段階題3"/>
          <p:cNvSpPr txBox="1"/>
          <p:nvPr/>
        </p:nvSpPr>
        <p:spPr>
          <a:xfrm>
            <a:off x="68580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広げる</a:t>
            </a:r>
            <a:endParaRPr lang="en-US" sz="1600" dirty="0"/>
          </a:p>
        </p:txBody>
      </p:sp>
      <p:sp>
        <p:nvSpPr>
          <p:cNvPr id="19" name="段階文3"/>
          <p:cNvSpPr txBox="1"/>
          <p:nvPr/>
        </p:nvSpPr>
        <p:spPr>
          <a:xfrm>
            <a:off x="62636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確かめてから、参加を広げる</a:t>
            </a:r>
            <a:endParaRPr lang="en-US" sz="1200" dirty="0"/>
          </a:p>
        </p:txBody>
      </p:sp>
      <p:sp>
        <p:nvSpPr>
          <p:cNvPr id="20" name="お願い題"/>
          <p:cNvSpPr txBox="1"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阿部さんにお願いしたいこと</a:t>
            </a:r>
            <a:endParaRPr lang="en-US" sz="1400" dirty="0"/>
          </a:p>
        </p:txBody>
      </p:sp>
      <p:sp>
        <p:nvSpPr>
          <p:cNvPr id="21" name="お願い1円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お願い1アイコン" descr="お願い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889504"/>
            <a:ext cx="256032" cy="256032"/>
          </a:xfrm>
          <a:prstGeom prst="rect">
            <a:avLst/>
          </a:prstGeom>
        </p:spPr>
      </p:pic>
      <p:sp>
        <p:nvSpPr>
          <p:cNvPr id="23" name="お願い文1"/>
          <p:cNvSpPr txBox="1"/>
          <p:nvPr/>
        </p:nvSpPr>
        <p:spPr>
          <a:xfrm>
            <a:off x="105156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お知り合いのビジネスパートナーへのご紹介</a:t>
            </a:r>
            <a:endParaRPr lang="en-US" sz="1400" dirty="0"/>
          </a:p>
        </p:txBody>
      </p:sp>
      <p:sp>
        <p:nvSpPr>
          <p:cNvPr id="24" name="お願い2円"/>
          <p:cNvSpPr/>
          <p:nvPr/>
        </p:nvSpPr>
        <p:spPr>
          <a:xfrm>
            <a:off x="32918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お願い2アイコン" descr="お願い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2889504"/>
            <a:ext cx="256032" cy="256032"/>
          </a:xfrm>
          <a:prstGeom prst="rect">
            <a:avLst/>
          </a:prstGeom>
        </p:spPr>
      </p:pic>
      <p:sp>
        <p:nvSpPr>
          <p:cNvPr id="26" name="お願い文2"/>
          <p:cNvSpPr txBox="1"/>
          <p:nvPr/>
        </p:nvSpPr>
        <p:spPr>
          <a:xfrm>
            <a:off x="3886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成約の確認（監査）</a:t>
            </a:r>
            <a:endParaRPr lang="en-US" sz="1400" dirty="0"/>
          </a:p>
        </p:txBody>
      </p:sp>
      <p:sp>
        <p:nvSpPr>
          <p:cNvPr id="27" name="お願い3円"/>
          <p:cNvSpPr/>
          <p:nvPr/>
        </p:nvSpPr>
        <p:spPr>
          <a:xfrm>
            <a:off x="612648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お願い3アイコン" descr="お願い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2889504"/>
            <a:ext cx="256032" cy="256032"/>
          </a:xfrm>
          <a:prstGeom prst="rect">
            <a:avLst/>
          </a:prstGeom>
        </p:spPr>
      </p:pic>
      <p:sp>
        <p:nvSpPr>
          <p:cNvPr id="29" name="お願い文3"/>
          <p:cNvSpPr txBox="1"/>
          <p:nvPr/>
        </p:nvSpPr>
        <p:spPr>
          <a:xfrm>
            <a:off x="672084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率やルールへのご意見</a:t>
            </a:r>
            <a:endParaRPr lang="en-US" sz="1400" dirty="0"/>
          </a:p>
        </p:txBody>
      </p:sp>
      <p:sp>
        <p:nvSpPr>
          <p:cNvPr id="30" name="報酬枠"/>
          <p:cNvSpPr/>
          <p:nvPr/>
        </p:nvSpPr>
        <p:spPr>
          <a:xfrm>
            <a:off x="457200" y="342900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報酬文"/>
          <p:cNvSpPr txBox="1"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阿部さんへの報酬は、成果が見える形で、時期と割合を一緒に相談して決めます。</a:t>
            </a:r>
            <a:endParaRPr lang="en-US" sz="1400" dirty="0"/>
          </a:p>
        </p:txBody>
      </p:sp>
      <p:sp>
        <p:nvSpPr>
          <p:cNvPr id="32" name="オプション枠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オプション札"/>
          <p:cNvSpPr/>
          <p:nvPr/>
        </p:nvSpPr>
        <p:spPr>
          <a:xfrm>
            <a:off x="594360" y="4114800"/>
            <a:ext cx="1188720" cy="36576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オプション札文"/>
          <p:cNvSpPr txBox="1"/>
          <p:nvPr/>
        </p:nvSpPr>
        <p:spPr>
          <a:xfrm>
            <a:off x="5943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</a:t>
            </a:r>
            <a:endParaRPr lang="en-US" sz="1200" dirty="0"/>
          </a:p>
        </p:txBody>
      </p:sp>
      <p:sp>
        <p:nvSpPr>
          <p:cNvPr id="35" name="オプション文"/>
          <p:cNvSpPr txBox="1"/>
          <p:nvPr/>
        </p:nvSpPr>
        <p:spPr>
          <a:xfrm>
            <a:off x="1920240" y="3977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成約のあと、育てる方向：配属後のフォローと、スキルの差の見える化。必要に応じて、あとから加えられます。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tezzo</cp:lastModifiedBy>
  <cp:revision>1</cp:revision>
  <dcterms:created xsi:type="dcterms:W3CDTF">2026-10-13T22:51:16Z</dcterms:created>
  <dcterms:modified xsi:type="dcterms:W3CDTF">2026-10-13T22:51:16Z</dcterms:modified>
</cp:coreProperties>
</file>